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bf29b38-37d2-4cb7-4a8d-642328242eba}">
          <p14:sldIdLst>
            <p14:sldId id="256"/>
            <p14:sldId id="257"/>
          </p14:sldIdLst>
        </p14:section>
        <p14:section name="How it works" id="{91f8ec25-d699-7389-5c89-a63a7a1d67a1}">
          <p14:sldIdLst>
            <p14:sldId id="258"/>
            <p14:sldId id="259"/>
            <p14:sldId id="260"/>
            <p14:sldId id="261"/>
            <p14:sldId id="262"/>
          </p14:sldIdLst>
        </p14:section>
        <p14:section name="Evaluation" id="{618c2429-7a2c-0549-06c5-fa1205eda934}">
          <p14:sldIdLst>
            <p14:sldId id="263"/>
            <p14:sldId id="264"/>
            <p14:sldId id="265"/>
          </p14:sldIdLst>
        </p14:section>
        <p14:section name="Demo and wrap-up" id="{f3b7386a-35e5-c97c-8a23-5922fba17497}">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42"/>
          <c:y val="0.12"/>
          <c:w val="0.54"/>
          <c:h val="0.7"/>
        </c:manualLayout>
      </c:layout>
      <c:barChart>
        <c:barDir val="bar"/>
        <c:grouping val="stacked"/>
        <c:varyColors val="0"/>
        <c:ser>
          <c:idx val="0"/>
          <c:order val="0"/>
          <c:tx>
            <c:strRef>
              <c:f>Sheet1!$B$1</c:f>
              <c:strCache>
                <c:ptCount val="1"/>
                <c:pt idx="0">
                  <c:v>Prompt length</c:v>
                </c:pt>
              </c:strCache>
            </c:strRef>
          </c:tx>
          <c:spPr>
            <a:solidFill>
              <a:srgbClr val="60A5FA"/>
            </a:solidFill>
            <a:effectLst/>
          </c:spPr>
          <c:invertIfNegative val="0"/>
          <c:dLbls>
            <c:numFmt formatCode="#,##0" sourceLinked="0"/>
            <c:txPr>
              <a:bodyPr/>
              <a:lstStyle/>
              <a:p>
                <a:pPr>
                  <a:defRPr b="0" i="0" strike="noStrike" sz="1200" u="none">
                    <a:solidFill>
                      <a:srgbClr val="FFFFFF"/>
                    </a:solidFill>
                    <a:latin typeface="+mn-lt"/>
                  </a:defRPr>
                </a:pPr>
              </a:p>
            </c:txPr>
            <c:showLegendKey val="0"/>
            <c:showVal val="0"/>
            <c:showCatName val="0"/>
            <c:showSerName val="0"/>
            <c:showPercent val="0"/>
            <c:showBubbleSize val="0"/>
            <c:showLeaderLines val="0"/>
          </c:dLbls>
          <c:cat>
            <c:multiLvlStrRef>
              <c:f>Sheet1!$A$2:$A$5</c:f>
              <c:multiLvlStrCache>
                <c:ptCount val="4"/>
                <c:lvl>
                  <c:pt idx="0">
                    <c:v>Train: derive the average speed  (0.54)</c:v>
                  </c:pt>
                  <c:pt idx="1">
                    <c:v>Cheapest way to buy 22 pens  (0.54)</c:v>
                  </c:pt>
                  <c:pt idx="2">
                    <c:v>Plain math word problem  (0.25)</c:v>
                  </c:pt>
                  <c:pt idx="3">
                    <c:v>Capital of Australia  (0.21)</c:v>
                  </c:pt>
                </c:lvl>
              </c:multiLvlStrCache>
            </c:multiLvlStrRef>
          </c:cat>
          <c:val>
            <c:numRef>
              <c:f>Sheet1!$B$2:$B$5</c:f>
              <c:numCache>
                <c:formatCode>General</c:formatCode>
                <c:ptCount val="4"/>
                <c:pt idx="0">
                  <c:v>0.036</c:v>
                </c:pt>
                <c:pt idx="1">
                  <c:v>0.039</c:v>
                </c:pt>
                <c:pt idx="2">
                  <c:v>0.049</c:v>
                </c:pt>
                <c:pt idx="3">
                  <c:v>0.015</c:v>
                </c:pt>
              </c:numCache>
            </c:numRef>
          </c:val>
        </c:ser>
        <c:ser>
          <c:idx val="1"/>
          <c:order val="1"/>
          <c:tx>
            <c:strRef>
              <c:f>Sheet1!$C$1</c:f>
              <c:strCache>
                <c:ptCount val="1"/>
                <c:pt idx="0">
                  <c:v>Reasoning words</c:v>
                </c:pt>
              </c:strCache>
            </c:strRef>
          </c:tx>
          <c:spPr>
            <a:solidFill>
              <a:srgbClr val="C084FC"/>
            </a:solidFill>
            <a:effectLst/>
          </c:spPr>
          <c:invertIfNegative val="0"/>
          <c:dLbls>
            <c:numFmt formatCode="#,##0" sourceLinked="0"/>
            <c:txPr>
              <a:bodyPr/>
              <a:lstStyle/>
              <a:p>
                <a:pPr>
                  <a:defRPr b="0" i="0" strike="noStrike" sz="1200" u="none">
                    <a:solidFill>
                      <a:srgbClr val="FFFFFF"/>
                    </a:solidFill>
                    <a:latin typeface="+mn-lt"/>
                  </a:defRPr>
                </a:pPr>
              </a:p>
            </c:txPr>
            <c:showLegendKey val="0"/>
            <c:showVal val="0"/>
            <c:showCatName val="0"/>
            <c:showSerName val="0"/>
            <c:showPercent val="0"/>
            <c:showBubbleSize val="0"/>
            <c:showLeaderLines val="0"/>
          </c:dLbls>
          <c:cat>
            <c:multiLvlStrRef>
              <c:f>Sheet1!$A$2:$A$5</c:f>
              <c:multiLvlStrCache>
                <c:ptCount val="4"/>
                <c:lvl>
                  <c:pt idx="0">
                    <c:v>Train: derive the average speed  (0.54)</c:v>
                  </c:pt>
                  <c:pt idx="1">
                    <c:v>Cheapest way to buy 22 pens  (0.54)</c:v>
                  </c:pt>
                  <c:pt idx="2">
                    <c:v>Plain math word problem  (0.25)</c:v>
                  </c:pt>
                  <c:pt idx="3">
                    <c:v>Capital of Australia  (0.21)</c:v>
                  </c:pt>
                </c:lvl>
              </c:multiLvlStrCache>
            </c:multiLvlStrRef>
          </c:cat>
          <c:val>
            <c:numRef>
              <c:f>Sheet1!$C$2:$C$5</c:f>
              <c:numCache>
                <c:formatCode>General</c:formatCode>
                <c:ptCount val="4"/>
                <c:pt idx="0">
                  <c:v>0.3</c:v>
                </c:pt>
                <c:pt idx="1">
                  <c:v>0.3</c:v>
                </c:pt>
                <c:pt idx="2">
                  <c:v>0</c:v>
                </c:pt>
                <c:pt idx="3">
                  <c:v>0</c:v>
                </c:pt>
              </c:numCache>
            </c:numRef>
          </c:val>
        </c:ser>
        <c:ser>
          <c:idx val="2"/>
          <c:order val="2"/>
          <c:tx>
            <c:strRef>
              <c:f>Sheet1!$D$1</c:f>
              <c:strCache>
                <c:ptCount val="1"/>
                <c:pt idx="0">
                  <c:v>Failure history</c:v>
                </c:pt>
              </c:strCache>
            </c:strRef>
          </c:tx>
          <c:spPr>
            <a:solidFill>
              <a:srgbClr val="F472B6"/>
            </a:solidFill>
            <a:effectLst/>
          </c:spPr>
          <c:invertIfNegative val="0"/>
          <c:dLbls>
            <c:numFmt formatCode="#,##0" sourceLinked="0"/>
            <c:txPr>
              <a:bodyPr/>
              <a:lstStyle/>
              <a:p>
                <a:pPr>
                  <a:defRPr b="0" i="0" strike="noStrike" sz="1200" u="none">
                    <a:solidFill>
                      <a:srgbClr val="FFFFFF"/>
                    </a:solidFill>
                    <a:latin typeface="+mn-lt"/>
                  </a:defRPr>
                </a:pPr>
              </a:p>
            </c:txPr>
            <c:showLegendKey val="0"/>
            <c:showVal val="0"/>
            <c:showCatName val="0"/>
            <c:showSerName val="0"/>
            <c:showPercent val="0"/>
            <c:showBubbleSize val="0"/>
            <c:showLeaderLines val="0"/>
          </c:dLbls>
          <c:cat>
            <c:multiLvlStrRef>
              <c:f>Sheet1!$A$2:$A$5</c:f>
              <c:multiLvlStrCache>
                <c:ptCount val="4"/>
                <c:lvl>
                  <c:pt idx="0">
                    <c:v>Train: derive the average speed  (0.54)</c:v>
                  </c:pt>
                  <c:pt idx="1">
                    <c:v>Cheapest way to buy 22 pens  (0.54)</c:v>
                  </c:pt>
                  <c:pt idx="2">
                    <c:v>Plain math word problem  (0.25)</c:v>
                  </c:pt>
                  <c:pt idx="3">
                    <c:v>Capital of Australia  (0.21)</c:v>
                  </c:pt>
                </c:lvl>
              </c:multiLvlStrCache>
            </c:multiLvlStrRef>
          </c:cat>
          <c:val>
            <c:numRef>
              <c:f>Sheet1!$D$2:$D$5</c:f>
              <c:numCache>
                <c:formatCode>General</c:formatCode>
                <c:ptCount val="4"/>
                <c:pt idx="0">
                  <c:v>0.2</c:v>
                </c:pt>
                <c:pt idx="1">
                  <c:v>0.2</c:v>
                </c:pt>
                <c:pt idx="2">
                  <c:v>0.2</c:v>
                </c:pt>
                <c:pt idx="3">
                  <c:v>0.2</c:v>
                </c:pt>
              </c:numCache>
            </c:numRef>
          </c:val>
        </c:ser>
        <c:dLbls>
          <c:numFmt formatCode="#,##0" sourceLinked="0"/>
          <c:txPr>
            <a:bodyPr/>
            <a:lstStyle/>
            <a:p>
              <a:pPr>
                <a:defRPr b="0" i="0" strike="noStrike" sz="1200" u="none">
                  <a:solidFill>
                    <a:srgbClr val="FFFFFF"/>
                  </a:solidFill>
                  <a:latin typeface="+mn-lt"/>
                </a:defRPr>
              </a:pPr>
            </a:p>
          </c:txPr>
          <c:showLegendKey val="0"/>
          <c:showVal val="0"/>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AAB3CF"/>
                </a:solidFill>
                <a:latin typeface="+mn-lt"/>
              </a:defRPr>
            </a:pPr>
            <a:endParaRPr lang="en-US"/>
          </a:p>
        </c:txPr>
        <c:crossAx val="2094734552"/>
        <c:crosses val="autoZero"/>
        <c:auto val="1"/>
        <c:lblAlgn val="ctr"/>
        <c:noMultiLvlLbl val="1"/>
      </c:catAx>
      <c:valAx>
        <c:axId val="2094734552"/>
        <c:scaling>
          <c:orientation val="minMax"/>
          <c:max val="0.6"/>
          <c:min val="0"/>
        </c:scaling>
        <c:delete val="0"/>
        <c:axPos val="b"/>
        <c:majorGridlines>
          <c:spPr>
            <a:ln w="9525" cap="flat">
              <a:solidFill>
                <a:srgbClr val="26304D"/>
              </a:solidFill>
              <a:prstDash val="solid"/>
              <a:round/>
            </a:ln>
          </c:spPr>
        </c:majorGridlines>
        <c:numFmt formatCode="0.0" sourceLinked="0"/>
        <c:majorTickMark val="out"/>
        <c:minorTickMark val="none"/>
        <c:tickLblPos val="low"/>
        <c:spPr>
          <a:ln w="12700" cap="flat">
            <a:noFill/>
            <a:prstDash val="solid"/>
            <a:round/>
          </a:ln>
        </c:spPr>
        <c:txPr>
          <a:bodyPr/>
          <a:lstStyle/>
          <a:p>
            <a:pPr>
              <a:defRPr sz="1200" b="0" i="0" u="none" strike="noStrike">
                <a:solidFill>
                  <a:srgbClr val="AAB3CF"/>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200">
              <a:solidFill>
                <a:srgbClr val="AAB3C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Budget left per step (cap $0.0067)</a:t>
            </a:r>
          </a:p>
        </c:rich>
      </c:tx>
      <c:layout/>
      <c:overlay val="0"/>
    </c:title>
    <c:autoTitleDeleted val="0"/>
    <c:plotArea>
      <c:layout/>
      <c:lineChart>
        <c:varyColors val="0"/>
        <c:ser>
          <c:idx val="0"/>
          <c:order val="0"/>
          <c:tx>
            <c:strRef>
              <c:f>Sheet1!$B$1</c:f>
              <c:strCache>
                <c:ptCount val="1"/>
                <c:pt idx="0">
                  <c:v>SOFT</c:v>
                </c:pt>
              </c:strCache>
            </c:strRef>
          </c:tx>
          <c:spPr>
            <a:solidFill>
              <a:srgbClr val="4F8CFF"/>
            </a:solidFill>
            <a:ln w="38100" cap="flat">
              <a:solidFill>
                <a:srgbClr val="4F8CFF"/>
              </a:solidFill>
              <a:prstDash val="solid"/>
              <a:round/>
            </a:ln>
            <a:effectLst/>
          </c:spPr>
          <c:invertIfNegative val="0"/>
          <c:dLbls>
            <c:numFmt formatCode="#,##0" sourceLinked="0"/>
            <c:txPr>
              <a:bodyPr/>
              <a:lstStyle/>
              <a:p>
                <a:pPr>
                  <a:defRPr b="0" i="0" strike="noStrike" sz="12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4F8CFF"/>
              </a:solidFill>
              <a:ln w="9525" cap="flat">
                <a:solidFill>
                  <a:srgbClr val="4F8CFF"/>
                </a:solidFill>
                <a:prstDash val="solid"/>
                <a:round/>
              </a:ln>
              <a:effectLst/>
            </c:spPr>
          </c:marker>
          <c:cat>
            <c:multiLvlStrRef>
              <c:f>Sheet1!$A$2:$A$97</c:f>
              <c:multiLvlStrCache>
                <c:ptCount val="96"/>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lvl>
              </c:multiLvlStrCache>
            </c:multiLvlStrRef>
          </c:cat>
          <c:val>
            <c:numRef>
              <c:f>Sheet1!$B$2:$B$97</c:f>
              <c:numCache>
                <c:formatCode>General</c:formatCode>
                <c:ptCount val="96"/>
                <c:pt idx="0">
                  <c:v>0.0066369</c:v>
                </c:pt>
                <c:pt idx="1">
                  <c:v>0.0064516</c:v>
                </c:pt>
                <c:pt idx="2">
                  <c:v>0.0063736</c:v>
                </c:pt>
                <c:pt idx="3">
                  <c:v>0.0062731</c:v>
                </c:pt>
                <c:pt idx="4">
                  <c:v>0.0061261</c:v>
                </c:pt>
                <c:pt idx="5">
                  <c:v>0.0057419</c:v>
                </c:pt>
                <c:pt idx="6">
                  <c:v>0.0056116</c:v>
                </c:pt>
                <c:pt idx="7">
                  <c:v>0.0054622</c:v>
                </c:pt>
                <c:pt idx="8">
                  <c:v>0.0052931</c:v>
                </c:pt>
                <c:pt idx="9">
                  <c:v>0.0050753</c:v>
                </c:pt>
                <c:pt idx="10">
                  <c:v>0.0049409</c:v>
                </c:pt>
                <c:pt idx="11">
                  <c:v>0.0048596</c:v>
                </c:pt>
                <c:pt idx="12">
                  <c:v>0.0047414</c:v>
                </c:pt>
                <c:pt idx="13">
                  <c:v>0.0045604</c:v>
                </c:pt>
                <c:pt idx="14">
                  <c:v>0.0044608</c:v>
                </c:pt>
                <c:pt idx="15">
                  <c:v>0.0044041</c:v>
                </c:pt>
                <c:pt idx="16">
                  <c:v>0.0043525</c:v>
                </c:pt>
                <c:pt idx="17">
                  <c:v>0.0041266</c:v>
                </c:pt>
                <c:pt idx="18">
                  <c:v>0.0040423</c:v>
                </c:pt>
                <c:pt idx="19">
                  <c:v>0.0039388</c:v>
                </c:pt>
                <c:pt idx="20">
                  <c:v>0.0039063</c:v>
                </c:pt>
                <c:pt idx="21">
                  <c:v>0.0038466</c:v>
                </c:pt>
                <c:pt idx="22">
                  <c:v>0.0037174</c:v>
                </c:pt>
                <c:pt idx="23">
                  <c:v>0.0036085</c:v>
                </c:pt>
                <c:pt idx="24">
                  <c:v>0.0035073</c:v>
                </c:pt>
                <c:pt idx="25">
                  <c:v>0.0034398</c:v>
                </c:pt>
                <c:pt idx="26">
                  <c:v>0.003307</c:v>
                </c:pt>
                <c:pt idx="27">
                  <c:v>0.0032455</c:v>
                </c:pt>
                <c:pt idx="28">
                  <c:v>0.0031081</c:v>
                </c:pt>
                <c:pt idx="29">
                  <c:v>0.0030462</c:v>
                </c:pt>
                <c:pt idx="30">
                  <c:v>0.0025703</c:v>
                </c:pt>
                <c:pt idx="31">
                  <c:v>0.0024406</c:v>
                </c:pt>
                <c:pt idx="32">
                  <c:v>0.0023416</c:v>
                </c:pt>
                <c:pt idx="33">
                  <c:v>0.0019433</c:v>
                </c:pt>
                <c:pt idx="34">
                  <c:v>0.0016982</c:v>
                </c:pt>
                <c:pt idx="35">
                  <c:v>0.0016378</c:v>
                </c:pt>
                <c:pt idx="36">
                  <c:v>0.0014938</c:v>
                </c:pt>
                <c:pt idx="37">
                  <c:v>0.0012458</c:v>
                </c:pt>
                <c:pt idx="38">
                  <c:v>0.0010922</c:v>
                </c:pt>
                <c:pt idx="39">
                  <c:v>0.0010306</c:v>
                </c:pt>
                <c:pt idx="40">
                  <c:v>0.000967</c:v>
                </c:pt>
                <c:pt idx="41">
                  <c:v>0.000907</c:v>
                </c:pt>
                <c:pt idx="42">
                  <c:v>0.0008249</c:v>
                </c:pt>
                <c:pt idx="43">
                  <c:v>0.0007582</c:v>
                </c:pt>
                <c:pt idx="44">
                  <c:v>0.0006949</c:v>
                </c:pt>
                <c:pt idx="45">
                  <c:v>0.0004645</c:v>
                </c:pt>
                <c:pt idx="46">
                  <c:v>0.0002976</c:v>
                </c:pt>
                <c:pt idx="47">
                  <c:v>0.0001433</c:v>
                </c:pt>
                <c:pt idx="48">
                  <c:v>-0.0002131</c:v>
                </c:pt>
                <c:pt idx="49">
                  <c:v>-0.0002864</c:v>
                </c:pt>
                <c:pt idx="50">
                  <c:v>-0.000323</c:v>
                </c:pt>
                <c:pt idx="51">
                  <c:v>-0.0003445</c:v>
                </c:pt>
                <c:pt idx="52">
                  <c:v>-0.0004276</c:v>
                </c:pt>
                <c:pt idx="53">
                  <c:v>-0.0008442</c:v>
                </c:pt>
                <c:pt idx="54">
                  <c:v>-0.000963</c:v>
                </c:pt>
                <c:pt idx="55">
                  <c:v>-0.0010709</c:v>
                </c:pt>
                <c:pt idx="56">
                  <c:v>-0.001463</c:v>
                </c:pt>
                <c:pt idx="57">
                  <c:v>-0.0014941</c:v>
                </c:pt>
                <c:pt idx="58">
                  <c:v>-0.0015719</c:v>
                </c:pt>
                <c:pt idx="59">
                  <c:v>-0.0016006</c:v>
                </c:pt>
                <c:pt idx="60">
                  <c:v>-0.0017591</c:v>
                </c:pt>
                <c:pt idx="61">
                  <c:v>-0.0018307</c:v>
                </c:pt>
                <c:pt idx="62">
                  <c:v>-0.0018665</c:v>
                </c:pt>
                <c:pt idx="63">
                  <c:v>-0.0020285</c:v>
                </c:pt>
                <c:pt idx="64">
                  <c:v>-0.0020547</c:v>
                </c:pt>
                <c:pt idx="65">
                  <c:v>-0.0021099</c:v>
                </c:pt>
                <c:pt idx="66">
                  <c:v>-0.002174</c:v>
                </c:pt>
                <c:pt idx="67">
                  <c:v>-0.0022191</c:v>
                </c:pt>
                <c:pt idx="68">
                  <c:v>-0.0023354</c:v>
                </c:pt>
                <c:pt idx="69">
                  <c:v>-0.0023979</c:v>
                </c:pt>
                <c:pt idx="70">
                  <c:v>-0.0024549</c:v>
                </c:pt>
                <c:pt idx="71">
                  <c:v>-0.0025392</c:v>
                </c:pt>
                <c:pt idx="72">
                  <c:v>-0.0025919</c:v>
                </c:pt>
                <c:pt idx="73">
                  <c:v>-0.0026144</c:v>
                </c:pt>
                <c:pt idx="74">
                  <c:v>-0.002822</c:v>
                </c:pt>
                <c:pt idx="75">
                  <c:v>-0.0029018</c:v>
                </c:pt>
                <c:pt idx="76">
                  <c:v>-0.0029756</c:v>
                </c:pt>
                <c:pt idx="77">
                  <c:v>-0.0030195</c:v>
                </c:pt>
                <c:pt idx="78">
                  <c:v>-0.0030434</c:v>
                </c:pt>
                <c:pt idx="79">
                  <c:v>-0.0034829</c:v>
                </c:pt>
                <c:pt idx="80">
                  <c:v>-0.0035735</c:v>
                </c:pt>
                <c:pt idx="81">
                  <c:v>-0.0036273</c:v>
                </c:pt>
                <c:pt idx="82">
                  <c:v>-0.0037484</c:v>
                </c:pt>
                <c:pt idx="83">
                  <c:v>-0.003839</c:v>
                </c:pt>
                <c:pt idx="84">
                  <c:v>-0.0039019</c:v>
                </c:pt>
                <c:pt idx="85">
                  <c:v>-0.0039497</c:v>
                </c:pt>
                <c:pt idx="86">
                  <c:v>-0.0040235</c:v>
                </c:pt>
                <c:pt idx="87">
                  <c:v>-0.0040961</c:v>
                </c:pt>
                <c:pt idx="88">
                  <c:v>-0.0041575</c:v>
                </c:pt>
                <c:pt idx="89">
                  <c:v>-0.004221</c:v>
                </c:pt>
                <c:pt idx="90">
                  <c:v>-0.004247</c:v>
                </c:pt>
                <c:pt idx="91">
                  <c:v>-0.0043105</c:v>
                </c:pt>
                <c:pt idx="92">
                  <c:v>-0.0043889</c:v>
                </c:pt>
                <c:pt idx="93">
                  <c:v>-0.0044325</c:v>
                </c:pt>
                <c:pt idx="94">
                  <c:v>-0.0044616</c:v>
                </c:pt>
                <c:pt idx="95">
                  <c:v>-0.0045554</c:v>
                </c:pt>
              </c:numCache>
            </c:numRef>
          </c:val>
          <c:smooth val="0"/>
        </c:ser>
        <c:ser>
          <c:idx val="1"/>
          <c:order val="1"/>
          <c:tx>
            <c:strRef>
              <c:f>Sheet1!$C$1</c:f>
              <c:strCache>
                <c:ptCount val="1"/>
                <c:pt idx="0">
                  <c:v>HARD_STOP</c:v>
                </c:pt>
              </c:strCache>
            </c:strRef>
          </c:tx>
          <c:spPr>
            <a:solidFill>
              <a:srgbClr val="EF4444"/>
            </a:solidFill>
            <a:ln w="38100" cap="flat">
              <a:solidFill>
                <a:srgbClr val="EF4444"/>
              </a:solidFill>
              <a:prstDash val="solid"/>
              <a:round/>
            </a:ln>
            <a:effectLst/>
          </c:spPr>
          <c:invertIfNegative val="0"/>
          <c:dLbls>
            <c:numFmt formatCode="#,##0" sourceLinked="0"/>
            <c:txPr>
              <a:bodyPr/>
              <a:lstStyle/>
              <a:p>
                <a:pPr>
                  <a:defRPr b="0" i="0" strike="noStrike" sz="12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EF4444"/>
              </a:solidFill>
              <a:ln w="9525" cap="flat">
                <a:solidFill>
                  <a:srgbClr val="EF4444"/>
                </a:solidFill>
                <a:prstDash val="solid"/>
                <a:round/>
              </a:ln>
              <a:effectLst/>
            </c:spPr>
          </c:marker>
          <c:cat>
            <c:multiLvlStrRef>
              <c:f>Sheet1!$A$2:$A$97</c:f>
              <c:multiLvlStrCache>
                <c:ptCount val="96"/>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lvl>
              </c:multiLvlStrCache>
            </c:multiLvlStrRef>
          </c:cat>
          <c:val>
            <c:numRef>
              <c:f>Sheet1!$C$2:$C$97</c:f>
              <c:numCache>
                <c:formatCode>General</c:formatCode>
                <c:ptCount val="96"/>
                <c:pt idx="0">
                  <c:v>0.0066369</c:v>
                </c:pt>
                <c:pt idx="1">
                  <c:v>0.0064516</c:v>
                </c:pt>
                <c:pt idx="2">
                  <c:v>0.0063736</c:v>
                </c:pt>
                <c:pt idx="3">
                  <c:v>0.0062731</c:v>
                </c:pt>
                <c:pt idx="4">
                  <c:v>0.0061261</c:v>
                </c:pt>
                <c:pt idx="5">
                  <c:v>0.0057419</c:v>
                </c:pt>
                <c:pt idx="6">
                  <c:v>0.0056116</c:v>
                </c:pt>
                <c:pt idx="7">
                  <c:v>0.0054622</c:v>
                </c:pt>
                <c:pt idx="8">
                  <c:v>0.0052931</c:v>
                </c:pt>
                <c:pt idx="9">
                  <c:v>0.0050753</c:v>
                </c:pt>
                <c:pt idx="10">
                  <c:v>0.0049409</c:v>
                </c:pt>
                <c:pt idx="11">
                  <c:v>0.0048596</c:v>
                </c:pt>
                <c:pt idx="12">
                  <c:v>0.0047414</c:v>
                </c:pt>
                <c:pt idx="13">
                  <c:v>0.0045604</c:v>
                </c:pt>
                <c:pt idx="14">
                  <c:v>0.0044608</c:v>
                </c:pt>
                <c:pt idx="15">
                  <c:v>0.0044041</c:v>
                </c:pt>
                <c:pt idx="16">
                  <c:v>0.0043525</c:v>
                </c:pt>
                <c:pt idx="17">
                  <c:v>0.0041266</c:v>
                </c:pt>
                <c:pt idx="18">
                  <c:v>0.0040423</c:v>
                </c:pt>
                <c:pt idx="19">
                  <c:v>0.0039388</c:v>
                </c:pt>
                <c:pt idx="20">
                  <c:v>0.0039063</c:v>
                </c:pt>
                <c:pt idx="21">
                  <c:v>0.0038466</c:v>
                </c:pt>
                <c:pt idx="22">
                  <c:v>0.0037174</c:v>
                </c:pt>
                <c:pt idx="23">
                  <c:v>0.0036085</c:v>
                </c:pt>
                <c:pt idx="24">
                  <c:v>0.0035073</c:v>
                </c:pt>
                <c:pt idx="25">
                  <c:v>0.0034398</c:v>
                </c:pt>
                <c:pt idx="26">
                  <c:v>0.003307</c:v>
                </c:pt>
                <c:pt idx="27">
                  <c:v>0.0032455</c:v>
                </c:pt>
                <c:pt idx="28">
                  <c:v>0.0031081</c:v>
                </c:pt>
                <c:pt idx="29">
                  <c:v>0.0030462</c:v>
                </c:pt>
                <c:pt idx="30">
                  <c:v>0.0025703</c:v>
                </c:pt>
                <c:pt idx="31">
                  <c:v>0.0024406</c:v>
                </c:pt>
                <c:pt idx="32">
                  <c:v>0.0023416</c:v>
                </c:pt>
                <c:pt idx="33">
                  <c:v>0.0019433</c:v>
                </c:pt>
                <c:pt idx="34">
                  <c:v>0.0016982</c:v>
                </c:pt>
                <c:pt idx="35">
                  <c:v>0.0016378</c:v>
                </c:pt>
                <c:pt idx="36">
                  <c:v>0.0014938</c:v>
                </c:pt>
                <c:pt idx="37">
                  <c:v>0.0012458</c:v>
                </c:pt>
                <c:pt idx="38">
                  <c:v>0.0010922</c:v>
                </c:pt>
                <c:pt idx="39">
                  <c:v>0.0010306</c:v>
                </c:pt>
                <c:pt idx="40">
                  <c:v>0.000967</c:v>
                </c:pt>
                <c:pt idx="41">
                  <c:v>0.000907</c:v>
                </c:pt>
                <c:pt idx="42">
                  <c:v>0.0008249</c:v>
                </c:pt>
                <c:pt idx="43">
                  <c:v>0.0007582</c:v>
                </c:pt>
                <c:pt idx="44">
                  <c:v>0.0006949</c:v>
                </c:pt>
                <c:pt idx="45">
                  <c:v>0.0004645</c:v>
                </c:pt>
                <c:pt idx="46">
                  <c:v>0.0002976</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numCache>
            </c:numRef>
          </c:val>
          <c:smooth val="0"/>
        </c:ser>
        <c:dLbls>
          <c:numFmt formatCode="#,##0" sourceLinked="0"/>
          <c:txPr>
            <a:bodyPr/>
            <a:lstStyle/>
            <a:p>
              <a:pPr>
                <a:defRPr b="0" i="0" strike="noStrike" sz="1200" u="none">
                  <a:solidFill>
                    <a:srgbClr val="FFFFF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AB3CF"/>
                </a:solidFill>
                <a:latin typeface="+mn-lt"/>
              </a:defRPr>
            </a:pPr>
            <a:endParaRPr lang="en-US"/>
          </a:p>
        </c:txPr>
        <c:crossAx val="2094734552"/>
        <c:crosses val="autoZero"/>
        <c:auto val="1"/>
        <c:lblAlgn val="ctr"/>
        <c:noMultiLvlLbl val="1"/>
        <c:tickLblSkip val="10"/>
      </c:catAx>
      <c:valAx>
        <c:axId val="2094734552"/>
        <c:scaling>
          <c:orientation val="minMax"/>
        </c:scaling>
        <c:delete val="0"/>
        <c:axPos val="l"/>
        <c:majorGridlines>
          <c:spPr>
            <a:ln w="9525" cap="flat">
              <a:solidFill>
                <a:srgbClr val="26304D"/>
              </a:solidFill>
              <a:prstDash val="solid"/>
              <a:round/>
            </a:ln>
          </c:spPr>
        </c:majorGridlines>
        <c:numFmt formatCode="$0.000" sourceLinked="0"/>
        <c:majorTickMark val="out"/>
        <c:minorTickMark val="none"/>
        <c:tickLblPos val="nextTo"/>
        <c:spPr>
          <a:ln w="12700" cap="flat">
            <a:noFill/>
            <a:prstDash val="solid"/>
            <a:round/>
          </a:ln>
        </c:spPr>
        <c:txPr>
          <a:bodyPr/>
          <a:lstStyle/>
          <a:p>
            <a:pPr>
              <a:defRPr sz="1200" b="0" i="0" u="none" strike="noStrike">
                <a:solidFill>
                  <a:srgbClr val="AAB3C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AAB3CF"/>
              </a:solidFill>
              <a:latin typeface="+mn-lt"/>
              <a:cs typeface="+mn-lt"/>
            </a:defRPr>
          </a:pPr>
          <a:endParaRPr lang="en-US"/>
        </a:p>
      </c:txPr>
    </c:legend>
    <c:plotVisOnly val="1"/>
    <c:dispBlanksAs val="gap"/>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Cost vs accuracy, 100 tasks per run</a:t>
            </a:r>
          </a:p>
        </c:rich>
      </c:tx>
      <c:layout/>
      <c:overlay val="0"/>
    </c:title>
    <c:autoTitleDeleted val="0"/>
    <c:plotArea>
      <c:layout/>
      <c:scatterChart>
        <c:scatterStyle val="lineMarker"/>
        <c:varyColors val="0"/>
        <c:ser>
          <c:idx val="0"/>
          <c:order val="0"/>
          <c:tx>
            <c:strRef>
              <c:f>Sheet1!$B$1</c:f>
              <c:strCache>
                <c:ptCount val="1"/>
                <c:pt idx="0">
                  <c:v>Always cheap</c:v>
                </c:pt>
              </c:strCache>
            </c:strRef>
          </c:tx>
          <c:spPr>
            <a:solidFill>
              <a:srgbClr val="22C55E"/>
            </a:solidFill>
            <a:ln>
              <a:noFill/>
            </a:ln>
            <a:effectLst/>
          </c:spPr>
          <c:marker>
            <c:symbol val="circle"/>
            <c:size val="14"/>
            <c:spPr>
              <a:solidFill>
                <a:srgbClr val="22C55E"/>
              </a:solidFill>
              <a:ln w="9525" cap="flat">
                <a:solidFill>
                  <a:srgbClr val="22C55E"/>
                </a:solidFill>
                <a:prstDash val="solid"/>
                <a:round/>
              </a:ln>
              <a:effectLst/>
            </c:spPr>
          </c:marker>
          <c:xVal>
            <c:numRef>
              <c:f>Sheet1!$A$2:$A$10</c:f>
              <c:numCache>
                <c:formatCode>General</c:formatCode>
                <c:ptCount val="9"/>
                <c:pt idx="0">
                  <c:v>0.00943</c:v>
                </c:pt>
                <c:pt idx="1">
                  <c:v>0.01343</c:v>
                </c:pt>
                <c:pt idx="2">
                  <c:v>0.01368</c:v>
                </c:pt>
                <c:pt idx="3">
                  <c:v>0.01365</c:v>
                </c:pt>
                <c:pt idx="4">
                  <c:v>0.01283</c:v>
                </c:pt>
                <c:pt idx="5">
                  <c:v>0.01314</c:v>
                </c:pt>
                <c:pt idx="6">
                  <c:v>0.01244</c:v>
                </c:pt>
                <c:pt idx="7">
                  <c:v>0.01127</c:v>
                </c:pt>
                <c:pt idx="8">
                  <c:v>0.00984</c:v>
                </c:pt>
              </c:numCache>
            </c:numRef>
          </c:xVal>
          <c:yVal>
            <c:numRef>
              <c:f>Sheet1!$B$2:$B$10</c:f>
              <c:numCache>
                <c:formatCode>General</c:formatCode>
                <c:ptCount val="9"/>
                <c:pt idx="0">
                  <c:v>0.84</c:v>
                </c:pt>
                <c:pt idx="1">
                  <c:v/>
                </c:pt>
                <c:pt idx="2">
                  <c:v/>
                </c:pt>
                <c:pt idx="3">
                  <c:v/>
                </c:pt>
                <c:pt idx="4">
                  <c:v/>
                </c:pt>
                <c:pt idx="5">
                  <c:v/>
                </c:pt>
                <c:pt idx="6">
                  <c:v/>
                </c:pt>
                <c:pt idx="7">
                  <c:v/>
                </c:pt>
                <c:pt idx="8">
                  <c:v/>
                </c:pt>
              </c:numCache>
            </c:numRef>
          </c:yVal>
          <c:smooth val="0"/>
        </c:ser>
        <c:ser>
          <c:idx val="1"/>
          <c:order val="1"/>
          <c:tx>
            <c:strRef>
              <c:f>Sheet1!$C$1</c:f>
              <c:strCache>
                <c:ptCount val="1"/>
                <c:pt idx="0">
                  <c:v>Always expensive</c:v>
                </c:pt>
              </c:strCache>
            </c:strRef>
          </c:tx>
          <c:spPr>
            <a:solidFill>
              <a:srgbClr val="F97316"/>
            </a:solidFill>
            <a:ln>
              <a:noFill/>
            </a:ln>
            <a:effectLst/>
          </c:spPr>
          <c:marker>
            <c:symbol val="circle"/>
            <c:size val="14"/>
            <c:spPr>
              <a:solidFill>
                <a:srgbClr val="F97316"/>
              </a:solidFill>
              <a:ln w="9525" cap="flat">
                <a:solidFill>
                  <a:srgbClr val="F97316"/>
                </a:solidFill>
                <a:prstDash val="solid"/>
                <a:round/>
              </a:ln>
              <a:effectLst/>
            </c:spPr>
          </c:marker>
          <c:xVal>
            <c:numRef>
              <c:f>Sheet1!$A$2:$A$10</c:f>
              <c:numCache>
                <c:formatCode>General</c:formatCode>
                <c:ptCount val="9"/>
                <c:pt idx="0">
                  <c:v>0.00943</c:v>
                </c:pt>
                <c:pt idx="1">
                  <c:v>0.01343</c:v>
                </c:pt>
                <c:pt idx="2">
                  <c:v>0.01368</c:v>
                </c:pt>
                <c:pt idx="3">
                  <c:v>0.01365</c:v>
                </c:pt>
                <c:pt idx="4">
                  <c:v>0.01283</c:v>
                </c:pt>
                <c:pt idx="5">
                  <c:v>0.01314</c:v>
                </c:pt>
                <c:pt idx="6">
                  <c:v>0.01244</c:v>
                </c:pt>
                <c:pt idx="7">
                  <c:v>0.01127</c:v>
                </c:pt>
                <c:pt idx="8">
                  <c:v>0.00984</c:v>
                </c:pt>
              </c:numCache>
            </c:numRef>
          </c:xVal>
          <c:yVal>
            <c:numRef>
              <c:f>Sheet1!$C$2:$C$10</c:f>
              <c:numCache>
                <c:formatCode>General</c:formatCode>
                <c:ptCount val="9"/>
                <c:pt idx="0">
                  <c:v/>
                </c:pt>
                <c:pt idx="1">
                  <c:v>0.89</c:v>
                </c:pt>
                <c:pt idx="2">
                  <c:v/>
                </c:pt>
                <c:pt idx="3">
                  <c:v/>
                </c:pt>
                <c:pt idx="4">
                  <c:v/>
                </c:pt>
                <c:pt idx="5">
                  <c:v/>
                </c:pt>
                <c:pt idx="6">
                  <c:v/>
                </c:pt>
                <c:pt idx="7">
                  <c:v/>
                </c:pt>
                <c:pt idx="8">
                  <c:v/>
                </c:pt>
              </c:numCache>
            </c:numRef>
          </c:yVal>
          <c:smooth val="0"/>
        </c:ser>
        <c:ser>
          <c:idx val="2"/>
          <c:order val="2"/>
          <c:tx>
            <c:strRef>
              <c:f>Sheet1!$D$1</c:f>
              <c:strCache>
                <c:ptCount val="1"/>
                <c:pt idx="0">
                  <c:v>Router (threshold sweep)</c:v>
                </c:pt>
              </c:strCache>
            </c:strRef>
          </c:tx>
          <c:spPr>
            <a:solidFill>
              <a:srgbClr val="4F8CFF"/>
            </a:solidFill>
            <a:ln>
              <a:noFill/>
            </a:ln>
            <a:effectLst/>
          </c:spPr>
          <c:marker>
            <c:symbol val="circle"/>
            <c:size val="14"/>
            <c:spPr>
              <a:solidFill>
                <a:srgbClr val="4F8CFF"/>
              </a:solidFill>
              <a:ln w="9525" cap="flat">
                <a:solidFill>
                  <a:srgbClr val="4F8CFF"/>
                </a:solidFill>
                <a:prstDash val="solid"/>
                <a:round/>
              </a:ln>
              <a:effectLst/>
            </c:spPr>
          </c:marker>
          <c:xVal>
            <c:numRef>
              <c:f>Sheet1!$A$2:$A$10</c:f>
              <c:numCache>
                <c:formatCode>General</c:formatCode>
                <c:ptCount val="9"/>
                <c:pt idx="0">
                  <c:v>0.00943</c:v>
                </c:pt>
                <c:pt idx="1">
                  <c:v>0.01343</c:v>
                </c:pt>
                <c:pt idx="2">
                  <c:v>0.01368</c:v>
                </c:pt>
                <c:pt idx="3">
                  <c:v>0.01365</c:v>
                </c:pt>
                <c:pt idx="4">
                  <c:v>0.01283</c:v>
                </c:pt>
                <c:pt idx="5">
                  <c:v>0.01314</c:v>
                </c:pt>
                <c:pt idx="6">
                  <c:v>0.01244</c:v>
                </c:pt>
                <c:pt idx="7">
                  <c:v>0.01127</c:v>
                </c:pt>
                <c:pt idx="8">
                  <c:v>0.00984</c:v>
                </c:pt>
              </c:numCache>
            </c:numRef>
          </c:xVal>
          <c:yVal>
            <c:numRef>
              <c:f>Sheet1!$D$2:$D$10</c:f>
              <c:numCache>
                <c:formatCode>General</c:formatCode>
                <c:ptCount val="9"/>
                <c:pt idx="0">
                  <c:v/>
                </c:pt>
                <c:pt idx="1">
                  <c:v/>
                </c:pt>
                <c:pt idx="2">
                  <c:v>0.88</c:v>
                </c:pt>
                <c:pt idx="3">
                  <c:v>0.88</c:v>
                </c:pt>
                <c:pt idx="4">
                  <c:v>0.88</c:v>
                </c:pt>
                <c:pt idx="5">
                  <c:v>0.87</c:v>
                </c:pt>
                <c:pt idx="6">
                  <c:v>0.87</c:v>
                </c:pt>
                <c:pt idx="7">
                  <c:v/>
                </c:pt>
                <c:pt idx="8">
                  <c:v/>
                </c:pt>
              </c:numCache>
            </c:numRef>
          </c:yVal>
          <c:smooth val="0"/>
        </c:ser>
        <c:ser>
          <c:idx val="3"/>
          <c:order val="3"/>
          <c:tx>
            <c:strRef>
              <c:f>Sheet1!$E$1</c:f>
              <c:strCache>
                <c:ptCount val="1"/>
                <c:pt idx="0">
                  <c:v>Router, budget-capped (SOFT)</c:v>
                </c:pt>
              </c:strCache>
            </c:strRef>
          </c:tx>
          <c:spPr>
            <a:solidFill>
              <a:srgbClr val="F59E0B"/>
            </a:solidFill>
            <a:ln>
              <a:noFill/>
            </a:ln>
            <a:effectLst/>
          </c:spPr>
          <c:marker>
            <c:symbol val="circle"/>
            <c:size val="14"/>
            <c:spPr>
              <a:solidFill>
                <a:srgbClr val="F59E0B"/>
              </a:solidFill>
              <a:ln w="9525" cap="flat">
                <a:solidFill>
                  <a:srgbClr val="F59E0B"/>
                </a:solidFill>
                <a:prstDash val="solid"/>
                <a:round/>
              </a:ln>
              <a:effectLst/>
            </c:spPr>
          </c:marker>
          <c:xVal>
            <c:numRef>
              <c:f>Sheet1!$A$2:$A$10</c:f>
              <c:numCache>
                <c:formatCode>General</c:formatCode>
                <c:ptCount val="9"/>
                <c:pt idx="0">
                  <c:v>0.00943</c:v>
                </c:pt>
                <c:pt idx="1">
                  <c:v>0.01343</c:v>
                </c:pt>
                <c:pt idx="2">
                  <c:v>0.01368</c:v>
                </c:pt>
                <c:pt idx="3">
                  <c:v>0.01365</c:v>
                </c:pt>
                <c:pt idx="4">
                  <c:v>0.01283</c:v>
                </c:pt>
                <c:pt idx="5">
                  <c:v>0.01314</c:v>
                </c:pt>
                <c:pt idx="6">
                  <c:v>0.01244</c:v>
                </c:pt>
                <c:pt idx="7">
                  <c:v>0.01127</c:v>
                </c:pt>
                <c:pt idx="8">
                  <c:v>0.00984</c:v>
                </c:pt>
              </c:numCache>
            </c:numRef>
          </c:xVal>
          <c:yVal>
            <c:numRef>
              <c:f>Sheet1!$E$2:$E$10</c:f>
              <c:numCache>
                <c:formatCode>General</c:formatCode>
                <c:ptCount val="9"/>
                <c:pt idx="0">
                  <c:v/>
                </c:pt>
                <c:pt idx="1">
                  <c:v/>
                </c:pt>
                <c:pt idx="2">
                  <c:v/>
                </c:pt>
                <c:pt idx="3">
                  <c:v/>
                </c:pt>
                <c:pt idx="4">
                  <c:v/>
                </c:pt>
                <c:pt idx="5">
                  <c:v/>
                </c:pt>
                <c:pt idx="6">
                  <c:v/>
                </c:pt>
                <c:pt idx="7">
                  <c:v>0.84</c:v>
                </c:pt>
                <c:pt idx="8">
                  <c:v/>
                </c:pt>
              </c:numCache>
            </c:numRef>
          </c:yVal>
          <c:smooth val="0"/>
        </c:ser>
        <c:ser>
          <c:idx val="4"/>
          <c:order val="4"/>
          <c:tx>
            <c:strRef>
              <c:f>Sheet1!$F$1</c:f>
              <c:strCache>
                <c:ptCount val="1"/>
                <c:pt idx="0">
                  <c:v>Task-type routing (hindsight)</c:v>
                </c:pt>
              </c:strCache>
            </c:strRef>
          </c:tx>
          <c:spPr>
            <a:solidFill>
              <a:srgbClr val="A78BFA"/>
            </a:solidFill>
            <a:ln>
              <a:noFill/>
            </a:ln>
            <a:effectLst/>
          </c:spPr>
          <c:marker>
            <c:symbol val="circle"/>
            <c:size val="14"/>
            <c:spPr>
              <a:solidFill>
                <a:srgbClr val="A78BFA"/>
              </a:solidFill>
              <a:ln w="9525" cap="flat">
                <a:solidFill>
                  <a:srgbClr val="A78BFA"/>
                </a:solidFill>
                <a:prstDash val="solid"/>
                <a:round/>
              </a:ln>
              <a:effectLst/>
            </c:spPr>
          </c:marker>
          <c:xVal>
            <c:numRef>
              <c:f>Sheet1!$A$2:$A$10</c:f>
              <c:numCache>
                <c:formatCode>General</c:formatCode>
                <c:ptCount val="9"/>
                <c:pt idx="0">
                  <c:v>0.00943</c:v>
                </c:pt>
                <c:pt idx="1">
                  <c:v>0.01343</c:v>
                </c:pt>
                <c:pt idx="2">
                  <c:v>0.01368</c:v>
                </c:pt>
                <c:pt idx="3">
                  <c:v>0.01365</c:v>
                </c:pt>
                <c:pt idx="4">
                  <c:v>0.01283</c:v>
                </c:pt>
                <c:pt idx="5">
                  <c:v>0.01314</c:v>
                </c:pt>
                <c:pt idx="6">
                  <c:v>0.01244</c:v>
                </c:pt>
                <c:pt idx="7">
                  <c:v>0.01127</c:v>
                </c:pt>
                <c:pt idx="8">
                  <c:v>0.00984</c:v>
                </c:pt>
              </c:numCache>
            </c:numRef>
          </c:xVal>
          <c:yVal>
            <c:numRef>
              <c:f>Sheet1!$F$2:$F$10</c:f>
              <c:numCache>
                <c:formatCode>General</c:formatCode>
                <c:ptCount val="9"/>
                <c:pt idx="0">
                  <c:v/>
                </c:pt>
                <c:pt idx="1">
                  <c:v/>
                </c:pt>
                <c:pt idx="2">
                  <c:v/>
                </c:pt>
                <c:pt idx="3">
                  <c:v/>
                </c:pt>
                <c:pt idx="4">
                  <c:v/>
                </c:pt>
                <c:pt idx="5">
                  <c:v/>
                </c:pt>
                <c:pt idx="6">
                  <c:v/>
                </c:pt>
                <c:pt idx="7">
                  <c:v/>
                </c:pt>
                <c:pt idx="8">
                  <c:v>0.89</c:v>
                </c:pt>
              </c:numCache>
            </c:numRef>
          </c:yVal>
          <c:smooth val="0"/>
        </c:ser>
        <c:dLbls>
          <c:numFmt formatCode="General" sourceLinked="0"/>
          <c:txPr>
            <a:bodyPr/>
            <a:lstStyle/>
            <a:p>
              <a:pPr>
                <a:defRPr b="0" i="0" strike="noStrike" sz="1200" u="none">
                  <a:solidFill>
                    <a:srgbClr val="FFFFFF"/>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0.014"/>
          <c:min val="0.009"/>
        </c:scaling>
        <c:delete val="0"/>
        <c:axPos val="b"/>
        <c:majorGridlines>
          <c:spPr>
            <a:ln w="9525" cap="flat">
              <a:solidFill>
                <a:srgbClr val="26304D"/>
              </a:solidFill>
              <a:prstDash val="solid"/>
              <a:round/>
            </a:ln>
          </c:spPr>
        </c:majorGridlines>
        <c:title>
          <c:tx>
            <c:rich>
              <a:bodyPr/>
              <a:lstStyle/>
              <a:p>
                <a:pPr>
                  <a:defRPr sz="1200" b="0" i="0" u="none" strike="noStrike">
                    <a:solidFill>
                      <a:srgbClr val="AAB3CF"/>
                    </a:solidFill>
                    <a:latin typeface="+mn-lt"/>
                  </a:defRPr>
                </a:pPr>
                <a:r>
                  <a:rPr sz="1200" b="0" i="0" u="none" strike="noStrike">
                    <a:solidFill>
                      <a:srgbClr val="AAB3CF"/>
                    </a:solidFill>
                    <a:latin typeface="+mn-lt"/>
                  </a:rPr>
                  <a:t>Total cost for 100 tasks (US dollars)</a:t>
                </a:r>
              </a:p>
            </c:rich>
          </c:tx>
          <c:layout/>
          <c:overlay val="0"/>
        </c:title>
        <c:numFmt formatCode="0%" sourceLinked="1"/>
        <c:majorTickMark val="none"/>
        <c:minorTickMark val="none"/>
        <c:tickLblPos val="nextTo"/>
        <c:spPr>
          <a:ln w="12700" cap="flat">
            <a:noFill/>
            <a:prstDash val="solid"/>
            <a:round/>
          </a:ln>
        </c:spPr>
        <c:txPr>
          <a:bodyPr/>
          <a:lstStyle/>
          <a:p>
            <a:pPr>
              <a:defRPr sz="1200" b="0" i="0" u="none" strike="noStrike">
                <a:solidFill>
                  <a:srgbClr val="AAB3CF"/>
                </a:solidFill>
                <a:latin typeface="+mn-lt"/>
              </a:defRPr>
            </a:pPr>
            <a:endParaRPr lang="en-US"/>
          </a:p>
        </c:txPr>
        <c:crossAx val="2094734552"/>
        <c:crosses val="autoZero"/>
        <c:auto val="1"/>
        <c:lblAlgn val="ctr"/>
        <c:noMultiLvlLbl val="1"/>
      </c:valAx>
      <c:valAx>
        <c:axId val="2094734552"/>
        <c:scaling>
          <c:orientation val="minMax"/>
          <c:max val="0.9"/>
          <c:min val="0.82"/>
        </c:scaling>
        <c:delete val="0"/>
        <c:axPos val="l"/>
        <c:majorGridlines>
          <c:spPr>
            <a:ln w="9525" cap="flat">
              <a:solidFill>
                <a:srgbClr val="26304D"/>
              </a:solidFill>
              <a:prstDash val="solid"/>
              <a:round/>
            </a:ln>
          </c:spPr>
        </c:majorGridlines>
        <c:title>
          <c:tx>
            <c:rich>
              <a:bodyPr/>
              <a:lstStyle/>
              <a:p>
                <a:pPr>
                  <a:defRPr sz="1200" b="0" i="0" u="none" strike="noStrike">
                    <a:solidFill>
                      <a:srgbClr val="AAB3CF"/>
                    </a:solidFill>
                    <a:latin typeface="+mn-lt"/>
                  </a:defRPr>
                </a:pPr>
                <a:r>
                  <a:rPr sz="1200" b="0" i="0" u="none" strike="noStrike">
                    <a:solidFill>
                      <a:srgbClr val="AAB3CF"/>
                    </a:solidFill>
                    <a:latin typeface="+mn-lt"/>
                  </a:rPr>
                  <a:t>Accuracy</a:t>
                </a:r>
              </a:p>
            </c:rich>
          </c:tx>
          <c:layout/>
          <c:overlay val="0"/>
        </c:title>
        <c:numFmt formatCode="0%" sourceLinked="0"/>
        <c:majorTickMark val="none"/>
        <c:minorTickMark val="none"/>
        <c:tickLblPos val="nextTo"/>
        <c:spPr>
          <a:ln w="12700" cap="flat">
            <a:noFill/>
            <a:prstDash val="solid"/>
            <a:round/>
          </a:ln>
        </c:spPr>
        <c:txPr>
          <a:bodyPr/>
          <a:lstStyle/>
          <a:p>
            <a:pPr>
              <a:defRPr sz="1200" b="0" i="0" u="none" strike="noStrike">
                <a:solidFill>
                  <a:srgbClr val="AAB3CF"/>
                </a:solidFill>
                <a:latin typeface="+mn-lt"/>
              </a:defRPr>
            </a:pPr>
            <a:endParaRPr lang="en-US"/>
          </a:p>
        </c:txPr>
        <c:crossAx val="2094734554"/>
        <c:crosses val="autoZero"/>
        <c:crossBetween val="midCat"/>
        <c:majorUnit val="0.02"/>
      </c:valAx>
      <c:spPr>
        <a:noFill/>
        <a:ln>
          <a:noFill/>
        </a:ln>
        <a:effectLst/>
      </c:spPr>
    </c:plotArea>
    <c:legend>
      <c:legendPos val="b"/>
      <c:overlay val="0"/>
      <c:txPr>
        <a:bodyPr/>
        <a:lstStyle/>
        <a:p>
          <a:pPr>
            <a:defRPr sz="1200">
              <a:solidFill>
                <a:srgbClr val="AAB3C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Accuracy by task type</a:t>
            </a:r>
          </a:p>
        </c:rich>
      </c:tx>
      <c:layout/>
      <c:overlay val="0"/>
    </c:title>
    <c:autoTitleDeleted val="0"/>
    <c:plotArea>
      <c:layout/>
      <c:barChart>
        <c:barDir val="col"/>
        <c:grouping val="clustered"/>
        <c:varyColors val="0"/>
        <c:ser>
          <c:idx val="0"/>
          <c:order val="0"/>
          <c:tx>
            <c:strRef>
              <c:f>Sheet1!$B$1</c:f>
              <c:strCache>
                <c:ptCount val="1"/>
                <c:pt idx="0">
                  <c:v>Cheap model</c:v>
                </c:pt>
              </c:strCache>
            </c:strRef>
          </c:tx>
          <c:spPr>
            <a:solidFill>
              <a:srgbClr val="22C55E"/>
            </a:solidFill>
            <a:effectLst/>
          </c:spPr>
          <c:invertIfNegative val="0"/>
          <c:dLbls>
            <c:numFmt formatCode="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cat>
            <c:multiLvlStrRef>
              <c:f>Sheet1!$A$2:$A$3</c:f>
              <c:multiLvlStrCache>
                <c:ptCount val="2"/>
                <c:lvl>
                  <c:pt idx="0">
                    <c:v>TriviaQA (knowledge)</c:v>
                  </c:pt>
                  <c:pt idx="1">
                    <c:v>GSM8K (math)</c:v>
                  </c:pt>
                </c:lvl>
              </c:multiLvlStrCache>
            </c:multiLvlStrRef>
          </c:cat>
          <c:val>
            <c:numRef>
              <c:f>Sheet1!$B$2:$B$3</c:f>
              <c:numCache>
                <c:formatCode>General</c:formatCode>
                <c:ptCount val="2"/>
                <c:pt idx="0">
                  <c:v>0.72</c:v>
                </c:pt>
                <c:pt idx="1">
                  <c:v>0.96</c:v>
                </c:pt>
              </c:numCache>
            </c:numRef>
          </c:val>
        </c:ser>
        <c:ser>
          <c:idx val="1"/>
          <c:order val="1"/>
          <c:tx>
            <c:strRef>
              <c:f>Sheet1!$C$1</c:f>
              <c:strCache>
                <c:ptCount val="1"/>
                <c:pt idx="0">
                  <c:v>Expensive model</c:v>
                </c:pt>
              </c:strCache>
            </c:strRef>
          </c:tx>
          <c:spPr>
            <a:solidFill>
              <a:srgbClr val="F97316"/>
            </a:solidFill>
            <a:effectLst/>
          </c:spPr>
          <c:invertIfNegative val="0"/>
          <c:dLbls>
            <c:numFmt formatCode="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cat>
            <c:multiLvlStrRef>
              <c:f>Sheet1!$A$2:$A$3</c:f>
              <c:multiLvlStrCache>
                <c:ptCount val="2"/>
                <c:lvl>
                  <c:pt idx="0">
                    <c:v>TriviaQA (knowledge)</c:v>
                  </c:pt>
                  <c:pt idx="1">
                    <c:v>GSM8K (math)</c:v>
                  </c:pt>
                </c:lvl>
              </c:multiLvlStrCache>
            </c:multiLvlStrRef>
          </c:cat>
          <c:val>
            <c:numRef>
              <c:f>Sheet1!$C$2:$C$3</c:f>
              <c:numCache>
                <c:formatCode>General</c:formatCode>
                <c:ptCount val="2"/>
                <c:pt idx="0">
                  <c:v>0.82</c:v>
                </c:pt>
                <c:pt idx="1">
                  <c:v>0.96</c:v>
                </c:pt>
              </c:numCache>
            </c:numRef>
          </c:val>
        </c:ser>
        <c:dLbls>
          <c:numFmt formatCode="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AB3CF"/>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9525" cap="flat">
              <a:solidFill>
                <a:srgbClr val="26304D"/>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AAB3CF"/>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AAB3C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Share sent to the expensive model, by router threshold</a:t>
            </a:r>
          </a:p>
        </c:rich>
      </c:tx>
      <c:layout/>
      <c:overlay val="0"/>
    </c:title>
    <c:autoTitleDeleted val="0"/>
    <c:plotArea>
      <c:layout/>
      <c:barChart>
        <c:barDir val="col"/>
        <c:grouping val="clustered"/>
        <c:varyColors val="0"/>
        <c:ser>
          <c:idx val="0"/>
          <c:order val="0"/>
          <c:tx>
            <c:strRef>
              <c:f>Sheet1!$B$1</c:f>
              <c:strCache>
                <c:ptCount val="1"/>
                <c:pt idx="0">
                  <c:v>GSM8K (math)</c:v>
                </c:pt>
              </c:strCache>
            </c:strRef>
          </c:tx>
          <c:spPr>
            <a:solidFill>
              <a:srgbClr val="E879F9"/>
            </a:solidFill>
            <a:effectLst/>
          </c:spPr>
          <c:invertIfNegative val="0"/>
          <c:dLbls>
            <c:numFmt formatCode="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cat>
            <c:multiLvlStrRef>
              <c:f>Sheet1!$A$2:$A$6</c:f>
              <c:multiLvlStrCache>
                <c:ptCount val="5"/>
                <c:lvl>
                  <c:pt idx="0">
                    <c:v>t=0.0262</c:v>
                  </c:pt>
                  <c:pt idx="1">
                    <c:v>t=0.0289</c:v>
                  </c:pt>
                  <c:pt idx="2">
                    <c:v>t=0.039</c:v>
                  </c:pt>
                  <c:pt idx="3">
                    <c:v>t=0.0532</c:v>
                  </c:pt>
                  <c:pt idx="4">
                    <c:v>t=0.065</c:v>
                  </c:pt>
                </c:lvl>
              </c:multiLvlStrCache>
            </c:multiLvlStrRef>
          </c:cat>
          <c:val>
            <c:numRef>
              <c:f>Sheet1!$B$2:$B$6</c:f>
              <c:numCache>
                <c:formatCode>General</c:formatCode>
                <c:ptCount val="5"/>
                <c:pt idx="0">
                  <c:v>1</c:v>
                </c:pt>
                <c:pt idx="1">
                  <c:v>1</c:v>
                </c:pt>
                <c:pt idx="2">
                  <c:v>0.94</c:v>
                </c:pt>
                <c:pt idx="3">
                  <c:v>0.82</c:v>
                </c:pt>
                <c:pt idx="4">
                  <c:v>0.56</c:v>
                </c:pt>
              </c:numCache>
            </c:numRef>
          </c:val>
        </c:ser>
        <c:ser>
          <c:idx val="1"/>
          <c:order val="1"/>
          <c:tx>
            <c:strRef>
              <c:f>Sheet1!$C$1</c:f>
              <c:strCache>
                <c:ptCount val="1"/>
                <c:pt idx="0">
                  <c:v>TriviaQA (knowledge)</c:v>
                </c:pt>
              </c:strCache>
            </c:strRef>
          </c:tx>
          <c:spPr>
            <a:solidFill>
              <a:srgbClr val="38BDF8"/>
            </a:solidFill>
            <a:effectLst/>
          </c:spPr>
          <c:invertIfNegative val="0"/>
          <c:dLbls>
            <c:numFmt formatCode="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cat>
            <c:multiLvlStrRef>
              <c:f>Sheet1!$A$2:$A$6</c:f>
              <c:multiLvlStrCache>
                <c:ptCount val="5"/>
                <c:lvl>
                  <c:pt idx="0">
                    <c:v>t=0.0262</c:v>
                  </c:pt>
                  <c:pt idx="1">
                    <c:v>t=0.0289</c:v>
                  </c:pt>
                  <c:pt idx="2">
                    <c:v>t=0.039</c:v>
                  </c:pt>
                  <c:pt idx="3">
                    <c:v>t=0.0532</c:v>
                  </c:pt>
                  <c:pt idx="4">
                    <c:v>t=0.065</c:v>
                  </c:pt>
                </c:lvl>
              </c:multiLvlStrCache>
            </c:multiLvlStrRef>
          </c:cat>
          <c:val>
            <c:numRef>
              <c:f>Sheet1!$C$2:$C$6</c:f>
              <c:numCache>
                <c:formatCode>General</c:formatCode>
                <c:ptCount val="5"/>
                <c:pt idx="0">
                  <c:v>0.96</c:v>
                </c:pt>
                <c:pt idx="1">
                  <c:v>0.94</c:v>
                </c:pt>
                <c:pt idx="2">
                  <c:v>0.66</c:v>
                </c:pt>
                <c:pt idx="3">
                  <c:v>0.6</c:v>
                </c:pt>
                <c:pt idx="4">
                  <c:v>0.5</c:v>
                </c:pt>
              </c:numCache>
            </c:numRef>
          </c:val>
        </c:ser>
        <c:dLbls>
          <c:numFmt formatCode="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AB3CF"/>
                </a:solidFill>
                <a:latin typeface="+mn-lt"/>
              </a:defRPr>
            </a:pPr>
            <a:endParaRPr lang="en-US"/>
          </a:p>
        </c:txPr>
        <c:crossAx val="2094734552"/>
        <c:crosses val="autoZero"/>
        <c:auto val="1"/>
        <c:lblAlgn val="ctr"/>
        <c:noMultiLvlLbl val="1"/>
      </c:catAx>
      <c:valAx>
        <c:axId val="2094734552"/>
        <c:scaling>
          <c:orientation val="minMax"/>
          <c:max val="1.15"/>
          <c:min val="0"/>
        </c:scaling>
        <c:delete val="0"/>
        <c:axPos val="l"/>
        <c:majorGridlines>
          <c:spPr>
            <a:ln w="9525" cap="flat">
              <a:solidFill>
                <a:srgbClr val="26304D"/>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AAB3CF"/>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AAB3C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This is CostRouter, a project about spending less on AI models without getting worse answers. Modern AI agents call a language model at every step. CostRouter sits in front of those calls and decides, step by step, whether a cheap model is good enough or the expensive one is needed — while keeping track of a budget in dollars. I'll explain the idea, how it works, how we tested it on real models, what we found, and then show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agent breaks a task into many small steps, and most teams send every step to their best, most expensive model. But many steps are easy: looking something up, formatting text. In our test the bigger model costs twice as much per token, and the small model already answered 84% of questions correctly versus 89% for the big one. So the question for this project is: can we pick the right model per step automatically, and guarantee we never blow the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architecture. LangGraph is a popular framework for building agents as a graph of steps. CostRouter is a single node you drop into that graph. Each step comes in, the RouterNode decides, and the step goes to either the cheap model or the expensive model, then on to the next step. Underneath are three parts: a difficulty estimator that scores the step, a budget tracker that keeps a ledger in real dollars, and a decision logger that records every choice in a SQLite database so you can audit it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single step goes through the same five checks. One: score how difficult it looks. Two: check the budget can cover the expensive model in the worst case. Three: route — if the score is above a threshold and we can afford it, use the expensive model, otherwise the cheap one. Four: validate the answer — if the cheap model returns something empty or broken, retry once on the expensive model. Five: charge the real cost to the ledger and log the decision. At the bottom is a real example from the live demo: the pens question scored 0.54, above the 0.30 threshold, so it went to the expensive model, which answered $56 for well under a tenth of a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judge difficulty without asking an AI? Three cheap signals. Prompt length, because longer questions tend to be harder. Reasoning words like 'step by step', 'prove' or 'compare'. And history: how often this kind of step has failed before. They're combined with fixed weights into one score. The chart shows four real demo questions: the capital-of-Australia question scores 0.21 and the plain math problem 0.25, so both go to the cheap model, while the pens and train questions are full of reasoning words and score 0.54, above the 0.30 threshold, so they go to the expensive model. All of this takes under a millisecond and costs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budget tracker is a ledger in real dollars: every call is charged from its actual token usage. It warns at 50% and 10% left, and when the expensive model is no longer affordable, the step is downgraded to the cheap model and flagged. There are two modes. In this test the budget was capped at half of what the expensive model alone would spend. SOFT mode keeps answering with the cheap model after the money runs out, so it finished every question but ended at 168% of the cap — the blue line goes below zero. HARD_STOP refuses any call it can't afford: it stayed under the cap, but stopped answering after 47 questions. So: SOFT when finishing matters, HARD_STOP when the budget is a hard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Cheap models sometimes fail in obvious ways. Here's a real case from the benchmark: on this trivia question, the small model spent its entire 1,024-token allowance thinking and returned nothing. CostRouter's validator noticed there was no final answer and retried once on the expensive model, which got it right. That happened to 7 of the 100 cheap answers; the validator caught every one the router sent to the cheap model, and escalated it whenever the budget allowed. On the right is the actual database row for that decision: the score, the model, that it was retried, the exact cost and the budget before and after. We store a hash of the prompt instead of the text, for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find out whether it actually works, we ran a real experiment. 100 questions from two well-known benchmarks: TriviaQA for general knowledge and GSM8K for math word problems. Two real models from OpenAI's open-weight gpt-oss family, served by Groq; the big one costs twice as much per token. We ran nine configurations: always cheap, always expensive, five router thresholds and two budget caps. Every answer was recorded once, so all nine runs see exactly the same responses — the only difference is the routing. The whole experiment cost about two cents. The code has 139 automated tests, and I checked the grading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results. The x-axis is cost, the y-axis is accuracy, so up and to the left is better. Always cheap got 84% for under a cent; always expensive got 89%. Our router settings, in blue, land between them — the best one gets 88% at 96% of the cost. Honestly, that's about what you'd get by randomly mixing the two models. But look at the purple point: if we had routed by task type — trivia to the big model, math to the small one — we'd keep the full 89% at 73% of the cost. So the infrastructure works, and there's real money on the table; the next slide shows why v1 misses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v1 miss it? On the left: on math, both models score 96% — the small model is a reasoning model and handles GSM8K fine. The whole accuracy gap is on trivia: 72% versus 82%. On the right: but our heuristic thinks long math problems are hard, so at most thresholds it sends almost all of the math to the expensive model, where nothing is gained. The lesson is that prompt length is a poor proxy for difficulty when the cheap model can reason. That's exactly what version 2 should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show it live. [Switch to the dashboard.] On the Live Router page I'll ask an easy question — it goes to the cheap model. Then a hard one with lots of reasoning words — expensive. Then the tricky trivia question: watch step 4 turn amber as the cheap answer comes back empty and gets retried on the expensive model. Then I'll shrink the budget so hard questions get downgraded. Finally the Playground replays all 100 benchmark questions instantly as I drag the threshold. If anything goes wrong with the live demo, these screenshots show the same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Three lessons: the plumbing works — budgets, escalation and logging behave exactly as designed on real models. Prompt length turned out to be a weak difficulty signal once the cheap model can reason. And measuring honestly — fixed seeds, recorded answers, hand-checked grading — is what let us trust a result that wasn't the one we hoped for. Next version: try the cheap model first and escalate only on failure, learn difficulty per kind of step, support more models and async agents, and package it properly. The code is on GitHub.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0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74520"/>
            <a:ext cx="6035040" cy="109728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640080" y="3108960"/>
            <a:ext cx="5852160" cy="118872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B10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3" name="Text 0"/>
          <p:cNvSpPr/>
          <p:nvPr/>
        </p:nvSpPr>
        <p:spPr>
          <a:xfrm>
            <a:off x="548640" y="6419088"/>
            <a:ext cx="2743200" cy="256032"/>
          </a:xfrm>
          <a:prstGeom prst="rect">
            <a:avLst/>
          </a:prstGeom>
          <a:noFill/>
          <a:ln/>
        </p:spPr>
        <p:txBody>
          <a:bodyPr wrap="square" lIns="0" tIns="0" rIns="0" bIns="0" rtlCol="0" anchor="ctr"/>
          <a:lstStyle/>
          <a:p>
            <a:pPr indent="0" marL="0">
              <a:buNone/>
            </a:pPr>
            <a:r>
              <a:rPr lang="en-US" sz="1000" dirty="0">
                <a:solidFill>
                  <a:schemeClr val="bg2"/>
                </a:solidFill>
              </a:rPr>
              <a:t>CostRouter</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AB3C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AB3C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4" Type="http://schemas.openxmlformats.org/officeDocument/2006/relationships/chart" Target="/ppt/charts/chart2.xm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image" Target="../media/image-10-1.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3.xml"/><Relationship Id="rId10"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640080" y="1417320"/>
            <a:ext cx="5486400" cy="320040"/>
          </a:xfrm>
          <a:prstGeom prst="rect">
            <a:avLst/>
          </a:prstGeom>
          <a:noFill/>
          <a:ln/>
        </p:spPr>
        <p:txBody>
          <a:bodyPr wrap="square" lIns="0" tIns="0" rIns="0" bIns="0" rtlCol="0" anchor="t"/>
          <a:lstStyle/>
          <a:p>
            <a:pPr indent="0" marL="0">
              <a:buNone/>
            </a:pPr>
            <a:r>
              <a:rPr lang="en-US" sz="1400" b="1" spc="200" kern="0" dirty="0">
                <a:solidFill>
                  <a:schemeClr val="accent1"/>
                </a:solidFill>
              </a:rPr>
              <a:t>PROJECT PRESENTATION</a:t>
            </a:r>
            <a:endParaRPr lang="en-US" sz="1400" dirty="0"/>
          </a:p>
        </p:txBody>
      </p:sp>
      <p:sp>
        <p:nvSpPr>
          <p:cNvPr id="3" name="Text 0"/>
          <p:cNvSpPr/>
          <p:nvPr>
            <p:ph idx="100" type="title" hasCustomPrompt="1"/>
          </p:nvPr>
        </p:nvSpPr>
        <p:spPr>
          <a:xfrm>
            <a:off x="640080" y="1874520"/>
            <a:ext cx="6035040" cy="1097280"/>
          </a:xfrm>
          <a:prstGeom prst="rect">
            <a:avLst/>
          </a:prstGeom>
          <a:noFill/>
          <a:ln/>
        </p:spPr>
        <p:txBody>
          <a:bodyPr wrap="square" lIns="0" tIns="0" rIns="0" bIns="0" rtlCol="0" anchor="b"/>
          <a:lstStyle/>
          <a:p>
            <a:pPr algn="l" indent="0" marL="0">
              <a:buNone/>
            </a:pPr>
            <a:r>
              <a:rPr lang="en-US" sz="6000" b="1" dirty="0">
                <a:solidFill>
                  <a:schemeClr val="bg1"/>
                </a:solidFill>
              </a:rPr>
              <a:t>CostRouter</a:t>
            </a:r>
            <a:endParaRPr lang="en-US" sz="6000" dirty="0"/>
          </a:p>
        </p:txBody>
      </p:sp>
      <p:sp>
        <p:nvSpPr>
          <p:cNvPr id="4" name="Text 0"/>
          <p:cNvSpPr/>
          <p:nvPr>
            <p:ph idx="101" type="body" hasCustomPrompt="1"/>
          </p:nvPr>
        </p:nvSpPr>
        <p:spPr>
          <a:xfrm>
            <a:off x="640080" y="3108960"/>
            <a:ext cx="5852160" cy="1188720"/>
          </a:xfrm>
          <a:prstGeom prst="rect">
            <a:avLst/>
          </a:prstGeom>
          <a:noFill/>
          <a:ln/>
        </p:spPr>
        <p:txBody>
          <a:bodyPr wrap="square" lIns="0" tIns="0" rIns="0" bIns="0" rtlCol="0" anchor="t"/>
          <a:lstStyle/>
          <a:p>
            <a:pPr algn="l" indent="0" marL="0">
              <a:buNone/>
            </a:pPr>
            <a:r>
              <a:rPr lang="en-US" sz="2000" dirty="0">
                <a:solidFill>
                  <a:schemeClr val="bg1"/>
                </a:solidFill>
              </a:rPr>
              <a:t>Send every LLM call to the cheapest model that can handle it — without losing track of the budget</a:t>
            </a:r>
            <a:endParaRPr lang="en-US" sz="2000" dirty="0"/>
          </a:p>
        </p:txBody>
      </p:sp>
      <p:sp>
        <p:nvSpPr>
          <p:cNvPr id="5" name="text-2"/>
          <p:cNvSpPr txBox="1"/>
          <p:nvPr/>
        </p:nvSpPr>
        <p:spPr>
          <a:xfrm>
            <a:off x="640080" y="4434840"/>
            <a:ext cx="5852160" cy="365760"/>
          </a:xfrm>
          <a:prstGeom prst="rect">
            <a:avLst/>
          </a:prstGeom>
          <a:noFill/>
          <a:ln/>
        </p:spPr>
        <p:txBody>
          <a:bodyPr wrap="square" lIns="0" tIns="0" rIns="0" bIns="0" rtlCol="0" anchor="t"/>
          <a:lstStyle/>
          <a:p>
            <a:pPr indent="0" marL="0">
              <a:buNone/>
            </a:pPr>
            <a:r>
              <a:rPr lang="en-US" sz="1600" dirty="0">
                <a:solidFill>
                  <a:schemeClr val="bg2"/>
                </a:solidFill>
              </a:rPr>
              <a:t>Cost-aware model routing for LangGraph agents</a:t>
            </a:r>
            <a:endParaRPr lang="en-US" sz="1600" dirty="0"/>
          </a:p>
        </p:txBody>
      </p:sp>
      <p:pic>
        <p:nvPicPr>
          <p:cNvPr id="6" name="gh-3" descr="preencoded.png">    </p:cNvPr>
          <p:cNvPicPr>
            <a:picLocks noChangeAspect="1"/>
          </p:cNvPicPr>
          <p:nvPr/>
        </p:nvPicPr>
        <p:blipFill>
          <a:blip r:embed="rId1"/>
          <a:stretch>
            <a:fillRect/>
          </a:stretch>
        </p:blipFill>
        <p:spPr>
          <a:xfrm>
            <a:off x="640080" y="5779008"/>
            <a:ext cx="292608" cy="292608"/>
          </a:xfrm>
          <a:prstGeom prst="rect">
            <a:avLst/>
          </a:prstGeom>
        </p:spPr>
      </p:pic>
      <p:sp>
        <p:nvSpPr>
          <p:cNvPr id="7" name="text-4"/>
          <p:cNvSpPr txBox="1"/>
          <p:nvPr/>
        </p:nvSpPr>
        <p:spPr>
          <a:xfrm>
            <a:off x="1024128" y="5760720"/>
            <a:ext cx="4572000" cy="329184"/>
          </a:xfrm>
          <a:prstGeom prst="rect">
            <a:avLst/>
          </a:prstGeom>
          <a:noFill/>
          <a:ln/>
        </p:spPr>
        <p:txBody>
          <a:bodyPr wrap="square" lIns="0" tIns="0" rIns="0" bIns="0" rtlCol="0" anchor="ctr"/>
          <a:lstStyle/>
          <a:p>
            <a:pPr indent="0" marL="0">
              <a:buNone/>
            </a:pPr>
            <a:r>
              <a:rPr lang="en-US" sz="1400" dirty="0">
                <a:solidFill>
                  <a:schemeClr val="bg2"/>
                </a:solidFill>
              </a:rPr>
              <a:t>github.com/prakharsahup/Cost-Router</a:t>
            </a:r>
            <a:endParaRPr lang="en-US" sz="1400" dirty="0"/>
          </a:p>
        </p:txBody>
      </p:sp>
      <p:sp>
        <p:nvSpPr>
          <p:cNvPr id="8" name="icon-bg-5"/>
          <p:cNvSpPr/>
          <p:nvPr/>
        </p:nvSpPr>
        <p:spPr>
          <a:xfrm>
            <a:off x="6903720" y="2788920"/>
            <a:ext cx="1005840" cy="1005840"/>
          </a:xfrm>
          <a:prstGeom prst="ellipse">
            <a:avLst/>
          </a:prstGeom>
          <a:solidFill>
            <a:schemeClr val="accent4">
              <a:alpha val="22000"/>
            </a:schemeClr>
          </a:solidFill>
          <a:ln/>
        </p:spPr>
      </p:sp>
      <p:pic>
        <p:nvPicPr>
          <p:cNvPr id="9" name="icon-6" descr="preencoded.png">    </p:cNvPr>
          <p:cNvPicPr>
            <a:picLocks noChangeAspect="1"/>
          </p:cNvPicPr>
          <p:nvPr/>
        </p:nvPicPr>
        <p:blipFill>
          <a:blip r:embed="rId2"/>
          <a:stretch>
            <a:fillRect/>
          </a:stretch>
        </p:blipFill>
        <p:spPr>
          <a:xfrm>
            <a:off x="7155180" y="3040380"/>
            <a:ext cx="502920" cy="502920"/>
          </a:xfrm>
          <a:prstGeom prst="rect">
            <a:avLst/>
          </a:prstGeom>
        </p:spPr>
      </p:pic>
      <p:sp>
        <p:nvSpPr>
          <p:cNvPr id="10" name="text-7"/>
          <p:cNvSpPr txBox="1"/>
          <p:nvPr/>
        </p:nvSpPr>
        <p:spPr>
          <a:xfrm>
            <a:off x="6675120" y="3886200"/>
            <a:ext cx="1463040" cy="274320"/>
          </a:xfrm>
          <a:prstGeom prst="rect">
            <a:avLst/>
          </a:prstGeom>
          <a:noFill/>
          <a:ln/>
        </p:spPr>
        <p:txBody>
          <a:bodyPr wrap="square" lIns="0" tIns="0" rIns="0" bIns="0" rtlCol="0" anchor="t"/>
          <a:lstStyle/>
          <a:p>
            <a:pPr algn="ctr" indent="0" marL="0">
              <a:buNone/>
            </a:pPr>
            <a:r>
              <a:rPr lang="en-US" sz="1300" dirty="0">
                <a:solidFill>
                  <a:schemeClr val="bg2"/>
                </a:solidFill>
              </a:rPr>
              <a:t>Agent step</a:t>
            </a:r>
            <a:endParaRPr lang="en-US" sz="1300" dirty="0"/>
          </a:p>
        </p:txBody>
      </p:sp>
      <p:sp>
        <p:nvSpPr>
          <p:cNvPr id="11" name="arrow-8"/>
          <p:cNvSpPr/>
          <p:nvPr/>
        </p:nvSpPr>
        <p:spPr>
          <a:xfrm>
            <a:off x="8001000" y="3291840"/>
            <a:ext cx="594360" cy="914"/>
          </a:xfrm>
          <a:prstGeom prst="line">
            <a:avLst/>
          </a:prstGeom>
          <a:noFill/>
          <a:ln w="25400">
            <a:solidFill>
              <a:schemeClr val="accent1"/>
            </a:solidFill>
            <a:prstDash val="solid"/>
            <a:tailEnd type="triangle"/>
          </a:ln>
        </p:spPr>
      </p:sp>
      <p:sp>
        <p:nvSpPr>
          <p:cNvPr id="12" name="router-glow-9"/>
          <p:cNvSpPr/>
          <p:nvPr/>
        </p:nvSpPr>
        <p:spPr>
          <a:xfrm>
            <a:off x="8686800" y="2514600"/>
            <a:ext cx="1554480" cy="1554480"/>
          </a:xfrm>
          <a:prstGeom prst="ellipse">
            <a:avLst/>
          </a:prstGeom>
          <a:solidFill>
            <a:schemeClr val="accent1">
              <a:alpha val="30000"/>
            </a:schemeClr>
          </a:solidFill>
          <a:ln w="31750">
            <a:solidFill>
              <a:schemeClr val="accent1"/>
            </a:solidFill>
            <a:prstDash val="solid"/>
          </a:ln>
        </p:spPr>
      </p:sp>
      <p:pic>
        <p:nvPicPr>
          <p:cNvPr id="13" name="router-icon-10" descr="preencoded.png">    </p:cNvPr>
          <p:cNvPicPr>
            <a:picLocks noChangeAspect="1"/>
          </p:cNvPicPr>
          <p:nvPr/>
        </p:nvPicPr>
        <p:blipFill>
          <a:blip r:embed="rId3"/>
          <a:stretch>
            <a:fillRect/>
          </a:stretch>
        </p:blipFill>
        <p:spPr>
          <a:xfrm>
            <a:off x="9098280" y="2926080"/>
            <a:ext cx="731520" cy="731520"/>
          </a:xfrm>
          <a:prstGeom prst="rect">
            <a:avLst/>
          </a:prstGeom>
        </p:spPr>
      </p:pic>
      <p:sp>
        <p:nvSpPr>
          <p:cNvPr id="14" name="text-11"/>
          <p:cNvSpPr txBox="1"/>
          <p:nvPr/>
        </p:nvSpPr>
        <p:spPr>
          <a:xfrm>
            <a:off x="8412480" y="4160520"/>
            <a:ext cx="2103120" cy="320040"/>
          </a:xfrm>
          <a:prstGeom prst="rect">
            <a:avLst/>
          </a:prstGeom>
          <a:noFill/>
          <a:ln/>
        </p:spPr>
        <p:txBody>
          <a:bodyPr wrap="square" lIns="0" tIns="0" rIns="0" bIns="0" rtlCol="0" anchor="t"/>
          <a:lstStyle/>
          <a:p>
            <a:pPr algn="ctr" indent="0" marL="0">
              <a:buNone/>
            </a:pPr>
            <a:r>
              <a:rPr lang="en-US" sz="1500" b="1" dirty="0">
                <a:solidFill>
                  <a:schemeClr val="bg1"/>
                </a:solidFill>
              </a:rPr>
              <a:t>CostRouter</a:t>
            </a:r>
            <a:endParaRPr lang="en-US" sz="1500" dirty="0"/>
          </a:p>
        </p:txBody>
      </p:sp>
      <p:sp>
        <p:nvSpPr>
          <p:cNvPr id="15" name="arrow-12"/>
          <p:cNvSpPr/>
          <p:nvPr/>
        </p:nvSpPr>
        <p:spPr>
          <a:xfrm flipV="1">
            <a:off x="10287000" y="2148840"/>
            <a:ext cx="594360" cy="822960"/>
          </a:xfrm>
          <a:prstGeom prst="line">
            <a:avLst/>
          </a:prstGeom>
          <a:noFill/>
          <a:ln w="25400">
            <a:solidFill>
              <a:schemeClr val="accent2"/>
            </a:solidFill>
            <a:prstDash val="solid"/>
            <a:tailEnd type="triangle"/>
          </a:ln>
        </p:spPr>
      </p:sp>
      <p:sp>
        <p:nvSpPr>
          <p:cNvPr id="16" name="arrow-13"/>
          <p:cNvSpPr/>
          <p:nvPr/>
        </p:nvSpPr>
        <p:spPr>
          <a:xfrm>
            <a:off x="10287000" y="3611880"/>
            <a:ext cx="594360" cy="822960"/>
          </a:xfrm>
          <a:prstGeom prst="line">
            <a:avLst/>
          </a:prstGeom>
          <a:noFill/>
          <a:ln w="25400">
            <a:solidFill>
              <a:schemeClr val="accent3"/>
            </a:solidFill>
            <a:prstDash val="solid"/>
            <a:tailEnd type="triangle"/>
          </a:ln>
        </p:spPr>
      </p:sp>
      <p:sp>
        <p:nvSpPr>
          <p:cNvPr id="17" name="icon-bg-14"/>
          <p:cNvSpPr/>
          <p:nvPr/>
        </p:nvSpPr>
        <p:spPr>
          <a:xfrm>
            <a:off x="10881360" y="1417320"/>
            <a:ext cx="914400" cy="914400"/>
          </a:xfrm>
          <a:prstGeom prst="ellipse">
            <a:avLst/>
          </a:prstGeom>
          <a:solidFill>
            <a:schemeClr val="accent2">
              <a:alpha val="22000"/>
            </a:schemeClr>
          </a:solidFill>
          <a:ln/>
        </p:spPr>
      </p:sp>
      <p:pic>
        <p:nvPicPr>
          <p:cNvPr id="18" name="icon-15" descr="preencoded.png">    </p:cNvPr>
          <p:cNvPicPr>
            <a:picLocks noChangeAspect="1"/>
          </p:cNvPicPr>
          <p:nvPr/>
        </p:nvPicPr>
        <p:blipFill>
          <a:blip r:embed="rId4"/>
          <a:stretch>
            <a:fillRect/>
          </a:stretch>
        </p:blipFill>
        <p:spPr>
          <a:xfrm>
            <a:off x="11109960" y="1645920"/>
            <a:ext cx="457200" cy="457200"/>
          </a:xfrm>
          <a:prstGeom prst="rect">
            <a:avLst/>
          </a:prstGeom>
        </p:spPr>
      </p:pic>
      <p:sp>
        <p:nvSpPr>
          <p:cNvPr id="19" name="text-16"/>
          <p:cNvSpPr txBox="1"/>
          <p:nvPr/>
        </p:nvSpPr>
        <p:spPr>
          <a:xfrm>
            <a:off x="10424160" y="2377440"/>
            <a:ext cx="1828800" cy="274320"/>
          </a:xfrm>
          <a:prstGeom prst="rect">
            <a:avLst/>
          </a:prstGeom>
          <a:noFill/>
          <a:ln/>
        </p:spPr>
        <p:txBody>
          <a:bodyPr wrap="square" lIns="0" tIns="0" rIns="0" bIns="0" rtlCol="0" anchor="t"/>
          <a:lstStyle/>
          <a:p>
            <a:pPr algn="ctr" indent="0" marL="0">
              <a:buNone/>
            </a:pPr>
            <a:r>
              <a:rPr lang="en-US" sz="1300" b="1" dirty="0">
                <a:solidFill>
                  <a:schemeClr val="accent2"/>
                </a:solidFill>
              </a:rPr>
              <a:t>Cheap model</a:t>
            </a:r>
            <a:endParaRPr lang="en-US" sz="1300" dirty="0"/>
          </a:p>
        </p:txBody>
      </p:sp>
      <p:sp>
        <p:nvSpPr>
          <p:cNvPr id="20" name="icon-bg-17"/>
          <p:cNvSpPr/>
          <p:nvPr/>
        </p:nvSpPr>
        <p:spPr>
          <a:xfrm>
            <a:off x="10881360" y="4160520"/>
            <a:ext cx="914400" cy="914400"/>
          </a:xfrm>
          <a:prstGeom prst="ellipse">
            <a:avLst/>
          </a:prstGeom>
          <a:solidFill>
            <a:schemeClr val="accent3">
              <a:alpha val="22000"/>
            </a:schemeClr>
          </a:solidFill>
          <a:ln/>
        </p:spPr>
      </p:sp>
      <p:pic>
        <p:nvPicPr>
          <p:cNvPr id="21" name="icon-18" descr="preencoded.png">    </p:cNvPr>
          <p:cNvPicPr>
            <a:picLocks noChangeAspect="1"/>
          </p:cNvPicPr>
          <p:nvPr/>
        </p:nvPicPr>
        <p:blipFill>
          <a:blip r:embed="rId5"/>
          <a:stretch>
            <a:fillRect/>
          </a:stretch>
        </p:blipFill>
        <p:spPr>
          <a:xfrm>
            <a:off x="11109960" y="4389120"/>
            <a:ext cx="457200" cy="457200"/>
          </a:xfrm>
          <a:prstGeom prst="rect">
            <a:avLst/>
          </a:prstGeom>
        </p:spPr>
      </p:pic>
      <p:sp>
        <p:nvSpPr>
          <p:cNvPr id="22" name="text-19"/>
          <p:cNvSpPr txBox="1"/>
          <p:nvPr/>
        </p:nvSpPr>
        <p:spPr>
          <a:xfrm>
            <a:off x="10424160" y="5120640"/>
            <a:ext cx="1828800" cy="274320"/>
          </a:xfrm>
          <a:prstGeom prst="rect">
            <a:avLst/>
          </a:prstGeom>
          <a:noFill/>
          <a:ln/>
        </p:spPr>
        <p:txBody>
          <a:bodyPr wrap="square" lIns="0" tIns="0" rIns="0" bIns="0" rtlCol="0" anchor="t"/>
          <a:lstStyle/>
          <a:p>
            <a:pPr algn="ctr" indent="0" marL="0">
              <a:buNone/>
            </a:pPr>
            <a:r>
              <a:rPr lang="en-US" sz="1300" b="1" dirty="0">
                <a:solidFill>
                  <a:schemeClr val="accent3"/>
                </a:solidFill>
              </a:rPr>
              <a:t>Expensive model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bg1"/>
                </a:solidFill>
              </a:rPr>
              <a:t>Agents pay premium prices for every step — even easy ones</a:t>
            </a:r>
            <a:endParaRPr lang="en-US" sz="2800" dirty="0"/>
          </a:p>
        </p:txBody>
      </p:sp>
      <p:sp>
        <p:nvSpPr>
          <p:cNvPr id="3" name="step-20"/>
          <p:cNvSpPr/>
          <p:nvPr/>
        </p:nvSpPr>
        <p:spPr>
          <a:xfrm>
            <a:off x="548640" y="1417320"/>
            <a:ext cx="3383280" cy="566928"/>
          </a:xfrm>
          <a:prstGeom prst="roundRect">
            <a:avLst>
              <a:gd name="adj" fmla="val 19355"/>
            </a:avLst>
          </a:prstGeom>
          <a:solidFill>
            <a:schemeClr val="tx2"/>
          </a:solidFill>
          <a:ln/>
        </p:spPr>
      </p:sp>
      <p:sp>
        <p:nvSpPr>
          <p:cNvPr id="4" name="dot-21"/>
          <p:cNvSpPr/>
          <p:nvPr/>
        </p:nvSpPr>
        <p:spPr>
          <a:xfrm>
            <a:off x="731520" y="1609344"/>
            <a:ext cx="182880" cy="182880"/>
          </a:xfrm>
          <a:prstGeom prst="ellipse">
            <a:avLst/>
          </a:prstGeom>
          <a:solidFill>
            <a:schemeClr val="accent2"/>
          </a:solidFill>
          <a:ln/>
        </p:spPr>
      </p:sp>
      <p:sp>
        <p:nvSpPr>
          <p:cNvPr id="5" name="text-22"/>
          <p:cNvSpPr txBox="1"/>
          <p:nvPr/>
        </p:nvSpPr>
        <p:spPr>
          <a:xfrm>
            <a:off x="1051560" y="1417320"/>
            <a:ext cx="2743200" cy="566928"/>
          </a:xfrm>
          <a:prstGeom prst="rect">
            <a:avLst/>
          </a:prstGeom>
          <a:noFill/>
          <a:ln/>
        </p:spPr>
        <p:txBody>
          <a:bodyPr wrap="square" lIns="0" tIns="0" rIns="0" bIns="0" rtlCol="0" anchor="ctr"/>
          <a:lstStyle/>
          <a:p>
            <a:pPr indent="0" marL="0">
              <a:buNone/>
            </a:pPr>
            <a:r>
              <a:rPr lang="en-US" sz="1500" dirty="0">
                <a:solidFill>
                  <a:schemeClr val="bg1"/>
                </a:solidFill>
              </a:rPr>
              <a:t>Look up a capital city</a:t>
            </a:r>
            <a:endParaRPr lang="en-US" sz="1500" dirty="0"/>
          </a:p>
        </p:txBody>
      </p:sp>
      <p:sp>
        <p:nvSpPr>
          <p:cNvPr id="6" name="arrow-23"/>
          <p:cNvSpPr/>
          <p:nvPr/>
        </p:nvSpPr>
        <p:spPr>
          <a:xfrm>
            <a:off x="3977640" y="1700784"/>
            <a:ext cx="1005840" cy="1874520"/>
          </a:xfrm>
          <a:prstGeom prst="line">
            <a:avLst/>
          </a:prstGeom>
          <a:noFill/>
          <a:ln w="19050">
            <a:solidFill>
              <a:schemeClr val="accent3"/>
            </a:solidFill>
            <a:prstDash val="solid"/>
            <a:tailEnd type="triangle"/>
          </a:ln>
        </p:spPr>
      </p:sp>
      <p:sp>
        <p:nvSpPr>
          <p:cNvPr id="7" name="step-24"/>
          <p:cNvSpPr/>
          <p:nvPr/>
        </p:nvSpPr>
        <p:spPr>
          <a:xfrm>
            <a:off x="548640" y="2167128"/>
            <a:ext cx="3383280" cy="566928"/>
          </a:xfrm>
          <a:prstGeom prst="roundRect">
            <a:avLst>
              <a:gd name="adj" fmla="val 19355"/>
            </a:avLst>
          </a:prstGeom>
          <a:solidFill>
            <a:schemeClr val="tx2"/>
          </a:solidFill>
          <a:ln/>
        </p:spPr>
      </p:sp>
      <p:sp>
        <p:nvSpPr>
          <p:cNvPr id="8" name="dot-25"/>
          <p:cNvSpPr/>
          <p:nvPr/>
        </p:nvSpPr>
        <p:spPr>
          <a:xfrm>
            <a:off x="731520" y="2359152"/>
            <a:ext cx="182880" cy="182880"/>
          </a:xfrm>
          <a:prstGeom prst="ellipse">
            <a:avLst/>
          </a:prstGeom>
          <a:solidFill>
            <a:schemeClr val="accent2"/>
          </a:solidFill>
          <a:ln/>
        </p:spPr>
      </p:sp>
      <p:sp>
        <p:nvSpPr>
          <p:cNvPr id="9" name="text-26"/>
          <p:cNvSpPr txBox="1"/>
          <p:nvPr/>
        </p:nvSpPr>
        <p:spPr>
          <a:xfrm>
            <a:off x="1051560" y="2167128"/>
            <a:ext cx="2743200" cy="566928"/>
          </a:xfrm>
          <a:prstGeom prst="rect">
            <a:avLst/>
          </a:prstGeom>
          <a:noFill/>
          <a:ln/>
        </p:spPr>
        <p:txBody>
          <a:bodyPr wrap="square" lIns="0" tIns="0" rIns="0" bIns="0" rtlCol="0" anchor="ctr"/>
          <a:lstStyle/>
          <a:p>
            <a:pPr indent="0" marL="0">
              <a:buNone/>
            </a:pPr>
            <a:r>
              <a:rPr lang="en-US" sz="1500" dirty="0">
                <a:solidFill>
                  <a:schemeClr val="bg1"/>
                </a:solidFill>
              </a:rPr>
              <a:t>Format a date</a:t>
            </a:r>
            <a:endParaRPr lang="en-US" sz="1500" dirty="0"/>
          </a:p>
        </p:txBody>
      </p:sp>
      <p:sp>
        <p:nvSpPr>
          <p:cNvPr id="10" name="arrow-27"/>
          <p:cNvSpPr/>
          <p:nvPr/>
        </p:nvSpPr>
        <p:spPr>
          <a:xfrm>
            <a:off x="3977640" y="2450592"/>
            <a:ext cx="1005840" cy="1124712"/>
          </a:xfrm>
          <a:prstGeom prst="line">
            <a:avLst/>
          </a:prstGeom>
          <a:noFill/>
          <a:ln w="19050">
            <a:solidFill>
              <a:schemeClr val="accent3"/>
            </a:solidFill>
            <a:prstDash val="solid"/>
            <a:tailEnd type="triangle"/>
          </a:ln>
        </p:spPr>
      </p:sp>
      <p:sp>
        <p:nvSpPr>
          <p:cNvPr id="11" name="step-28"/>
          <p:cNvSpPr/>
          <p:nvPr/>
        </p:nvSpPr>
        <p:spPr>
          <a:xfrm>
            <a:off x="548640" y="2916936"/>
            <a:ext cx="3383280" cy="566928"/>
          </a:xfrm>
          <a:prstGeom prst="roundRect">
            <a:avLst>
              <a:gd name="adj" fmla="val 19355"/>
            </a:avLst>
          </a:prstGeom>
          <a:solidFill>
            <a:schemeClr val="tx2"/>
          </a:solidFill>
          <a:ln/>
        </p:spPr>
      </p:sp>
      <p:sp>
        <p:nvSpPr>
          <p:cNvPr id="12" name="dot-29"/>
          <p:cNvSpPr/>
          <p:nvPr/>
        </p:nvSpPr>
        <p:spPr>
          <a:xfrm>
            <a:off x="731520" y="3108960"/>
            <a:ext cx="182880" cy="182880"/>
          </a:xfrm>
          <a:prstGeom prst="ellipse">
            <a:avLst/>
          </a:prstGeom>
          <a:solidFill>
            <a:schemeClr val="accent5"/>
          </a:solidFill>
          <a:ln/>
        </p:spPr>
      </p:sp>
      <p:sp>
        <p:nvSpPr>
          <p:cNvPr id="13" name="text-30"/>
          <p:cNvSpPr txBox="1"/>
          <p:nvPr/>
        </p:nvSpPr>
        <p:spPr>
          <a:xfrm>
            <a:off x="1051560" y="2916936"/>
            <a:ext cx="2743200" cy="566928"/>
          </a:xfrm>
          <a:prstGeom prst="rect">
            <a:avLst/>
          </a:prstGeom>
          <a:noFill/>
          <a:ln/>
        </p:spPr>
        <p:txBody>
          <a:bodyPr wrap="square" lIns="0" tIns="0" rIns="0" bIns="0" rtlCol="0" anchor="ctr"/>
          <a:lstStyle/>
          <a:p>
            <a:pPr indent="0" marL="0">
              <a:buNone/>
            </a:pPr>
            <a:r>
              <a:rPr lang="en-US" sz="1500" dirty="0">
                <a:solidFill>
                  <a:schemeClr val="bg1"/>
                </a:solidFill>
              </a:rPr>
              <a:t>Summarize an email</a:t>
            </a:r>
            <a:endParaRPr lang="en-US" sz="1500" dirty="0"/>
          </a:p>
        </p:txBody>
      </p:sp>
      <p:sp>
        <p:nvSpPr>
          <p:cNvPr id="14" name="arrow-31"/>
          <p:cNvSpPr/>
          <p:nvPr/>
        </p:nvSpPr>
        <p:spPr>
          <a:xfrm>
            <a:off x="3977640" y="3200400"/>
            <a:ext cx="1005840" cy="374904"/>
          </a:xfrm>
          <a:prstGeom prst="line">
            <a:avLst/>
          </a:prstGeom>
          <a:noFill/>
          <a:ln w="19050">
            <a:solidFill>
              <a:schemeClr val="accent3"/>
            </a:solidFill>
            <a:prstDash val="solid"/>
            <a:tailEnd type="triangle"/>
          </a:ln>
        </p:spPr>
      </p:sp>
      <p:sp>
        <p:nvSpPr>
          <p:cNvPr id="15" name="step-32"/>
          <p:cNvSpPr/>
          <p:nvPr/>
        </p:nvSpPr>
        <p:spPr>
          <a:xfrm>
            <a:off x="548640" y="3666744"/>
            <a:ext cx="3383280" cy="566928"/>
          </a:xfrm>
          <a:prstGeom prst="roundRect">
            <a:avLst>
              <a:gd name="adj" fmla="val 19355"/>
            </a:avLst>
          </a:prstGeom>
          <a:solidFill>
            <a:schemeClr val="tx2"/>
          </a:solidFill>
          <a:ln/>
        </p:spPr>
      </p:sp>
      <p:sp>
        <p:nvSpPr>
          <p:cNvPr id="16" name="dot-33"/>
          <p:cNvSpPr/>
          <p:nvPr/>
        </p:nvSpPr>
        <p:spPr>
          <a:xfrm>
            <a:off x="731520" y="3858768"/>
            <a:ext cx="182880" cy="182880"/>
          </a:xfrm>
          <a:prstGeom prst="ellipse">
            <a:avLst/>
          </a:prstGeom>
          <a:solidFill>
            <a:schemeClr val="accent3"/>
          </a:solidFill>
          <a:ln/>
        </p:spPr>
      </p:sp>
      <p:sp>
        <p:nvSpPr>
          <p:cNvPr id="17" name="text-34"/>
          <p:cNvSpPr txBox="1"/>
          <p:nvPr/>
        </p:nvSpPr>
        <p:spPr>
          <a:xfrm>
            <a:off x="1051560" y="3666744"/>
            <a:ext cx="2743200" cy="566928"/>
          </a:xfrm>
          <a:prstGeom prst="rect">
            <a:avLst/>
          </a:prstGeom>
          <a:noFill/>
          <a:ln/>
        </p:spPr>
        <p:txBody>
          <a:bodyPr wrap="square" lIns="0" tIns="0" rIns="0" bIns="0" rtlCol="0" anchor="ctr"/>
          <a:lstStyle/>
          <a:p>
            <a:pPr indent="0" marL="0">
              <a:buNone/>
            </a:pPr>
            <a:r>
              <a:rPr lang="en-US" sz="1500" dirty="0">
                <a:solidFill>
                  <a:schemeClr val="bg1"/>
                </a:solidFill>
              </a:rPr>
              <a:t>Compare two job offers</a:t>
            </a:r>
            <a:endParaRPr lang="en-US" sz="1500" dirty="0"/>
          </a:p>
        </p:txBody>
      </p:sp>
      <p:sp>
        <p:nvSpPr>
          <p:cNvPr id="18" name="arrow-35"/>
          <p:cNvSpPr/>
          <p:nvPr/>
        </p:nvSpPr>
        <p:spPr>
          <a:xfrm flipV="1">
            <a:off x="3977640" y="3575304"/>
            <a:ext cx="1005840" cy="374904"/>
          </a:xfrm>
          <a:prstGeom prst="line">
            <a:avLst/>
          </a:prstGeom>
          <a:noFill/>
          <a:ln w="19050">
            <a:solidFill>
              <a:schemeClr val="accent3"/>
            </a:solidFill>
            <a:prstDash val="solid"/>
            <a:tailEnd type="triangle"/>
          </a:ln>
        </p:spPr>
      </p:sp>
      <p:sp>
        <p:nvSpPr>
          <p:cNvPr id="19" name="step-36"/>
          <p:cNvSpPr/>
          <p:nvPr/>
        </p:nvSpPr>
        <p:spPr>
          <a:xfrm>
            <a:off x="548640" y="4416552"/>
            <a:ext cx="3383280" cy="566928"/>
          </a:xfrm>
          <a:prstGeom prst="roundRect">
            <a:avLst>
              <a:gd name="adj" fmla="val 19355"/>
            </a:avLst>
          </a:prstGeom>
          <a:solidFill>
            <a:schemeClr val="tx2"/>
          </a:solidFill>
          <a:ln/>
        </p:spPr>
      </p:sp>
      <p:sp>
        <p:nvSpPr>
          <p:cNvPr id="20" name="dot-37"/>
          <p:cNvSpPr/>
          <p:nvPr/>
        </p:nvSpPr>
        <p:spPr>
          <a:xfrm>
            <a:off x="731520" y="4608576"/>
            <a:ext cx="182880" cy="182880"/>
          </a:xfrm>
          <a:prstGeom prst="ellipse">
            <a:avLst/>
          </a:prstGeom>
          <a:solidFill>
            <a:schemeClr val="accent2"/>
          </a:solidFill>
          <a:ln/>
        </p:spPr>
      </p:sp>
      <p:sp>
        <p:nvSpPr>
          <p:cNvPr id="21" name="text-38"/>
          <p:cNvSpPr txBox="1"/>
          <p:nvPr/>
        </p:nvSpPr>
        <p:spPr>
          <a:xfrm>
            <a:off x="1051560" y="4416552"/>
            <a:ext cx="2743200" cy="566928"/>
          </a:xfrm>
          <a:prstGeom prst="rect">
            <a:avLst/>
          </a:prstGeom>
          <a:noFill/>
          <a:ln/>
        </p:spPr>
        <p:txBody>
          <a:bodyPr wrap="square" lIns="0" tIns="0" rIns="0" bIns="0" rtlCol="0" anchor="ctr"/>
          <a:lstStyle/>
          <a:p>
            <a:pPr indent="0" marL="0">
              <a:buNone/>
            </a:pPr>
            <a:r>
              <a:rPr lang="en-US" sz="1500" dirty="0">
                <a:solidFill>
                  <a:schemeClr val="bg1"/>
                </a:solidFill>
              </a:rPr>
              <a:t>Answer a quick fact</a:t>
            </a:r>
            <a:endParaRPr lang="en-US" sz="1500" dirty="0"/>
          </a:p>
        </p:txBody>
      </p:sp>
      <p:sp>
        <p:nvSpPr>
          <p:cNvPr id="22" name="arrow-39"/>
          <p:cNvSpPr/>
          <p:nvPr/>
        </p:nvSpPr>
        <p:spPr>
          <a:xfrm flipV="1">
            <a:off x="3977640" y="3575304"/>
            <a:ext cx="1005840" cy="1124712"/>
          </a:xfrm>
          <a:prstGeom prst="line">
            <a:avLst/>
          </a:prstGeom>
          <a:noFill/>
          <a:ln w="19050">
            <a:solidFill>
              <a:schemeClr val="accent3"/>
            </a:solidFill>
            <a:prstDash val="solid"/>
            <a:tailEnd type="triangle"/>
          </a:ln>
        </p:spPr>
      </p:sp>
      <p:sp>
        <p:nvSpPr>
          <p:cNvPr id="23" name="step-40"/>
          <p:cNvSpPr/>
          <p:nvPr/>
        </p:nvSpPr>
        <p:spPr>
          <a:xfrm>
            <a:off x="548640" y="5166360"/>
            <a:ext cx="3383280" cy="566928"/>
          </a:xfrm>
          <a:prstGeom prst="roundRect">
            <a:avLst>
              <a:gd name="adj" fmla="val 19355"/>
            </a:avLst>
          </a:prstGeom>
          <a:solidFill>
            <a:schemeClr val="tx2"/>
          </a:solidFill>
          <a:ln/>
        </p:spPr>
      </p:sp>
      <p:sp>
        <p:nvSpPr>
          <p:cNvPr id="24" name="dot-41"/>
          <p:cNvSpPr/>
          <p:nvPr/>
        </p:nvSpPr>
        <p:spPr>
          <a:xfrm>
            <a:off x="731520" y="5358384"/>
            <a:ext cx="182880" cy="182880"/>
          </a:xfrm>
          <a:prstGeom prst="ellipse">
            <a:avLst/>
          </a:prstGeom>
          <a:solidFill>
            <a:schemeClr val="accent3"/>
          </a:solidFill>
          <a:ln/>
        </p:spPr>
      </p:sp>
      <p:sp>
        <p:nvSpPr>
          <p:cNvPr id="25" name="text-42"/>
          <p:cNvSpPr txBox="1"/>
          <p:nvPr/>
        </p:nvSpPr>
        <p:spPr>
          <a:xfrm>
            <a:off x="1051560" y="5166360"/>
            <a:ext cx="2743200" cy="566928"/>
          </a:xfrm>
          <a:prstGeom prst="rect">
            <a:avLst/>
          </a:prstGeom>
          <a:noFill/>
          <a:ln/>
        </p:spPr>
        <p:txBody>
          <a:bodyPr wrap="square" lIns="0" tIns="0" rIns="0" bIns="0" rtlCol="0" anchor="ctr"/>
          <a:lstStyle/>
          <a:p>
            <a:pPr indent="0" marL="0">
              <a:buNone/>
            </a:pPr>
            <a:r>
              <a:rPr lang="en-US" sz="1500" dirty="0">
                <a:solidFill>
                  <a:schemeClr val="bg1"/>
                </a:solidFill>
              </a:rPr>
              <a:t>Prove a math result</a:t>
            </a:r>
            <a:endParaRPr lang="en-US" sz="1500" dirty="0"/>
          </a:p>
        </p:txBody>
      </p:sp>
      <p:sp>
        <p:nvSpPr>
          <p:cNvPr id="26" name="arrow-43"/>
          <p:cNvSpPr/>
          <p:nvPr/>
        </p:nvSpPr>
        <p:spPr>
          <a:xfrm flipV="1">
            <a:off x="3977640" y="3575304"/>
            <a:ext cx="1005840" cy="1874520"/>
          </a:xfrm>
          <a:prstGeom prst="line">
            <a:avLst/>
          </a:prstGeom>
          <a:noFill/>
          <a:ln w="19050">
            <a:solidFill>
              <a:schemeClr val="accent3"/>
            </a:solidFill>
            <a:prstDash val="solid"/>
            <a:tailEnd type="triangle"/>
          </a:ln>
        </p:spPr>
      </p:sp>
      <p:sp>
        <p:nvSpPr>
          <p:cNvPr id="27" name="big-model-44"/>
          <p:cNvSpPr/>
          <p:nvPr/>
        </p:nvSpPr>
        <p:spPr>
          <a:xfrm>
            <a:off x="5029200" y="2660904"/>
            <a:ext cx="2103120" cy="1828800"/>
          </a:xfrm>
          <a:prstGeom prst="roundRect">
            <a:avLst>
              <a:gd name="adj" fmla="val 6000"/>
            </a:avLst>
          </a:prstGeom>
          <a:solidFill>
            <a:schemeClr val="accent3">
              <a:alpha val="18000"/>
            </a:schemeClr>
          </a:solidFill>
          <a:ln w="19050">
            <a:solidFill>
              <a:schemeClr val="accent3"/>
            </a:solidFill>
            <a:prstDash val="solid"/>
          </a:ln>
        </p:spPr>
      </p:sp>
      <p:pic>
        <p:nvPicPr>
          <p:cNvPr id="28" name="gem-45" descr="preencoded.png">    </p:cNvPr>
          <p:cNvPicPr>
            <a:picLocks noChangeAspect="1"/>
          </p:cNvPicPr>
          <p:nvPr/>
        </p:nvPicPr>
        <p:blipFill>
          <a:blip r:embed="rId1"/>
          <a:stretch>
            <a:fillRect/>
          </a:stretch>
        </p:blipFill>
        <p:spPr>
          <a:xfrm>
            <a:off x="5806440" y="2843784"/>
            <a:ext cx="548640" cy="548640"/>
          </a:xfrm>
          <a:prstGeom prst="rect">
            <a:avLst/>
          </a:prstGeom>
        </p:spPr>
      </p:pic>
      <p:sp>
        <p:nvSpPr>
          <p:cNvPr id="29" name="text-46"/>
          <p:cNvSpPr txBox="1"/>
          <p:nvPr/>
        </p:nvSpPr>
        <p:spPr>
          <a:xfrm>
            <a:off x="5120640" y="3483864"/>
            <a:ext cx="1920240" cy="822960"/>
          </a:xfrm>
          <a:prstGeom prst="rect">
            <a:avLst/>
          </a:prstGeom>
          <a:noFill/>
          <a:ln/>
        </p:spPr>
        <p:txBody>
          <a:bodyPr wrap="square" lIns="0" tIns="0" rIns="0" bIns="0" rtlCol="0" anchor="ctr"/>
          <a:lstStyle/>
          <a:p>
            <a:pPr algn="ctr" indent="0" marL="0">
              <a:buNone/>
            </a:pPr>
            <a:r>
              <a:rPr lang="en-US" sz="1500" b="1" dirty="0">
                <a:solidFill>
                  <a:schemeClr val="bg1"/>
                </a:solidFill>
              </a:rPr>
              <a:t>One big model for everything</a:t>
            </a:r>
            <a:endParaRPr lang="en-US" sz="1500" dirty="0"/>
          </a:p>
        </p:txBody>
      </p:sp>
      <p:sp>
        <p:nvSpPr>
          <p:cNvPr id="30" name="text-47"/>
          <p:cNvSpPr txBox="1"/>
          <p:nvPr/>
        </p:nvSpPr>
        <p:spPr>
          <a:xfrm>
            <a:off x="548640" y="5989320"/>
            <a:ext cx="3383280" cy="274320"/>
          </a:xfrm>
          <a:prstGeom prst="rect">
            <a:avLst/>
          </a:prstGeom>
          <a:noFill/>
          <a:ln/>
        </p:spPr>
        <p:txBody>
          <a:bodyPr wrap="square" lIns="0" tIns="0" rIns="0" bIns="0" rtlCol="0" anchor="t"/>
          <a:lstStyle/>
          <a:p>
            <a:pPr indent="0" marL="0">
              <a:buNone/>
            </a:pPr>
            <a:r>
              <a:rPr lang="en-US" sz="1200" dirty="0">
                <a:solidFill>
                  <a:schemeClr val="accent2"/>
                </a:solidFill>
              </a:rPr>
              <a:t>● </a:t>
            </a:r>
            <a:pPr indent="0" marL="0">
              <a:buNone/>
            </a:pPr>
            <a:r>
              <a:rPr lang="en-US" sz="1200" dirty="0">
                <a:solidFill>
                  <a:schemeClr val="bg2"/>
                </a:solidFill>
              </a:rPr>
              <a:t>easy    </a:t>
            </a:r>
            <a:pPr indent="0" marL="0">
              <a:buNone/>
            </a:pPr>
            <a:r>
              <a:rPr lang="en-US" sz="1200" dirty="0">
                <a:solidFill>
                  <a:schemeClr val="accent5"/>
                </a:solidFill>
              </a:rPr>
              <a:t>● </a:t>
            </a:r>
            <a:pPr indent="0" marL="0">
              <a:buNone/>
            </a:pPr>
            <a:r>
              <a:rPr lang="en-US" sz="1200" dirty="0">
                <a:solidFill>
                  <a:schemeClr val="bg2"/>
                </a:solidFill>
              </a:rPr>
              <a:t>medium    </a:t>
            </a:r>
            <a:pPr indent="0" marL="0">
              <a:buNone/>
            </a:pPr>
            <a:r>
              <a:rPr lang="en-US" sz="1200" dirty="0">
                <a:solidFill>
                  <a:schemeClr val="accent3"/>
                </a:solidFill>
              </a:rPr>
              <a:t>● </a:t>
            </a:r>
            <a:pPr indent="0" marL="0">
              <a:buNone/>
            </a:pPr>
            <a:r>
              <a:rPr lang="en-US" sz="1200" dirty="0">
                <a:solidFill>
                  <a:schemeClr val="bg2"/>
                </a:solidFill>
              </a:rPr>
              <a:t>hard</a:t>
            </a:r>
            <a:endParaRPr lang="en-US" sz="1200" dirty="0"/>
          </a:p>
        </p:txBody>
      </p:sp>
      <p:sp>
        <p:nvSpPr>
          <p:cNvPr id="31" name="stat-48"/>
          <p:cNvSpPr/>
          <p:nvPr/>
        </p:nvSpPr>
        <p:spPr>
          <a:xfrm>
            <a:off x="7589520" y="1417320"/>
            <a:ext cx="4023360" cy="1417320"/>
          </a:xfrm>
          <a:prstGeom prst="roundRect">
            <a:avLst>
              <a:gd name="adj" fmla="val 7742"/>
            </a:avLst>
          </a:prstGeom>
          <a:solidFill>
            <a:schemeClr val="tx2"/>
          </a:solidFill>
          <a:ln/>
        </p:spPr>
      </p:sp>
      <p:sp>
        <p:nvSpPr>
          <p:cNvPr id="32" name="text-49"/>
          <p:cNvSpPr txBox="1"/>
          <p:nvPr/>
        </p:nvSpPr>
        <p:spPr>
          <a:xfrm>
            <a:off x="7863840" y="1554480"/>
            <a:ext cx="1463040" cy="1143000"/>
          </a:xfrm>
          <a:prstGeom prst="rect">
            <a:avLst/>
          </a:prstGeom>
          <a:noFill/>
          <a:ln/>
        </p:spPr>
        <p:txBody>
          <a:bodyPr wrap="square" lIns="0" tIns="0" rIns="0" bIns="0" rtlCol="0" anchor="ctr"/>
          <a:lstStyle/>
          <a:p>
            <a:pPr indent="0" marL="0">
              <a:buNone/>
            </a:pPr>
            <a:r>
              <a:rPr lang="en-US" sz="5400" b="1" dirty="0">
                <a:solidFill>
                  <a:schemeClr val="accent3"/>
                </a:solidFill>
                <a:latin typeface="+mj-lt" pitchFamily="34" charset="0"/>
                <a:ea typeface="+mj-lt" pitchFamily="34" charset="-122"/>
                <a:cs typeface="+mj-lt" pitchFamily="34" charset="-120"/>
              </a:rPr>
              <a:t>2×</a:t>
            </a:r>
            <a:endParaRPr lang="en-US" sz="5400" dirty="0"/>
          </a:p>
        </p:txBody>
      </p:sp>
      <p:sp>
        <p:nvSpPr>
          <p:cNvPr id="33" name="text-50"/>
          <p:cNvSpPr txBox="1"/>
          <p:nvPr/>
        </p:nvSpPr>
        <p:spPr>
          <a:xfrm>
            <a:off x="9281160" y="1600200"/>
            <a:ext cx="2148840" cy="1097280"/>
          </a:xfrm>
          <a:prstGeom prst="rect">
            <a:avLst/>
          </a:prstGeom>
          <a:noFill/>
          <a:ln/>
        </p:spPr>
        <p:txBody>
          <a:bodyPr wrap="square" lIns="0" tIns="0" rIns="0" bIns="0" rtlCol="0" anchor="ctr"/>
          <a:lstStyle/>
          <a:p>
            <a:pPr indent="0" marL="0">
              <a:buNone/>
            </a:pPr>
            <a:r>
              <a:rPr lang="en-US" sz="1400" dirty="0">
                <a:solidFill>
                  <a:schemeClr val="bg2"/>
                </a:solidFill>
              </a:rPr>
              <a:t>price per token of the bigger model in our test (gpt-oss-120b vs gpt-oss-20b)</a:t>
            </a:r>
            <a:endParaRPr lang="en-US" sz="1400" dirty="0"/>
          </a:p>
        </p:txBody>
      </p:sp>
      <p:sp>
        <p:nvSpPr>
          <p:cNvPr id="34" name="stat-51"/>
          <p:cNvSpPr/>
          <p:nvPr/>
        </p:nvSpPr>
        <p:spPr>
          <a:xfrm>
            <a:off x="7589520" y="3017520"/>
            <a:ext cx="4023360" cy="1417320"/>
          </a:xfrm>
          <a:prstGeom prst="roundRect">
            <a:avLst>
              <a:gd name="adj" fmla="val 7742"/>
            </a:avLst>
          </a:prstGeom>
          <a:solidFill>
            <a:schemeClr val="tx2"/>
          </a:solidFill>
          <a:ln/>
        </p:spPr>
      </p:sp>
      <p:sp>
        <p:nvSpPr>
          <p:cNvPr id="35" name="text-52"/>
          <p:cNvSpPr txBox="1"/>
          <p:nvPr/>
        </p:nvSpPr>
        <p:spPr>
          <a:xfrm>
            <a:off x="7863840" y="3154680"/>
            <a:ext cx="1463040" cy="1143000"/>
          </a:xfrm>
          <a:prstGeom prst="rect">
            <a:avLst/>
          </a:prstGeom>
          <a:noFill/>
          <a:ln/>
        </p:spPr>
        <p:txBody>
          <a:bodyPr wrap="square" lIns="0" tIns="0" rIns="0" bIns="0" rtlCol="0" anchor="ctr"/>
          <a:lstStyle/>
          <a:p>
            <a:pPr indent="0" marL="0">
              <a:buNone/>
            </a:pPr>
            <a:r>
              <a:rPr lang="en-US" sz="5400" b="1" dirty="0">
                <a:solidFill>
                  <a:schemeClr val="accent2"/>
                </a:solidFill>
                <a:latin typeface="+mj-lt" pitchFamily="34" charset="0"/>
                <a:ea typeface="+mj-lt" pitchFamily="34" charset="-122"/>
                <a:cs typeface="+mj-lt" pitchFamily="34" charset="-120"/>
              </a:rPr>
              <a:t>84%</a:t>
            </a:r>
            <a:endParaRPr lang="en-US" sz="5400" dirty="0"/>
          </a:p>
        </p:txBody>
      </p:sp>
      <p:sp>
        <p:nvSpPr>
          <p:cNvPr id="36" name="text-53"/>
          <p:cNvSpPr txBox="1"/>
          <p:nvPr/>
        </p:nvSpPr>
        <p:spPr>
          <a:xfrm>
            <a:off x="9281160" y="3200400"/>
            <a:ext cx="2148840" cy="1097280"/>
          </a:xfrm>
          <a:prstGeom prst="rect">
            <a:avLst/>
          </a:prstGeom>
          <a:noFill/>
          <a:ln/>
        </p:spPr>
        <p:txBody>
          <a:bodyPr wrap="square" lIns="0" tIns="0" rIns="0" bIns="0" rtlCol="0" anchor="ctr"/>
          <a:lstStyle/>
          <a:p>
            <a:pPr indent="0" marL="0">
              <a:buNone/>
            </a:pPr>
            <a:r>
              <a:rPr lang="en-US" sz="1400" dirty="0">
                <a:solidFill>
                  <a:schemeClr val="bg2"/>
                </a:solidFill>
              </a:rPr>
              <a:t>of our test questions the small model already got right (big model: 89%)</a:t>
            </a:r>
            <a:endParaRPr lang="en-US" sz="1400" dirty="0"/>
          </a:p>
        </p:txBody>
      </p:sp>
      <p:sp>
        <p:nvSpPr>
          <p:cNvPr id="37" name="question-54"/>
          <p:cNvSpPr/>
          <p:nvPr/>
        </p:nvSpPr>
        <p:spPr>
          <a:xfrm>
            <a:off x="7589520" y="4617720"/>
            <a:ext cx="4023360" cy="1463040"/>
          </a:xfrm>
          <a:prstGeom prst="roundRect">
            <a:avLst>
              <a:gd name="adj" fmla="val 7500"/>
            </a:avLst>
          </a:prstGeom>
          <a:solidFill>
            <a:schemeClr val="accent4">
              <a:alpha val="18000"/>
            </a:schemeClr>
          </a:solidFill>
          <a:ln w="19050">
            <a:solidFill>
              <a:schemeClr val="accent4"/>
            </a:solidFill>
            <a:prstDash val="solid"/>
          </a:ln>
        </p:spPr>
      </p:sp>
      <p:sp>
        <p:nvSpPr>
          <p:cNvPr id="38" name="text-55"/>
          <p:cNvSpPr txBox="1"/>
          <p:nvPr/>
        </p:nvSpPr>
        <p:spPr>
          <a:xfrm>
            <a:off x="7818120" y="4709160"/>
            <a:ext cx="3611880" cy="1280160"/>
          </a:xfrm>
          <a:prstGeom prst="rect">
            <a:avLst/>
          </a:prstGeom>
          <a:noFill/>
          <a:ln/>
        </p:spPr>
        <p:txBody>
          <a:bodyPr wrap="square" lIns="0" tIns="0" rIns="0" bIns="0" rtlCol="0" anchor="ctr"/>
          <a:lstStyle/>
          <a:p>
            <a:pPr indent="0" marL="0">
              <a:buNone/>
            </a:pPr>
            <a:r>
              <a:rPr lang="en-US" sz="1600" b="1" dirty="0">
                <a:solidFill>
                  <a:schemeClr val="bg1"/>
                </a:solidFill>
              </a:rPr>
              <a:t>Can each step go to the cheapest model that can handle it — without ever overspending?</a:t>
            </a:r>
            <a:endParaRPr lang="en-US" sz="16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AB3C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bg1"/>
                </a:solidFill>
              </a:rPr>
              <a:t>One LangGraph node picks the model for every step</a:t>
            </a:r>
            <a:endParaRPr lang="en-US" sz="2800" dirty="0"/>
          </a:p>
        </p:txBody>
      </p:sp>
      <p:sp>
        <p:nvSpPr>
          <p:cNvPr id="3" name="agent-56"/>
          <p:cNvSpPr/>
          <p:nvPr/>
        </p:nvSpPr>
        <p:spPr>
          <a:xfrm>
            <a:off x="548640" y="2194560"/>
            <a:ext cx="1828800" cy="914400"/>
          </a:xfrm>
          <a:prstGeom prst="roundRect">
            <a:avLst>
              <a:gd name="adj" fmla="val 12000"/>
            </a:avLst>
          </a:prstGeom>
          <a:solidFill>
            <a:schemeClr val="tx2"/>
          </a:solidFill>
          <a:ln/>
        </p:spPr>
      </p:sp>
      <p:sp>
        <p:nvSpPr>
          <p:cNvPr id="4" name="text-57"/>
          <p:cNvSpPr txBox="1"/>
          <p:nvPr/>
        </p:nvSpPr>
        <p:spPr>
          <a:xfrm>
            <a:off x="548640" y="2194560"/>
            <a:ext cx="1828800" cy="914400"/>
          </a:xfrm>
          <a:prstGeom prst="rect">
            <a:avLst/>
          </a:prstGeom>
          <a:noFill/>
          <a:ln/>
        </p:spPr>
        <p:txBody>
          <a:bodyPr wrap="square" lIns="0" tIns="0" rIns="0" bIns="0" rtlCol="0" anchor="ctr"/>
          <a:lstStyle/>
          <a:p>
            <a:pPr algn="ctr" indent="0" marL="0">
              <a:buNone/>
            </a:pPr>
            <a:r>
              <a:rPr lang="en-US" sz="1600" b="1" dirty="0">
                <a:solidFill>
                  <a:schemeClr val="bg1"/>
                </a:solidFill>
              </a:rPr>
              <a:t>Agent step</a:t>
            </a:r>
            <a:endParaRPr lang="en-US" sz="1600" dirty="0"/>
          </a:p>
        </p:txBody>
      </p:sp>
      <p:sp>
        <p:nvSpPr>
          <p:cNvPr id="5" name="arrow-58"/>
          <p:cNvSpPr/>
          <p:nvPr/>
        </p:nvSpPr>
        <p:spPr>
          <a:xfrm>
            <a:off x="2423160" y="2651760"/>
            <a:ext cx="457200" cy="914"/>
          </a:xfrm>
          <a:prstGeom prst="line">
            <a:avLst/>
          </a:prstGeom>
          <a:noFill/>
          <a:ln w="25400">
            <a:solidFill>
              <a:schemeClr val="accent1"/>
            </a:solidFill>
            <a:prstDash val="solid"/>
            <a:tailEnd type="triangle"/>
          </a:ln>
        </p:spPr>
      </p:sp>
      <p:sp>
        <p:nvSpPr>
          <p:cNvPr id="6" name="router-59"/>
          <p:cNvSpPr/>
          <p:nvPr/>
        </p:nvSpPr>
        <p:spPr>
          <a:xfrm>
            <a:off x="2926080" y="1874520"/>
            <a:ext cx="2834640" cy="1554480"/>
          </a:xfrm>
          <a:prstGeom prst="roundRect">
            <a:avLst>
              <a:gd name="adj" fmla="val 7059"/>
            </a:avLst>
          </a:prstGeom>
          <a:solidFill>
            <a:schemeClr val="accent1">
              <a:alpha val="20000"/>
            </a:schemeClr>
          </a:solidFill>
          <a:ln w="25400">
            <a:solidFill>
              <a:schemeClr val="accent1"/>
            </a:solidFill>
            <a:prstDash val="solid"/>
          </a:ln>
        </p:spPr>
      </p:sp>
      <p:pic>
        <p:nvPicPr>
          <p:cNvPr id="7" name="ri-60" descr="preencoded.png">    </p:cNvPr>
          <p:cNvPicPr>
            <a:picLocks noChangeAspect="1"/>
          </p:cNvPicPr>
          <p:nvPr/>
        </p:nvPicPr>
        <p:blipFill>
          <a:blip r:embed="rId1"/>
          <a:stretch>
            <a:fillRect/>
          </a:stretch>
        </p:blipFill>
        <p:spPr>
          <a:xfrm>
            <a:off x="3154680" y="2103120"/>
            <a:ext cx="457200" cy="457200"/>
          </a:xfrm>
          <a:prstGeom prst="rect">
            <a:avLst/>
          </a:prstGeom>
        </p:spPr>
      </p:pic>
      <p:sp>
        <p:nvSpPr>
          <p:cNvPr id="8" name="text-61"/>
          <p:cNvSpPr txBox="1"/>
          <p:nvPr/>
        </p:nvSpPr>
        <p:spPr>
          <a:xfrm>
            <a:off x="3703320" y="2084832"/>
            <a:ext cx="1920240" cy="457200"/>
          </a:xfrm>
          <a:prstGeom prst="rect">
            <a:avLst/>
          </a:prstGeom>
          <a:noFill/>
          <a:ln/>
        </p:spPr>
        <p:txBody>
          <a:bodyPr wrap="square" lIns="0" tIns="0" rIns="0" bIns="0" rtlCol="0" anchor="ctr"/>
          <a:lstStyle/>
          <a:p>
            <a:pPr indent="0" marL="0">
              <a:buNone/>
            </a:pPr>
            <a:r>
              <a:rPr lang="en-US" sz="2000" b="1" dirty="0">
                <a:solidFill>
                  <a:schemeClr val="bg1"/>
                </a:solidFill>
              </a:rPr>
              <a:t>RouterNode</a:t>
            </a:r>
            <a:endParaRPr lang="en-US" sz="2000" dirty="0"/>
          </a:p>
        </p:txBody>
      </p:sp>
      <p:sp>
        <p:nvSpPr>
          <p:cNvPr id="9" name="text-62"/>
          <p:cNvSpPr txBox="1"/>
          <p:nvPr/>
        </p:nvSpPr>
        <p:spPr>
          <a:xfrm>
            <a:off x="3154680" y="2697480"/>
            <a:ext cx="2468880" cy="594360"/>
          </a:xfrm>
          <a:prstGeom prst="rect">
            <a:avLst/>
          </a:prstGeom>
          <a:noFill/>
          <a:ln/>
        </p:spPr>
        <p:txBody>
          <a:bodyPr wrap="square" lIns="0" tIns="0" rIns="0" bIns="0" rtlCol="0" anchor="t"/>
          <a:lstStyle/>
          <a:p>
            <a:pPr indent="0" marL="0">
              <a:buNone/>
            </a:pPr>
            <a:r>
              <a:rPr lang="en-US" sz="1300" dirty="0">
                <a:solidFill>
                  <a:schemeClr val="bg2"/>
                </a:solidFill>
              </a:rPr>
              <a:t>score → budget check → route → validate → log</a:t>
            </a:r>
            <a:endParaRPr lang="en-US" sz="1300" dirty="0"/>
          </a:p>
        </p:txBody>
      </p:sp>
      <p:sp>
        <p:nvSpPr>
          <p:cNvPr id="10" name="arrow-63"/>
          <p:cNvSpPr/>
          <p:nvPr/>
        </p:nvSpPr>
        <p:spPr>
          <a:xfrm flipV="1">
            <a:off x="5806440" y="1737360"/>
            <a:ext cx="822960" cy="731520"/>
          </a:xfrm>
          <a:prstGeom prst="line">
            <a:avLst/>
          </a:prstGeom>
          <a:noFill/>
          <a:ln w="25400">
            <a:solidFill>
              <a:schemeClr val="accent2"/>
            </a:solidFill>
            <a:prstDash val="solid"/>
            <a:tailEnd type="triangle"/>
          </a:ln>
        </p:spPr>
      </p:sp>
      <p:sp>
        <p:nvSpPr>
          <p:cNvPr id="11" name="arrow-64"/>
          <p:cNvSpPr/>
          <p:nvPr/>
        </p:nvSpPr>
        <p:spPr>
          <a:xfrm>
            <a:off x="5806440" y="2834640"/>
            <a:ext cx="822960" cy="731520"/>
          </a:xfrm>
          <a:prstGeom prst="line">
            <a:avLst/>
          </a:prstGeom>
          <a:noFill/>
          <a:ln w="25400">
            <a:solidFill>
              <a:schemeClr val="accent3"/>
            </a:solidFill>
            <a:prstDash val="solid"/>
            <a:tailEnd type="triangle"/>
          </a:ln>
        </p:spPr>
      </p:sp>
      <p:sp>
        <p:nvSpPr>
          <p:cNvPr id="12" name="cheap-65"/>
          <p:cNvSpPr/>
          <p:nvPr/>
        </p:nvSpPr>
        <p:spPr>
          <a:xfrm>
            <a:off x="6675120" y="1280160"/>
            <a:ext cx="2377440" cy="914400"/>
          </a:xfrm>
          <a:prstGeom prst="roundRect">
            <a:avLst>
              <a:gd name="adj" fmla="val 12000"/>
            </a:avLst>
          </a:prstGeom>
          <a:solidFill>
            <a:schemeClr val="accent2">
              <a:alpha val="18000"/>
            </a:schemeClr>
          </a:solidFill>
          <a:ln w="19050">
            <a:solidFill>
              <a:schemeClr val="accent2"/>
            </a:solidFill>
            <a:prstDash val="solid"/>
          </a:ln>
        </p:spPr>
      </p:sp>
      <p:pic>
        <p:nvPicPr>
          <p:cNvPr id="13" name="ci-66" descr="preencoded.png">    </p:cNvPr>
          <p:cNvPicPr>
            <a:picLocks noChangeAspect="1"/>
          </p:cNvPicPr>
          <p:nvPr/>
        </p:nvPicPr>
        <p:blipFill>
          <a:blip r:embed="rId2"/>
          <a:stretch>
            <a:fillRect/>
          </a:stretch>
        </p:blipFill>
        <p:spPr>
          <a:xfrm>
            <a:off x="6858000" y="1536192"/>
            <a:ext cx="411480" cy="411480"/>
          </a:xfrm>
          <a:prstGeom prst="rect">
            <a:avLst/>
          </a:prstGeom>
        </p:spPr>
      </p:pic>
      <p:sp>
        <p:nvSpPr>
          <p:cNvPr id="14" name="text-67"/>
          <p:cNvSpPr txBox="1"/>
          <p:nvPr/>
        </p:nvSpPr>
        <p:spPr>
          <a:xfrm>
            <a:off x="7406640" y="1353312"/>
            <a:ext cx="1600200" cy="777240"/>
          </a:xfrm>
          <a:prstGeom prst="rect">
            <a:avLst/>
          </a:prstGeom>
          <a:noFill/>
          <a:ln/>
        </p:spPr>
        <p:txBody>
          <a:bodyPr wrap="square" lIns="0" tIns="0" rIns="0" bIns="0" rtlCol="0" anchor="ctr"/>
          <a:lstStyle/>
          <a:p>
            <a:pPr indent="0" marL="0">
              <a:buNone/>
            </a:pPr>
            <a:r>
              <a:rPr lang="en-US" sz="1500" b="1" dirty="0">
                <a:solidFill>
                  <a:schemeClr val="bg1"/>
                </a:solidFill>
              </a:rPr>
              <a:t>Cheap model</a:t>
            </a:r>
            <a:endParaRPr lang="en-US" sz="1400" dirty="0"/>
          </a:p>
          <a:p>
            <a:pPr indent="0" marL="0">
              <a:buNone/>
            </a:pPr>
            <a:r>
              <a:rPr lang="en-US" sz="1200" dirty="0">
                <a:solidFill>
                  <a:schemeClr val="bg2"/>
                </a:solidFill>
              </a:rPr>
              <a:t>openai/gpt-oss-20b</a:t>
            </a:r>
            <a:endParaRPr lang="en-US" sz="1400" dirty="0"/>
          </a:p>
        </p:txBody>
      </p:sp>
      <p:sp>
        <p:nvSpPr>
          <p:cNvPr id="15" name="expensive-68"/>
          <p:cNvSpPr/>
          <p:nvPr/>
        </p:nvSpPr>
        <p:spPr>
          <a:xfrm>
            <a:off x="6675120" y="3108960"/>
            <a:ext cx="2377440" cy="914400"/>
          </a:xfrm>
          <a:prstGeom prst="roundRect">
            <a:avLst>
              <a:gd name="adj" fmla="val 12000"/>
            </a:avLst>
          </a:prstGeom>
          <a:solidFill>
            <a:schemeClr val="accent3">
              <a:alpha val="18000"/>
            </a:schemeClr>
          </a:solidFill>
          <a:ln w="19050">
            <a:solidFill>
              <a:schemeClr val="accent3"/>
            </a:solidFill>
            <a:prstDash val="solid"/>
          </a:ln>
        </p:spPr>
      </p:sp>
      <p:pic>
        <p:nvPicPr>
          <p:cNvPr id="16" name="ei-69" descr="preencoded.png">    </p:cNvPr>
          <p:cNvPicPr>
            <a:picLocks noChangeAspect="1"/>
          </p:cNvPicPr>
          <p:nvPr/>
        </p:nvPicPr>
        <p:blipFill>
          <a:blip r:embed="rId3"/>
          <a:stretch>
            <a:fillRect/>
          </a:stretch>
        </p:blipFill>
        <p:spPr>
          <a:xfrm>
            <a:off x="6858000" y="3364992"/>
            <a:ext cx="411480" cy="411480"/>
          </a:xfrm>
          <a:prstGeom prst="rect">
            <a:avLst/>
          </a:prstGeom>
        </p:spPr>
      </p:pic>
      <p:sp>
        <p:nvSpPr>
          <p:cNvPr id="17" name="text-70"/>
          <p:cNvSpPr txBox="1"/>
          <p:nvPr/>
        </p:nvSpPr>
        <p:spPr>
          <a:xfrm>
            <a:off x="7406640" y="3182112"/>
            <a:ext cx="1600200" cy="777240"/>
          </a:xfrm>
          <a:prstGeom prst="rect">
            <a:avLst/>
          </a:prstGeom>
          <a:noFill/>
          <a:ln/>
        </p:spPr>
        <p:txBody>
          <a:bodyPr wrap="square" lIns="0" tIns="0" rIns="0" bIns="0" rtlCol="0" anchor="ctr"/>
          <a:lstStyle/>
          <a:p>
            <a:pPr indent="0" marL="0">
              <a:buNone/>
            </a:pPr>
            <a:r>
              <a:rPr lang="en-US" sz="1500" b="1" dirty="0">
                <a:solidFill>
                  <a:schemeClr val="bg1"/>
                </a:solidFill>
              </a:rPr>
              <a:t>Expensive model</a:t>
            </a:r>
            <a:endParaRPr lang="en-US" sz="1400" dirty="0"/>
          </a:p>
          <a:p>
            <a:pPr indent="0" marL="0">
              <a:buNone/>
            </a:pPr>
            <a:r>
              <a:rPr lang="en-US" sz="1200" dirty="0">
                <a:solidFill>
                  <a:schemeClr val="bg2"/>
                </a:solidFill>
              </a:rPr>
              <a:t>openai/gpt-oss-120b</a:t>
            </a:r>
            <a:endParaRPr lang="en-US" sz="1400" dirty="0"/>
          </a:p>
        </p:txBody>
      </p:sp>
      <p:sp>
        <p:nvSpPr>
          <p:cNvPr id="18" name="arrow-71"/>
          <p:cNvSpPr/>
          <p:nvPr/>
        </p:nvSpPr>
        <p:spPr>
          <a:xfrm>
            <a:off x="9098280" y="1737360"/>
            <a:ext cx="640080" cy="731520"/>
          </a:xfrm>
          <a:prstGeom prst="line">
            <a:avLst/>
          </a:prstGeom>
          <a:noFill/>
          <a:ln w="25400">
            <a:solidFill>
              <a:schemeClr val="accent2"/>
            </a:solidFill>
            <a:prstDash val="solid"/>
            <a:tailEnd type="triangle"/>
          </a:ln>
        </p:spPr>
      </p:sp>
      <p:sp>
        <p:nvSpPr>
          <p:cNvPr id="19" name="arrow-72"/>
          <p:cNvSpPr/>
          <p:nvPr/>
        </p:nvSpPr>
        <p:spPr>
          <a:xfrm flipV="1">
            <a:off x="9098280" y="2834640"/>
            <a:ext cx="640080" cy="731520"/>
          </a:xfrm>
          <a:prstGeom prst="line">
            <a:avLst/>
          </a:prstGeom>
          <a:noFill/>
          <a:ln w="25400">
            <a:solidFill>
              <a:schemeClr val="accent3"/>
            </a:solidFill>
            <a:prstDash val="solid"/>
            <a:tailEnd type="triangle"/>
          </a:ln>
        </p:spPr>
      </p:sp>
      <p:sp>
        <p:nvSpPr>
          <p:cNvPr id="20" name="next-73"/>
          <p:cNvSpPr/>
          <p:nvPr/>
        </p:nvSpPr>
        <p:spPr>
          <a:xfrm>
            <a:off x="9784080" y="2194560"/>
            <a:ext cx="1828800" cy="914400"/>
          </a:xfrm>
          <a:prstGeom prst="roundRect">
            <a:avLst>
              <a:gd name="adj" fmla="val 12000"/>
            </a:avLst>
          </a:prstGeom>
          <a:solidFill>
            <a:schemeClr val="tx2"/>
          </a:solidFill>
          <a:ln/>
        </p:spPr>
      </p:sp>
      <p:sp>
        <p:nvSpPr>
          <p:cNvPr id="21" name="text-74"/>
          <p:cNvSpPr txBox="1"/>
          <p:nvPr/>
        </p:nvSpPr>
        <p:spPr>
          <a:xfrm>
            <a:off x="9784080" y="2194560"/>
            <a:ext cx="1828800" cy="914400"/>
          </a:xfrm>
          <a:prstGeom prst="rect">
            <a:avLst/>
          </a:prstGeom>
          <a:noFill/>
          <a:ln/>
        </p:spPr>
        <p:txBody>
          <a:bodyPr wrap="square" lIns="0" tIns="0" rIns="0" bIns="0" rtlCol="0" anchor="ctr"/>
          <a:lstStyle/>
          <a:p>
            <a:pPr algn="ctr" indent="0" marL="0">
              <a:buNone/>
            </a:pPr>
            <a:r>
              <a:rPr lang="en-US" sz="1600" b="1" dirty="0">
                <a:solidFill>
                  <a:schemeClr val="bg1"/>
                </a:solidFill>
              </a:rPr>
              <a:t>Next step</a:t>
            </a:r>
            <a:endParaRPr lang="en-US" sz="1600" dirty="0"/>
          </a:p>
        </p:txBody>
      </p:sp>
      <p:sp>
        <p:nvSpPr>
          <p:cNvPr id="22" name="arrow-75"/>
          <p:cNvSpPr/>
          <p:nvPr/>
        </p:nvSpPr>
        <p:spPr>
          <a:xfrm>
            <a:off x="4343400" y="3429000"/>
            <a:ext cx="914" cy="731520"/>
          </a:xfrm>
          <a:prstGeom prst="line">
            <a:avLst/>
          </a:prstGeom>
          <a:noFill/>
          <a:ln w="19050">
            <a:solidFill>
              <a:schemeClr val="bg2"/>
            </a:solidFill>
            <a:prstDash val="solid"/>
          </a:ln>
        </p:spPr>
      </p:sp>
      <p:sp>
        <p:nvSpPr>
          <p:cNvPr id="23" name="arrow-76"/>
          <p:cNvSpPr/>
          <p:nvPr/>
        </p:nvSpPr>
        <p:spPr>
          <a:xfrm>
            <a:off x="2286000" y="4160520"/>
            <a:ext cx="7635240" cy="914"/>
          </a:xfrm>
          <a:prstGeom prst="line">
            <a:avLst/>
          </a:prstGeom>
          <a:noFill/>
          <a:ln w="19050">
            <a:solidFill>
              <a:schemeClr val="bg2"/>
            </a:solidFill>
            <a:prstDash val="solid"/>
          </a:ln>
        </p:spPr>
      </p:sp>
      <p:sp>
        <p:nvSpPr>
          <p:cNvPr id="24" name="arrow-77"/>
          <p:cNvSpPr/>
          <p:nvPr/>
        </p:nvSpPr>
        <p:spPr>
          <a:xfrm>
            <a:off x="2286000" y="4160520"/>
            <a:ext cx="914" cy="320040"/>
          </a:xfrm>
          <a:prstGeom prst="line">
            <a:avLst/>
          </a:prstGeom>
          <a:noFill/>
          <a:ln w="19050">
            <a:solidFill>
              <a:schemeClr val="bg2"/>
            </a:solidFill>
            <a:prstDash val="solid"/>
            <a:tailEnd type="triangle"/>
          </a:ln>
        </p:spPr>
      </p:sp>
      <p:sp>
        <p:nvSpPr>
          <p:cNvPr id="25" name="helper-78"/>
          <p:cNvSpPr/>
          <p:nvPr/>
        </p:nvSpPr>
        <p:spPr>
          <a:xfrm>
            <a:off x="548640" y="4526280"/>
            <a:ext cx="3474720" cy="1600200"/>
          </a:xfrm>
          <a:prstGeom prst="roundRect">
            <a:avLst>
              <a:gd name="adj" fmla="val 6857"/>
            </a:avLst>
          </a:prstGeom>
          <a:solidFill>
            <a:schemeClr val="tx2"/>
          </a:solidFill>
          <a:ln/>
        </p:spPr>
      </p:sp>
      <p:sp>
        <p:nvSpPr>
          <p:cNvPr id="26" name="icon-bg-79"/>
          <p:cNvSpPr/>
          <p:nvPr/>
        </p:nvSpPr>
        <p:spPr>
          <a:xfrm>
            <a:off x="777240" y="4709160"/>
            <a:ext cx="640080" cy="640080"/>
          </a:xfrm>
          <a:prstGeom prst="ellipse">
            <a:avLst/>
          </a:prstGeom>
          <a:solidFill>
            <a:schemeClr val="accent1">
              <a:alpha val="22000"/>
            </a:schemeClr>
          </a:solidFill>
          <a:ln/>
        </p:spPr>
      </p:sp>
      <p:pic>
        <p:nvPicPr>
          <p:cNvPr id="27" name="icon-80" descr="preencoded.png">    </p:cNvPr>
          <p:cNvPicPr>
            <a:picLocks noChangeAspect="1"/>
          </p:cNvPicPr>
          <p:nvPr/>
        </p:nvPicPr>
        <p:blipFill>
          <a:blip r:embed="rId4"/>
          <a:stretch>
            <a:fillRect/>
          </a:stretch>
        </p:blipFill>
        <p:spPr>
          <a:xfrm>
            <a:off x="937260" y="4869180"/>
            <a:ext cx="320040" cy="320040"/>
          </a:xfrm>
          <a:prstGeom prst="rect">
            <a:avLst/>
          </a:prstGeom>
        </p:spPr>
      </p:pic>
      <p:sp>
        <p:nvSpPr>
          <p:cNvPr id="28" name="text-81"/>
          <p:cNvSpPr txBox="1"/>
          <p:nvPr/>
        </p:nvSpPr>
        <p:spPr>
          <a:xfrm>
            <a:off x="1554480" y="4754880"/>
            <a:ext cx="2377440" cy="411480"/>
          </a:xfrm>
          <a:prstGeom prst="rect">
            <a:avLst/>
          </a:prstGeom>
          <a:noFill/>
          <a:ln/>
        </p:spPr>
        <p:txBody>
          <a:bodyPr wrap="square" lIns="0" tIns="0" rIns="0" bIns="0" rtlCol="0" anchor="ctr"/>
          <a:lstStyle/>
          <a:p>
            <a:pPr indent="0" marL="0">
              <a:buNone/>
            </a:pPr>
            <a:r>
              <a:rPr lang="en-US" sz="1600" b="1" dirty="0">
                <a:solidFill>
                  <a:schemeClr val="bg1"/>
                </a:solidFill>
              </a:rPr>
              <a:t>Difficulty estimator</a:t>
            </a:r>
            <a:endParaRPr lang="en-US" sz="1600" dirty="0"/>
          </a:p>
        </p:txBody>
      </p:sp>
      <p:sp>
        <p:nvSpPr>
          <p:cNvPr id="29" name="text-82"/>
          <p:cNvSpPr txBox="1"/>
          <p:nvPr/>
        </p:nvSpPr>
        <p:spPr>
          <a:xfrm>
            <a:off x="777240" y="5394960"/>
            <a:ext cx="3063240" cy="685800"/>
          </a:xfrm>
          <a:prstGeom prst="rect">
            <a:avLst/>
          </a:prstGeom>
          <a:noFill/>
          <a:ln/>
        </p:spPr>
        <p:txBody>
          <a:bodyPr wrap="square" lIns="0" tIns="0" rIns="0" bIns="0" rtlCol="0" anchor="t"/>
          <a:lstStyle/>
          <a:p>
            <a:pPr indent="0" marL="0">
              <a:buNone/>
            </a:pPr>
            <a:r>
              <a:rPr lang="en-US" sz="1200" dirty="0">
                <a:solidFill>
                  <a:schemeClr val="bg2"/>
                </a:solidFill>
              </a:rPr>
              <a:t>Scores each step 0–1 from prompt length, reasoning words and past failures. Under 1 ms, no API call.</a:t>
            </a:r>
            <a:endParaRPr lang="en-US" sz="1200" dirty="0"/>
          </a:p>
        </p:txBody>
      </p:sp>
      <p:sp>
        <p:nvSpPr>
          <p:cNvPr id="30" name="arrow-83"/>
          <p:cNvSpPr/>
          <p:nvPr/>
        </p:nvSpPr>
        <p:spPr>
          <a:xfrm>
            <a:off x="6080760" y="4160520"/>
            <a:ext cx="914" cy="320040"/>
          </a:xfrm>
          <a:prstGeom prst="line">
            <a:avLst/>
          </a:prstGeom>
          <a:noFill/>
          <a:ln w="19050">
            <a:solidFill>
              <a:schemeClr val="bg2"/>
            </a:solidFill>
            <a:prstDash val="solid"/>
            <a:tailEnd type="triangle"/>
          </a:ln>
        </p:spPr>
      </p:sp>
      <p:sp>
        <p:nvSpPr>
          <p:cNvPr id="31" name="helper-84"/>
          <p:cNvSpPr/>
          <p:nvPr/>
        </p:nvSpPr>
        <p:spPr>
          <a:xfrm>
            <a:off x="4343400" y="4526280"/>
            <a:ext cx="3474720" cy="1600200"/>
          </a:xfrm>
          <a:prstGeom prst="roundRect">
            <a:avLst>
              <a:gd name="adj" fmla="val 6857"/>
            </a:avLst>
          </a:prstGeom>
          <a:solidFill>
            <a:schemeClr val="tx2"/>
          </a:solidFill>
          <a:ln/>
        </p:spPr>
      </p:sp>
      <p:sp>
        <p:nvSpPr>
          <p:cNvPr id="32" name="icon-bg-85"/>
          <p:cNvSpPr/>
          <p:nvPr/>
        </p:nvSpPr>
        <p:spPr>
          <a:xfrm>
            <a:off x="4572000" y="4709160"/>
            <a:ext cx="640080" cy="640080"/>
          </a:xfrm>
          <a:prstGeom prst="ellipse">
            <a:avLst/>
          </a:prstGeom>
          <a:solidFill>
            <a:schemeClr val="accent5">
              <a:alpha val="22000"/>
            </a:schemeClr>
          </a:solidFill>
          <a:ln/>
        </p:spPr>
      </p:sp>
      <p:pic>
        <p:nvPicPr>
          <p:cNvPr id="33" name="icon-86" descr="preencoded.png">    </p:cNvPr>
          <p:cNvPicPr>
            <a:picLocks noChangeAspect="1"/>
          </p:cNvPicPr>
          <p:nvPr/>
        </p:nvPicPr>
        <p:blipFill>
          <a:blip r:embed="rId5"/>
          <a:stretch>
            <a:fillRect/>
          </a:stretch>
        </p:blipFill>
        <p:spPr>
          <a:xfrm>
            <a:off x="4732020" y="4869180"/>
            <a:ext cx="320040" cy="320040"/>
          </a:xfrm>
          <a:prstGeom prst="rect">
            <a:avLst/>
          </a:prstGeom>
        </p:spPr>
      </p:pic>
      <p:sp>
        <p:nvSpPr>
          <p:cNvPr id="34" name="text-87"/>
          <p:cNvSpPr txBox="1"/>
          <p:nvPr/>
        </p:nvSpPr>
        <p:spPr>
          <a:xfrm>
            <a:off x="5349240" y="4754880"/>
            <a:ext cx="2377440" cy="411480"/>
          </a:xfrm>
          <a:prstGeom prst="rect">
            <a:avLst/>
          </a:prstGeom>
          <a:noFill/>
          <a:ln/>
        </p:spPr>
        <p:txBody>
          <a:bodyPr wrap="square" lIns="0" tIns="0" rIns="0" bIns="0" rtlCol="0" anchor="ctr"/>
          <a:lstStyle/>
          <a:p>
            <a:pPr indent="0" marL="0">
              <a:buNone/>
            </a:pPr>
            <a:r>
              <a:rPr lang="en-US" sz="1600" b="1" dirty="0">
                <a:solidFill>
                  <a:schemeClr val="bg1"/>
                </a:solidFill>
              </a:rPr>
              <a:t>Budget tracker</a:t>
            </a:r>
            <a:endParaRPr lang="en-US" sz="1600" dirty="0"/>
          </a:p>
        </p:txBody>
      </p:sp>
      <p:sp>
        <p:nvSpPr>
          <p:cNvPr id="35" name="text-88"/>
          <p:cNvSpPr txBox="1"/>
          <p:nvPr/>
        </p:nvSpPr>
        <p:spPr>
          <a:xfrm>
            <a:off x="4572000" y="5394960"/>
            <a:ext cx="3063240" cy="685800"/>
          </a:xfrm>
          <a:prstGeom prst="rect">
            <a:avLst/>
          </a:prstGeom>
          <a:noFill/>
          <a:ln/>
        </p:spPr>
        <p:txBody>
          <a:bodyPr wrap="square" lIns="0" tIns="0" rIns="0" bIns="0" rtlCol="0" anchor="t"/>
          <a:lstStyle/>
          <a:p>
            <a:pPr indent="0" marL="0">
              <a:buNone/>
            </a:pPr>
            <a:r>
              <a:rPr lang="en-US" sz="1200" dirty="0">
                <a:solidFill>
                  <a:schemeClr val="bg2"/>
                </a:solidFill>
              </a:rPr>
              <a:t>A USD ledger priced from real token usage, with 50% / 10% warnings and SOFT or HARD_STOP limits.</a:t>
            </a:r>
            <a:endParaRPr lang="en-US" sz="1200" dirty="0"/>
          </a:p>
        </p:txBody>
      </p:sp>
      <p:sp>
        <p:nvSpPr>
          <p:cNvPr id="36" name="arrow-89"/>
          <p:cNvSpPr/>
          <p:nvPr/>
        </p:nvSpPr>
        <p:spPr>
          <a:xfrm>
            <a:off x="9875520" y="4160520"/>
            <a:ext cx="914" cy="320040"/>
          </a:xfrm>
          <a:prstGeom prst="line">
            <a:avLst/>
          </a:prstGeom>
          <a:noFill/>
          <a:ln w="19050">
            <a:solidFill>
              <a:schemeClr val="bg2"/>
            </a:solidFill>
            <a:prstDash val="solid"/>
            <a:tailEnd type="triangle"/>
          </a:ln>
        </p:spPr>
      </p:sp>
      <p:sp>
        <p:nvSpPr>
          <p:cNvPr id="37" name="helper-90"/>
          <p:cNvSpPr/>
          <p:nvPr/>
        </p:nvSpPr>
        <p:spPr>
          <a:xfrm>
            <a:off x="8138160" y="4526280"/>
            <a:ext cx="3474720" cy="1600200"/>
          </a:xfrm>
          <a:prstGeom prst="roundRect">
            <a:avLst>
              <a:gd name="adj" fmla="val 6857"/>
            </a:avLst>
          </a:prstGeom>
          <a:solidFill>
            <a:schemeClr val="tx2"/>
          </a:solidFill>
          <a:ln/>
        </p:spPr>
      </p:sp>
      <p:sp>
        <p:nvSpPr>
          <p:cNvPr id="38" name="icon-bg-91"/>
          <p:cNvSpPr/>
          <p:nvPr/>
        </p:nvSpPr>
        <p:spPr>
          <a:xfrm>
            <a:off x="8366760" y="4709160"/>
            <a:ext cx="640080" cy="640080"/>
          </a:xfrm>
          <a:prstGeom prst="ellipse">
            <a:avLst/>
          </a:prstGeom>
          <a:solidFill>
            <a:schemeClr val="accent4">
              <a:alpha val="22000"/>
            </a:schemeClr>
          </a:solidFill>
          <a:ln/>
        </p:spPr>
      </p:sp>
      <p:pic>
        <p:nvPicPr>
          <p:cNvPr id="39" name="icon-92" descr="preencoded.png">    </p:cNvPr>
          <p:cNvPicPr>
            <a:picLocks noChangeAspect="1"/>
          </p:cNvPicPr>
          <p:nvPr/>
        </p:nvPicPr>
        <p:blipFill>
          <a:blip r:embed="rId6"/>
          <a:stretch>
            <a:fillRect/>
          </a:stretch>
        </p:blipFill>
        <p:spPr>
          <a:xfrm>
            <a:off x="8526780" y="4869180"/>
            <a:ext cx="320040" cy="320040"/>
          </a:xfrm>
          <a:prstGeom prst="rect">
            <a:avLst/>
          </a:prstGeom>
        </p:spPr>
      </p:pic>
      <p:sp>
        <p:nvSpPr>
          <p:cNvPr id="40" name="text-93"/>
          <p:cNvSpPr txBox="1"/>
          <p:nvPr/>
        </p:nvSpPr>
        <p:spPr>
          <a:xfrm>
            <a:off x="9144000" y="4754880"/>
            <a:ext cx="2377440" cy="411480"/>
          </a:xfrm>
          <a:prstGeom prst="rect">
            <a:avLst/>
          </a:prstGeom>
          <a:noFill/>
          <a:ln/>
        </p:spPr>
        <p:txBody>
          <a:bodyPr wrap="square" lIns="0" tIns="0" rIns="0" bIns="0" rtlCol="0" anchor="ctr"/>
          <a:lstStyle/>
          <a:p>
            <a:pPr indent="0" marL="0">
              <a:buNone/>
            </a:pPr>
            <a:r>
              <a:rPr lang="en-US" sz="1600" b="1" dirty="0">
                <a:solidFill>
                  <a:schemeClr val="bg1"/>
                </a:solidFill>
              </a:rPr>
              <a:t>Decision logger</a:t>
            </a:r>
            <a:endParaRPr lang="en-US" sz="1600" dirty="0"/>
          </a:p>
        </p:txBody>
      </p:sp>
      <p:sp>
        <p:nvSpPr>
          <p:cNvPr id="41" name="text-94"/>
          <p:cNvSpPr txBox="1"/>
          <p:nvPr/>
        </p:nvSpPr>
        <p:spPr>
          <a:xfrm>
            <a:off x="8366760" y="5394960"/>
            <a:ext cx="3063240" cy="685800"/>
          </a:xfrm>
          <a:prstGeom prst="rect">
            <a:avLst/>
          </a:prstGeom>
          <a:noFill/>
          <a:ln/>
        </p:spPr>
        <p:txBody>
          <a:bodyPr wrap="square" lIns="0" tIns="0" rIns="0" bIns="0" rtlCol="0" anchor="t"/>
          <a:lstStyle/>
          <a:p>
            <a:pPr indent="0" marL="0">
              <a:buNone/>
            </a:pPr>
            <a:r>
              <a:rPr lang="en-US" sz="1200" dirty="0">
                <a:solidFill>
                  <a:schemeClr val="bg2"/>
                </a:solidFill>
              </a:rPr>
              <a:t>Every decision goes to SQLite: score, model, cost, budget before and after. Prompts kept as hashes only.</a:t>
            </a:r>
            <a:endParaRPr lang="en-US" sz="12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AB3C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bg1"/>
                </a:solidFill>
              </a:rPr>
              <a:t>Every step goes through the same five checks</a:t>
            </a:r>
            <a:endParaRPr lang="en-US" sz="2800" dirty="0"/>
          </a:p>
        </p:txBody>
      </p:sp>
      <p:sp>
        <p:nvSpPr>
          <p:cNvPr id="3" name="icon-bg-95"/>
          <p:cNvSpPr/>
          <p:nvPr/>
        </p:nvSpPr>
        <p:spPr>
          <a:xfrm>
            <a:off x="1106424" y="1463040"/>
            <a:ext cx="1097280" cy="1097280"/>
          </a:xfrm>
          <a:prstGeom prst="ellipse">
            <a:avLst/>
          </a:prstGeom>
          <a:solidFill>
            <a:schemeClr val="accent1">
              <a:alpha val="22000"/>
            </a:schemeClr>
          </a:solidFill>
          <a:ln/>
        </p:spPr>
      </p:sp>
      <p:pic>
        <p:nvPicPr>
          <p:cNvPr id="4" name="icon-96" descr="preencoded.png">    </p:cNvPr>
          <p:cNvPicPr>
            <a:picLocks noChangeAspect="1"/>
          </p:cNvPicPr>
          <p:nvPr/>
        </p:nvPicPr>
        <p:blipFill>
          <a:blip r:embed="rId1"/>
          <a:stretch>
            <a:fillRect/>
          </a:stretch>
        </p:blipFill>
        <p:spPr>
          <a:xfrm>
            <a:off x="1380744" y="1737360"/>
            <a:ext cx="548640" cy="548640"/>
          </a:xfrm>
          <a:prstGeom prst="rect">
            <a:avLst/>
          </a:prstGeom>
        </p:spPr>
      </p:pic>
      <p:sp>
        <p:nvSpPr>
          <p:cNvPr id="5" name="num-97"/>
          <p:cNvSpPr/>
          <p:nvPr/>
        </p:nvSpPr>
        <p:spPr>
          <a:xfrm>
            <a:off x="1883664" y="1371600"/>
            <a:ext cx="384048" cy="384048"/>
          </a:xfrm>
          <a:prstGeom prst="ellipse">
            <a:avLst/>
          </a:prstGeom>
          <a:solidFill>
            <a:schemeClr val="accent1"/>
          </a:solidFill>
          <a:ln/>
        </p:spPr>
      </p:sp>
      <p:sp>
        <p:nvSpPr>
          <p:cNvPr id="6" name="text-98"/>
          <p:cNvSpPr txBox="1"/>
          <p:nvPr/>
        </p:nvSpPr>
        <p:spPr>
          <a:xfrm>
            <a:off x="1883664" y="137160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text-99"/>
          <p:cNvSpPr txBox="1"/>
          <p:nvPr/>
        </p:nvSpPr>
        <p:spPr>
          <a:xfrm>
            <a:off x="640080" y="2697480"/>
            <a:ext cx="2029968" cy="411480"/>
          </a:xfrm>
          <a:prstGeom prst="rect">
            <a:avLst/>
          </a:prstGeom>
          <a:noFill/>
          <a:ln/>
        </p:spPr>
        <p:txBody>
          <a:bodyPr wrap="square" lIns="0" tIns="0" rIns="0" bIns="0" rtlCol="0" anchor="t"/>
          <a:lstStyle/>
          <a:p>
            <a:pPr algn="ctr" indent="0" marL="0">
              <a:buNone/>
            </a:pPr>
            <a:r>
              <a:rPr lang="en-US" sz="1800" b="1" dirty="0">
                <a:solidFill>
                  <a:schemeClr val="bg1"/>
                </a:solidFill>
              </a:rPr>
              <a:t>Score difficulty</a:t>
            </a:r>
            <a:endParaRPr lang="en-US" sz="1800" dirty="0"/>
          </a:p>
        </p:txBody>
      </p:sp>
      <p:sp>
        <p:nvSpPr>
          <p:cNvPr id="8" name="text-100"/>
          <p:cNvSpPr txBox="1"/>
          <p:nvPr/>
        </p:nvSpPr>
        <p:spPr>
          <a:xfrm>
            <a:off x="731520" y="3154680"/>
            <a:ext cx="1847088" cy="1005840"/>
          </a:xfrm>
          <a:prstGeom prst="rect">
            <a:avLst/>
          </a:prstGeom>
          <a:noFill/>
          <a:ln/>
        </p:spPr>
        <p:txBody>
          <a:bodyPr wrap="square" lIns="0" tIns="0" rIns="0" bIns="0" rtlCol="0" anchor="t"/>
          <a:lstStyle/>
          <a:p>
            <a:pPr algn="ctr" indent="0" marL="0">
              <a:buNone/>
            </a:pPr>
            <a:r>
              <a:rPr lang="en-US" sz="1400" dirty="0">
                <a:solidFill>
                  <a:schemeClr val="bg2"/>
                </a:solidFill>
              </a:rPr>
              <a:t>Length, reasoning words and failure history become one score from 0 to 1</a:t>
            </a:r>
            <a:endParaRPr lang="en-US" sz="1400" dirty="0"/>
          </a:p>
        </p:txBody>
      </p:sp>
      <p:sp>
        <p:nvSpPr>
          <p:cNvPr id="9" name="arrow-101"/>
          <p:cNvSpPr/>
          <p:nvPr/>
        </p:nvSpPr>
        <p:spPr>
          <a:xfrm>
            <a:off x="2340864" y="2011680"/>
            <a:ext cx="841248" cy="914"/>
          </a:xfrm>
          <a:prstGeom prst="line">
            <a:avLst/>
          </a:prstGeom>
          <a:noFill/>
          <a:ln w="25400">
            <a:solidFill>
              <a:schemeClr val="accent1"/>
            </a:solidFill>
            <a:prstDash val="solid"/>
            <a:tailEnd type="triangle"/>
          </a:ln>
        </p:spPr>
      </p:sp>
      <p:sp>
        <p:nvSpPr>
          <p:cNvPr id="10" name="icon-bg-102"/>
          <p:cNvSpPr/>
          <p:nvPr/>
        </p:nvSpPr>
        <p:spPr>
          <a:xfrm>
            <a:off x="3319272" y="1463040"/>
            <a:ext cx="1097280" cy="1097280"/>
          </a:xfrm>
          <a:prstGeom prst="ellipse">
            <a:avLst/>
          </a:prstGeom>
          <a:solidFill>
            <a:schemeClr val="accent5">
              <a:alpha val="22000"/>
            </a:schemeClr>
          </a:solidFill>
          <a:ln/>
        </p:spPr>
      </p:sp>
      <p:pic>
        <p:nvPicPr>
          <p:cNvPr id="11" name="icon-103" descr="preencoded.png">    </p:cNvPr>
          <p:cNvPicPr>
            <a:picLocks noChangeAspect="1"/>
          </p:cNvPicPr>
          <p:nvPr/>
        </p:nvPicPr>
        <p:blipFill>
          <a:blip r:embed="rId2"/>
          <a:stretch>
            <a:fillRect/>
          </a:stretch>
        </p:blipFill>
        <p:spPr>
          <a:xfrm>
            <a:off x="3593592" y="1737360"/>
            <a:ext cx="548640" cy="548640"/>
          </a:xfrm>
          <a:prstGeom prst="rect">
            <a:avLst/>
          </a:prstGeom>
        </p:spPr>
      </p:pic>
      <p:sp>
        <p:nvSpPr>
          <p:cNvPr id="12" name="num-104"/>
          <p:cNvSpPr/>
          <p:nvPr/>
        </p:nvSpPr>
        <p:spPr>
          <a:xfrm>
            <a:off x="4096512" y="1371600"/>
            <a:ext cx="384048" cy="384048"/>
          </a:xfrm>
          <a:prstGeom prst="ellipse">
            <a:avLst/>
          </a:prstGeom>
          <a:solidFill>
            <a:schemeClr val="accent5"/>
          </a:solidFill>
          <a:ln/>
        </p:spPr>
      </p:sp>
      <p:sp>
        <p:nvSpPr>
          <p:cNvPr id="13" name="text-105"/>
          <p:cNvSpPr txBox="1"/>
          <p:nvPr/>
        </p:nvSpPr>
        <p:spPr>
          <a:xfrm>
            <a:off x="4096512" y="137160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4" name="text-106"/>
          <p:cNvSpPr txBox="1"/>
          <p:nvPr/>
        </p:nvSpPr>
        <p:spPr>
          <a:xfrm>
            <a:off x="2852928" y="2697480"/>
            <a:ext cx="2029968" cy="411480"/>
          </a:xfrm>
          <a:prstGeom prst="rect">
            <a:avLst/>
          </a:prstGeom>
          <a:noFill/>
          <a:ln/>
        </p:spPr>
        <p:txBody>
          <a:bodyPr wrap="square" lIns="0" tIns="0" rIns="0" bIns="0" rtlCol="0" anchor="t"/>
          <a:lstStyle/>
          <a:p>
            <a:pPr algn="ctr" indent="0" marL="0">
              <a:buNone/>
            </a:pPr>
            <a:r>
              <a:rPr lang="en-US" sz="1800" b="1" dirty="0">
                <a:solidFill>
                  <a:schemeClr val="bg1"/>
                </a:solidFill>
              </a:rPr>
              <a:t>Check the budget</a:t>
            </a:r>
            <a:endParaRPr lang="en-US" sz="1800" dirty="0"/>
          </a:p>
        </p:txBody>
      </p:sp>
      <p:sp>
        <p:nvSpPr>
          <p:cNvPr id="15" name="text-107"/>
          <p:cNvSpPr txBox="1"/>
          <p:nvPr/>
        </p:nvSpPr>
        <p:spPr>
          <a:xfrm>
            <a:off x="2944368" y="3154680"/>
            <a:ext cx="1847088" cy="1005840"/>
          </a:xfrm>
          <a:prstGeom prst="rect">
            <a:avLst/>
          </a:prstGeom>
          <a:noFill/>
          <a:ln/>
        </p:spPr>
        <p:txBody>
          <a:bodyPr wrap="square" lIns="0" tIns="0" rIns="0" bIns="0" rtlCol="0" anchor="t"/>
          <a:lstStyle/>
          <a:p>
            <a:pPr algn="ctr" indent="0" marL="0">
              <a:buNone/>
            </a:pPr>
            <a:r>
              <a:rPr lang="en-US" sz="1400" dirty="0">
                <a:solidFill>
                  <a:schemeClr val="bg2"/>
                </a:solidFill>
              </a:rPr>
              <a:t>Can the ledger cover the expensive model, even in the worst case?</a:t>
            </a:r>
            <a:endParaRPr lang="en-US" sz="1400" dirty="0"/>
          </a:p>
        </p:txBody>
      </p:sp>
      <p:sp>
        <p:nvSpPr>
          <p:cNvPr id="16" name="arrow-108"/>
          <p:cNvSpPr/>
          <p:nvPr/>
        </p:nvSpPr>
        <p:spPr>
          <a:xfrm>
            <a:off x="4553712" y="2011680"/>
            <a:ext cx="841248" cy="914"/>
          </a:xfrm>
          <a:prstGeom prst="line">
            <a:avLst/>
          </a:prstGeom>
          <a:noFill/>
          <a:ln w="25400">
            <a:solidFill>
              <a:schemeClr val="accent1"/>
            </a:solidFill>
            <a:prstDash val="solid"/>
            <a:tailEnd type="triangle"/>
          </a:ln>
        </p:spPr>
      </p:sp>
      <p:sp>
        <p:nvSpPr>
          <p:cNvPr id="17" name="icon-bg-109"/>
          <p:cNvSpPr/>
          <p:nvPr/>
        </p:nvSpPr>
        <p:spPr>
          <a:xfrm>
            <a:off x="5532120" y="1463040"/>
            <a:ext cx="1097280" cy="1097280"/>
          </a:xfrm>
          <a:prstGeom prst="ellipse">
            <a:avLst/>
          </a:prstGeom>
          <a:solidFill>
            <a:schemeClr val="accent2">
              <a:alpha val="22000"/>
            </a:schemeClr>
          </a:solidFill>
          <a:ln/>
        </p:spPr>
      </p:sp>
      <p:pic>
        <p:nvPicPr>
          <p:cNvPr id="18" name="icon-110" descr="preencoded.png">    </p:cNvPr>
          <p:cNvPicPr>
            <a:picLocks noChangeAspect="1"/>
          </p:cNvPicPr>
          <p:nvPr/>
        </p:nvPicPr>
        <p:blipFill>
          <a:blip r:embed="rId3"/>
          <a:stretch>
            <a:fillRect/>
          </a:stretch>
        </p:blipFill>
        <p:spPr>
          <a:xfrm>
            <a:off x="5806440" y="1737360"/>
            <a:ext cx="548640" cy="548640"/>
          </a:xfrm>
          <a:prstGeom prst="rect">
            <a:avLst/>
          </a:prstGeom>
        </p:spPr>
      </p:pic>
      <p:sp>
        <p:nvSpPr>
          <p:cNvPr id="19" name="num-111"/>
          <p:cNvSpPr/>
          <p:nvPr/>
        </p:nvSpPr>
        <p:spPr>
          <a:xfrm>
            <a:off x="6309360" y="1371600"/>
            <a:ext cx="384048" cy="384048"/>
          </a:xfrm>
          <a:prstGeom prst="ellipse">
            <a:avLst/>
          </a:prstGeom>
          <a:solidFill>
            <a:schemeClr val="accent2"/>
          </a:solidFill>
          <a:ln/>
        </p:spPr>
      </p:sp>
      <p:sp>
        <p:nvSpPr>
          <p:cNvPr id="20" name="text-112"/>
          <p:cNvSpPr txBox="1"/>
          <p:nvPr/>
        </p:nvSpPr>
        <p:spPr>
          <a:xfrm>
            <a:off x="6309360" y="137160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1" name="text-113"/>
          <p:cNvSpPr txBox="1"/>
          <p:nvPr/>
        </p:nvSpPr>
        <p:spPr>
          <a:xfrm>
            <a:off x="5065776" y="2697480"/>
            <a:ext cx="2029968" cy="411480"/>
          </a:xfrm>
          <a:prstGeom prst="rect">
            <a:avLst/>
          </a:prstGeom>
          <a:noFill/>
          <a:ln/>
        </p:spPr>
        <p:txBody>
          <a:bodyPr wrap="square" lIns="0" tIns="0" rIns="0" bIns="0" rtlCol="0" anchor="t"/>
          <a:lstStyle/>
          <a:p>
            <a:pPr algn="ctr" indent="0" marL="0">
              <a:buNone/>
            </a:pPr>
            <a:r>
              <a:rPr lang="en-US" sz="1800" b="1" dirty="0">
                <a:solidFill>
                  <a:schemeClr val="bg1"/>
                </a:solidFill>
              </a:rPr>
              <a:t>Route</a:t>
            </a:r>
            <a:endParaRPr lang="en-US" sz="1800" dirty="0"/>
          </a:p>
        </p:txBody>
      </p:sp>
      <p:sp>
        <p:nvSpPr>
          <p:cNvPr id="22" name="text-114"/>
          <p:cNvSpPr txBox="1"/>
          <p:nvPr/>
        </p:nvSpPr>
        <p:spPr>
          <a:xfrm>
            <a:off x="5157216" y="3154680"/>
            <a:ext cx="1847088" cy="1005840"/>
          </a:xfrm>
          <a:prstGeom prst="rect">
            <a:avLst/>
          </a:prstGeom>
          <a:noFill/>
          <a:ln/>
        </p:spPr>
        <p:txBody>
          <a:bodyPr wrap="square" lIns="0" tIns="0" rIns="0" bIns="0" rtlCol="0" anchor="t"/>
          <a:lstStyle/>
          <a:p>
            <a:pPr algn="ctr" indent="0" marL="0">
              <a:buNone/>
            </a:pPr>
            <a:r>
              <a:rPr lang="en-US" sz="1400" dirty="0">
                <a:solidFill>
                  <a:schemeClr val="bg2"/>
                </a:solidFill>
              </a:rPr>
              <a:t>Score above the threshold and affordable → expensive; otherwise cheap</a:t>
            </a:r>
            <a:endParaRPr lang="en-US" sz="1400" dirty="0"/>
          </a:p>
        </p:txBody>
      </p:sp>
      <p:sp>
        <p:nvSpPr>
          <p:cNvPr id="23" name="arrow-115"/>
          <p:cNvSpPr/>
          <p:nvPr/>
        </p:nvSpPr>
        <p:spPr>
          <a:xfrm>
            <a:off x="6766560" y="2011680"/>
            <a:ext cx="841248" cy="914"/>
          </a:xfrm>
          <a:prstGeom prst="line">
            <a:avLst/>
          </a:prstGeom>
          <a:noFill/>
          <a:ln w="25400">
            <a:solidFill>
              <a:schemeClr val="accent1"/>
            </a:solidFill>
            <a:prstDash val="solid"/>
            <a:tailEnd type="triangle"/>
          </a:ln>
        </p:spPr>
      </p:sp>
      <p:sp>
        <p:nvSpPr>
          <p:cNvPr id="24" name="icon-bg-116"/>
          <p:cNvSpPr/>
          <p:nvPr/>
        </p:nvSpPr>
        <p:spPr>
          <a:xfrm>
            <a:off x="7744968" y="1463040"/>
            <a:ext cx="1097280" cy="1097280"/>
          </a:xfrm>
          <a:prstGeom prst="ellipse">
            <a:avLst/>
          </a:prstGeom>
          <a:solidFill>
            <a:schemeClr val="accent3">
              <a:alpha val="22000"/>
            </a:schemeClr>
          </a:solidFill>
          <a:ln/>
        </p:spPr>
      </p:sp>
      <p:pic>
        <p:nvPicPr>
          <p:cNvPr id="25" name="icon-117" descr="preencoded.png">    </p:cNvPr>
          <p:cNvPicPr>
            <a:picLocks noChangeAspect="1"/>
          </p:cNvPicPr>
          <p:nvPr/>
        </p:nvPicPr>
        <p:blipFill>
          <a:blip r:embed="rId4"/>
          <a:stretch>
            <a:fillRect/>
          </a:stretch>
        </p:blipFill>
        <p:spPr>
          <a:xfrm>
            <a:off x="8019288" y="1737360"/>
            <a:ext cx="548640" cy="548640"/>
          </a:xfrm>
          <a:prstGeom prst="rect">
            <a:avLst/>
          </a:prstGeom>
        </p:spPr>
      </p:pic>
      <p:sp>
        <p:nvSpPr>
          <p:cNvPr id="26" name="num-118"/>
          <p:cNvSpPr/>
          <p:nvPr/>
        </p:nvSpPr>
        <p:spPr>
          <a:xfrm>
            <a:off x="8522208" y="1371600"/>
            <a:ext cx="384048" cy="384048"/>
          </a:xfrm>
          <a:prstGeom prst="ellipse">
            <a:avLst/>
          </a:prstGeom>
          <a:solidFill>
            <a:schemeClr val="accent3"/>
          </a:solidFill>
          <a:ln/>
        </p:spPr>
      </p:sp>
      <p:sp>
        <p:nvSpPr>
          <p:cNvPr id="27" name="text-119"/>
          <p:cNvSpPr txBox="1"/>
          <p:nvPr/>
        </p:nvSpPr>
        <p:spPr>
          <a:xfrm>
            <a:off x="8522208" y="137160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8" name="text-120"/>
          <p:cNvSpPr txBox="1"/>
          <p:nvPr/>
        </p:nvSpPr>
        <p:spPr>
          <a:xfrm>
            <a:off x="7278624" y="2697480"/>
            <a:ext cx="2029968" cy="411480"/>
          </a:xfrm>
          <a:prstGeom prst="rect">
            <a:avLst/>
          </a:prstGeom>
          <a:noFill/>
          <a:ln/>
        </p:spPr>
        <p:txBody>
          <a:bodyPr wrap="square" lIns="0" tIns="0" rIns="0" bIns="0" rtlCol="0" anchor="t"/>
          <a:lstStyle/>
          <a:p>
            <a:pPr algn="ctr" indent="0" marL="0">
              <a:buNone/>
            </a:pPr>
            <a:r>
              <a:rPr lang="en-US" sz="1800" b="1" dirty="0">
                <a:solidFill>
                  <a:schemeClr val="bg1"/>
                </a:solidFill>
              </a:rPr>
              <a:t>Validate</a:t>
            </a:r>
            <a:endParaRPr lang="en-US" sz="1800" dirty="0"/>
          </a:p>
        </p:txBody>
      </p:sp>
      <p:sp>
        <p:nvSpPr>
          <p:cNvPr id="29" name="text-121"/>
          <p:cNvSpPr txBox="1"/>
          <p:nvPr/>
        </p:nvSpPr>
        <p:spPr>
          <a:xfrm>
            <a:off x="7370064" y="3154680"/>
            <a:ext cx="1847088" cy="1005840"/>
          </a:xfrm>
          <a:prstGeom prst="rect">
            <a:avLst/>
          </a:prstGeom>
          <a:noFill/>
          <a:ln/>
        </p:spPr>
        <p:txBody>
          <a:bodyPr wrap="square" lIns="0" tIns="0" rIns="0" bIns="0" rtlCol="0" anchor="t"/>
          <a:lstStyle/>
          <a:p>
            <a:pPr algn="ctr" indent="0" marL="0">
              <a:buNone/>
            </a:pPr>
            <a:r>
              <a:rPr lang="en-US" sz="1400" dirty="0">
                <a:solidFill>
                  <a:schemeClr val="bg2"/>
                </a:solidFill>
              </a:rPr>
              <a:t>Empty or malformed cheap answer → retry once on the expensive model</a:t>
            </a:r>
            <a:endParaRPr lang="en-US" sz="1400" dirty="0"/>
          </a:p>
        </p:txBody>
      </p:sp>
      <p:sp>
        <p:nvSpPr>
          <p:cNvPr id="30" name="arrow-122"/>
          <p:cNvSpPr/>
          <p:nvPr/>
        </p:nvSpPr>
        <p:spPr>
          <a:xfrm>
            <a:off x="8979408" y="2011680"/>
            <a:ext cx="841248" cy="914"/>
          </a:xfrm>
          <a:prstGeom prst="line">
            <a:avLst/>
          </a:prstGeom>
          <a:noFill/>
          <a:ln w="25400">
            <a:solidFill>
              <a:schemeClr val="accent1"/>
            </a:solidFill>
            <a:prstDash val="solid"/>
            <a:tailEnd type="triangle"/>
          </a:ln>
        </p:spPr>
      </p:sp>
      <p:sp>
        <p:nvSpPr>
          <p:cNvPr id="31" name="icon-bg-123"/>
          <p:cNvSpPr/>
          <p:nvPr/>
        </p:nvSpPr>
        <p:spPr>
          <a:xfrm>
            <a:off x="9957816" y="1463040"/>
            <a:ext cx="1097280" cy="1097280"/>
          </a:xfrm>
          <a:prstGeom prst="ellipse">
            <a:avLst/>
          </a:prstGeom>
          <a:solidFill>
            <a:schemeClr val="accent4">
              <a:alpha val="22000"/>
            </a:schemeClr>
          </a:solidFill>
          <a:ln/>
        </p:spPr>
      </p:sp>
      <p:pic>
        <p:nvPicPr>
          <p:cNvPr id="32" name="icon-124" descr="preencoded.png">    </p:cNvPr>
          <p:cNvPicPr>
            <a:picLocks noChangeAspect="1"/>
          </p:cNvPicPr>
          <p:nvPr/>
        </p:nvPicPr>
        <p:blipFill>
          <a:blip r:embed="rId5"/>
          <a:stretch>
            <a:fillRect/>
          </a:stretch>
        </p:blipFill>
        <p:spPr>
          <a:xfrm>
            <a:off x="10232136" y="1737360"/>
            <a:ext cx="548640" cy="548640"/>
          </a:xfrm>
          <a:prstGeom prst="rect">
            <a:avLst/>
          </a:prstGeom>
        </p:spPr>
      </p:pic>
      <p:sp>
        <p:nvSpPr>
          <p:cNvPr id="33" name="num-125"/>
          <p:cNvSpPr/>
          <p:nvPr/>
        </p:nvSpPr>
        <p:spPr>
          <a:xfrm>
            <a:off x="10735056" y="1371600"/>
            <a:ext cx="384048" cy="384048"/>
          </a:xfrm>
          <a:prstGeom prst="ellipse">
            <a:avLst/>
          </a:prstGeom>
          <a:solidFill>
            <a:schemeClr val="accent4"/>
          </a:solidFill>
          <a:ln/>
        </p:spPr>
      </p:sp>
      <p:sp>
        <p:nvSpPr>
          <p:cNvPr id="34" name="text-126"/>
          <p:cNvSpPr txBox="1"/>
          <p:nvPr/>
        </p:nvSpPr>
        <p:spPr>
          <a:xfrm>
            <a:off x="10735056" y="137160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5" name="text-127"/>
          <p:cNvSpPr txBox="1"/>
          <p:nvPr/>
        </p:nvSpPr>
        <p:spPr>
          <a:xfrm>
            <a:off x="9491472" y="2697480"/>
            <a:ext cx="2029968" cy="411480"/>
          </a:xfrm>
          <a:prstGeom prst="rect">
            <a:avLst/>
          </a:prstGeom>
          <a:noFill/>
          <a:ln/>
        </p:spPr>
        <p:txBody>
          <a:bodyPr wrap="square" lIns="0" tIns="0" rIns="0" bIns="0" rtlCol="0" anchor="t"/>
          <a:lstStyle/>
          <a:p>
            <a:pPr algn="ctr" indent="0" marL="0">
              <a:buNone/>
            </a:pPr>
            <a:r>
              <a:rPr lang="en-US" sz="1800" b="1" dirty="0">
                <a:solidFill>
                  <a:schemeClr val="bg1"/>
                </a:solidFill>
              </a:rPr>
              <a:t>Charge &amp; log</a:t>
            </a:r>
            <a:endParaRPr lang="en-US" sz="1800" dirty="0"/>
          </a:p>
        </p:txBody>
      </p:sp>
      <p:sp>
        <p:nvSpPr>
          <p:cNvPr id="36" name="text-128"/>
          <p:cNvSpPr txBox="1"/>
          <p:nvPr/>
        </p:nvSpPr>
        <p:spPr>
          <a:xfrm>
            <a:off x="9582912" y="3154680"/>
            <a:ext cx="1847088" cy="1005840"/>
          </a:xfrm>
          <a:prstGeom prst="rect">
            <a:avLst/>
          </a:prstGeom>
          <a:noFill/>
          <a:ln/>
        </p:spPr>
        <p:txBody>
          <a:bodyPr wrap="square" lIns="0" tIns="0" rIns="0" bIns="0" rtlCol="0" anchor="t"/>
          <a:lstStyle/>
          <a:p>
            <a:pPr algn="ctr" indent="0" marL="0">
              <a:buNone/>
            </a:pPr>
            <a:r>
              <a:rPr lang="en-US" sz="1400" dirty="0">
                <a:solidFill>
                  <a:schemeClr val="bg2"/>
                </a:solidFill>
              </a:rPr>
              <a:t>Real token cost goes to the ledger; the decision goes to SQLite</a:t>
            </a:r>
            <a:endParaRPr lang="en-US" sz="1400" dirty="0"/>
          </a:p>
        </p:txBody>
      </p:sp>
      <p:sp>
        <p:nvSpPr>
          <p:cNvPr id="37" name="example-129"/>
          <p:cNvSpPr/>
          <p:nvPr/>
        </p:nvSpPr>
        <p:spPr>
          <a:xfrm>
            <a:off x="548640" y="4526280"/>
            <a:ext cx="11064240" cy="1600200"/>
          </a:xfrm>
          <a:prstGeom prst="roundRect">
            <a:avLst>
              <a:gd name="adj" fmla="val 6857"/>
            </a:avLst>
          </a:prstGeom>
          <a:solidFill>
            <a:schemeClr val="tx2"/>
          </a:solidFill>
          <a:ln/>
        </p:spPr>
      </p:sp>
      <p:sp>
        <p:nvSpPr>
          <p:cNvPr id="38" name="text-130"/>
          <p:cNvSpPr txBox="1"/>
          <p:nvPr/>
        </p:nvSpPr>
        <p:spPr>
          <a:xfrm>
            <a:off x="822960" y="4663440"/>
            <a:ext cx="10515600" cy="365760"/>
          </a:xfrm>
          <a:prstGeom prst="rect">
            <a:avLst/>
          </a:prstGeom>
          <a:noFill/>
          <a:ln/>
        </p:spPr>
        <p:txBody>
          <a:bodyPr wrap="square" lIns="0" tIns="0" rIns="0" bIns="0" rtlCol="0" anchor="t"/>
          <a:lstStyle/>
          <a:p>
            <a:pPr indent="0" marL="0">
              <a:buNone/>
            </a:pPr>
            <a:r>
              <a:rPr lang="en-US" sz="1500" b="1" dirty="0">
                <a:solidFill>
                  <a:schemeClr val="bg1"/>
                </a:solidFill>
              </a:rPr>
              <a:t>Example from the live demo — “What's the cheapest way to buy 22 pens?”</a:t>
            </a:r>
            <a:endParaRPr lang="en-US" sz="1500" dirty="0"/>
          </a:p>
        </p:txBody>
      </p:sp>
      <p:sp>
        <p:nvSpPr>
          <p:cNvPr id="39" name="chip-131"/>
          <p:cNvSpPr/>
          <p:nvPr/>
        </p:nvSpPr>
        <p:spPr>
          <a:xfrm>
            <a:off x="822960" y="5257800"/>
            <a:ext cx="1234440" cy="502920"/>
          </a:xfrm>
          <a:prstGeom prst="roundRect">
            <a:avLst>
              <a:gd name="adj" fmla="val 50000"/>
            </a:avLst>
          </a:prstGeom>
          <a:solidFill>
            <a:schemeClr val="accent1">
              <a:alpha val="20000"/>
            </a:schemeClr>
          </a:solidFill>
          <a:ln/>
        </p:spPr>
      </p:sp>
      <p:sp>
        <p:nvSpPr>
          <p:cNvPr id="40" name="chip-text-132"/>
          <p:cNvSpPr txBox="1"/>
          <p:nvPr/>
        </p:nvSpPr>
        <p:spPr>
          <a:xfrm>
            <a:off x="822960" y="5257800"/>
            <a:ext cx="1234440" cy="502920"/>
          </a:xfrm>
          <a:prstGeom prst="rect">
            <a:avLst/>
          </a:prstGeom>
          <a:noFill/>
          <a:ln/>
        </p:spPr>
        <p:txBody>
          <a:bodyPr wrap="square" lIns="0" tIns="0" rIns="0" bIns="0" rtlCol="0" anchor="ctr"/>
          <a:lstStyle/>
          <a:p>
            <a:pPr algn="ctr" indent="0" marL="0">
              <a:buNone/>
            </a:pPr>
            <a:r>
              <a:rPr lang="en-US" sz="1300" b="1" dirty="0">
                <a:solidFill>
                  <a:schemeClr val="bg1"/>
                </a:solidFill>
              </a:rPr>
              <a:t>score 0.54</a:t>
            </a:r>
            <a:endParaRPr lang="en-US" sz="1300" dirty="0"/>
          </a:p>
        </p:txBody>
      </p:sp>
      <p:sp>
        <p:nvSpPr>
          <p:cNvPr id="41" name="arrow-133"/>
          <p:cNvSpPr/>
          <p:nvPr/>
        </p:nvSpPr>
        <p:spPr>
          <a:xfrm>
            <a:off x="2084832" y="5509260"/>
            <a:ext cx="146304" cy="914"/>
          </a:xfrm>
          <a:prstGeom prst="line">
            <a:avLst/>
          </a:prstGeom>
          <a:noFill/>
          <a:ln w="19050">
            <a:solidFill>
              <a:schemeClr val="accent1"/>
            </a:solidFill>
            <a:prstDash val="solid"/>
            <a:tailEnd type="triangle"/>
          </a:ln>
        </p:spPr>
      </p:sp>
      <p:sp>
        <p:nvSpPr>
          <p:cNvPr id="42" name="chip-134"/>
          <p:cNvSpPr/>
          <p:nvPr/>
        </p:nvSpPr>
        <p:spPr>
          <a:xfrm>
            <a:off x="2258568" y="5257800"/>
            <a:ext cx="1645920" cy="502920"/>
          </a:xfrm>
          <a:prstGeom prst="roundRect">
            <a:avLst>
              <a:gd name="adj" fmla="val 50000"/>
            </a:avLst>
          </a:prstGeom>
          <a:solidFill>
            <a:schemeClr val="accent1">
              <a:alpha val="20000"/>
            </a:schemeClr>
          </a:solidFill>
          <a:ln/>
        </p:spPr>
      </p:sp>
      <p:sp>
        <p:nvSpPr>
          <p:cNvPr id="43" name="chip-text-135"/>
          <p:cNvSpPr txBox="1"/>
          <p:nvPr/>
        </p:nvSpPr>
        <p:spPr>
          <a:xfrm>
            <a:off x="2258568" y="5257800"/>
            <a:ext cx="1645920" cy="502920"/>
          </a:xfrm>
          <a:prstGeom prst="rect">
            <a:avLst/>
          </a:prstGeom>
          <a:noFill/>
          <a:ln/>
        </p:spPr>
        <p:txBody>
          <a:bodyPr wrap="square" lIns="0" tIns="0" rIns="0" bIns="0" rtlCol="0" anchor="ctr"/>
          <a:lstStyle/>
          <a:p>
            <a:pPr algn="ctr" indent="0" marL="0">
              <a:buNone/>
            </a:pPr>
            <a:r>
              <a:rPr lang="en-US" sz="1300" b="1" dirty="0">
                <a:solidFill>
                  <a:schemeClr val="bg1"/>
                </a:solidFill>
              </a:rPr>
              <a:t>&gt; threshold 0.30</a:t>
            </a:r>
            <a:endParaRPr lang="en-US" sz="1300" dirty="0"/>
          </a:p>
        </p:txBody>
      </p:sp>
      <p:sp>
        <p:nvSpPr>
          <p:cNvPr id="44" name="arrow-136"/>
          <p:cNvSpPr/>
          <p:nvPr/>
        </p:nvSpPr>
        <p:spPr>
          <a:xfrm>
            <a:off x="3931920" y="5509260"/>
            <a:ext cx="146304" cy="914"/>
          </a:xfrm>
          <a:prstGeom prst="line">
            <a:avLst/>
          </a:prstGeom>
          <a:noFill/>
          <a:ln w="19050">
            <a:solidFill>
              <a:schemeClr val="accent1"/>
            </a:solidFill>
            <a:prstDash val="solid"/>
            <a:tailEnd type="triangle"/>
          </a:ln>
        </p:spPr>
      </p:sp>
      <p:sp>
        <p:nvSpPr>
          <p:cNvPr id="45" name="chip-137"/>
          <p:cNvSpPr/>
          <p:nvPr/>
        </p:nvSpPr>
        <p:spPr>
          <a:xfrm>
            <a:off x="4105656" y="5257800"/>
            <a:ext cx="1188720" cy="502920"/>
          </a:xfrm>
          <a:prstGeom prst="roundRect">
            <a:avLst>
              <a:gd name="adj" fmla="val 50000"/>
            </a:avLst>
          </a:prstGeom>
          <a:solidFill>
            <a:schemeClr val="accent5">
              <a:alpha val="20000"/>
            </a:schemeClr>
          </a:solidFill>
          <a:ln/>
        </p:spPr>
      </p:sp>
      <p:sp>
        <p:nvSpPr>
          <p:cNvPr id="46" name="chip-text-138"/>
          <p:cNvSpPr txBox="1"/>
          <p:nvPr/>
        </p:nvSpPr>
        <p:spPr>
          <a:xfrm>
            <a:off x="4105656" y="5257800"/>
            <a:ext cx="1188720" cy="502920"/>
          </a:xfrm>
          <a:prstGeom prst="rect">
            <a:avLst/>
          </a:prstGeom>
          <a:noFill/>
          <a:ln/>
        </p:spPr>
        <p:txBody>
          <a:bodyPr wrap="square" lIns="0" tIns="0" rIns="0" bIns="0" rtlCol="0" anchor="ctr"/>
          <a:lstStyle/>
          <a:p>
            <a:pPr algn="ctr" indent="0" marL="0">
              <a:buNone/>
            </a:pPr>
            <a:r>
              <a:rPr lang="en-US" sz="1300" b="1" dirty="0">
                <a:solidFill>
                  <a:schemeClr val="bg1"/>
                </a:solidFill>
              </a:rPr>
              <a:t>budget OK</a:t>
            </a:r>
            <a:endParaRPr lang="en-US" sz="1300" dirty="0"/>
          </a:p>
        </p:txBody>
      </p:sp>
      <p:sp>
        <p:nvSpPr>
          <p:cNvPr id="47" name="arrow-139"/>
          <p:cNvSpPr/>
          <p:nvPr/>
        </p:nvSpPr>
        <p:spPr>
          <a:xfrm>
            <a:off x="5321808" y="5509260"/>
            <a:ext cx="146304" cy="914"/>
          </a:xfrm>
          <a:prstGeom prst="line">
            <a:avLst/>
          </a:prstGeom>
          <a:noFill/>
          <a:ln w="19050">
            <a:solidFill>
              <a:schemeClr val="accent1"/>
            </a:solidFill>
            <a:prstDash val="solid"/>
            <a:tailEnd type="triangle"/>
          </a:ln>
        </p:spPr>
      </p:sp>
      <p:sp>
        <p:nvSpPr>
          <p:cNvPr id="48" name="chip-140"/>
          <p:cNvSpPr/>
          <p:nvPr/>
        </p:nvSpPr>
        <p:spPr>
          <a:xfrm>
            <a:off x="5495544" y="5257800"/>
            <a:ext cx="2468880" cy="502920"/>
          </a:xfrm>
          <a:prstGeom prst="roundRect">
            <a:avLst>
              <a:gd name="adj" fmla="val 50000"/>
            </a:avLst>
          </a:prstGeom>
          <a:solidFill>
            <a:schemeClr val="accent3">
              <a:alpha val="20000"/>
            </a:schemeClr>
          </a:solidFill>
          <a:ln/>
        </p:spPr>
      </p:sp>
      <p:sp>
        <p:nvSpPr>
          <p:cNvPr id="49" name="chip-text-141"/>
          <p:cNvSpPr txBox="1"/>
          <p:nvPr/>
        </p:nvSpPr>
        <p:spPr>
          <a:xfrm>
            <a:off x="5495544" y="5257800"/>
            <a:ext cx="2468880" cy="502920"/>
          </a:xfrm>
          <a:prstGeom prst="rect">
            <a:avLst/>
          </a:prstGeom>
          <a:noFill/>
          <a:ln/>
        </p:spPr>
        <p:txBody>
          <a:bodyPr wrap="square" lIns="0" tIns="0" rIns="0" bIns="0" rtlCol="0" anchor="ctr"/>
          <a:lstStyle/>
          <a:p>
            <a:pPr algn="ctr" indent="0" marL="0">
              <a:buNone/>
            </a:pPr>
            <a:r>
              <a:rPr lang="en-US" sz="1300" b="1" dirty="0">
                <a:solidFill>
                  <a:schemeClr val="bg1"/>
                </a:solidFill>
              </a:rPr>
              <a:t>EXPENSIVE · gpt-oss-120b</a:t>
            </a:r>
            <a:endParaRPr lang="en-US" sz="1300" dirty="0"/>
          </a:p>
        </p:txBody>
      </p:sp>
      <p:sp>
        <p:nvSpPr>
          <p:cNvPr id="50" name="arrow-142"/>
          <p:cNvSpPr/>
          <p:nvPr/>
        </p:nvSpPr>
        <p:spPr>
          <a:xfrm>
            <a:off x="7991856" y="5509260"/>
            <a:ext cx="146304" cy="914"/>
          </a:xfrm>
          <a:prstGeom prst="line">
            <a:avLst/>
          </a:prstGeom>
          <a:noFill/>
          <a:ln w="19050">
            <a:solidFill>
              <a:schemeClr val="accent1"/>
            </a:solidFill>
            <a:prstDash val="solid"/>
            <a:tailEnd type="triangle"/>
          </a:ln>
        </p:spPr>
      </p:sp>
      <p:sp>
        <p:nvSpPr>
          <p:cNvPr id="51" name="chip-143"/>
          <p:cNvSpPr/>
          <p:nvPr/>
        </p:nvSpPr>
        <p:spPr>
          <a:xfrm>
            <a:off x="8165592" y="5257800"/>
            <a:ext cx="1234440" cy="502920"/>
          </a:xfrm>
          <a:prstGeom prst="roundRect">
            <a:avLst>
              <a:gd name="adj" fmla="val 50000"/>
            </a:avLst>
          </a:prstGeom>
          <a:solidFill>
            <a:schemeClr val="accent2">
              <a:alpha val="20000"/>
            </a:schemeClr>
          </a:solidFill>
          <a:ln/>
        </p:spPr>
      </p:sp>
      <p:sp>
        <p:nvSpPr>
          <p:cNvPr id="52" name="chip-text-144"/>
          <p:cNvSpPr txBox="1"/>
          <p:nvPr/>
        </p:nvSpPr>
        <p:spPr>
          <a:xfrm>
            <a:off x="8165592" y="5257800"/>
            <a:ext cx="1234440" cy="502920"/>
          </a:xfrm>
          <a:prstGeom prst="rect">
            <a:avLst/>
          </a:prstGeom>
          <a:noFill/>
          <a:ln/>
        </p:spPr>
        <p:txBody>
          <a:bodyPr wrap="square" lIns="0" tIns="0" rIns="0" bIns="0" rtlCol="0" anchor="ctr"/>
          <a:lstStyle/>
          <a:p>
            <a:pPr algn="ctr" indent="0" marL="0">
              <a:buNone/>
            </a:pPr>
            <a:r>
              <a:rPr lang="en-US" sz="1300" b="1" dirty="0">
                <a:solidFill>
                  <a:schemeClr val="bg1"/>
                </a:solidFill>
              </a:rPr>
              <a:t>valid: $56</a:t>
            </a:r>
            <a:endParaRPr lang="en-US" sz="1300" dirty="0"/>
          </a:p>
        </p:txBody>
      </p:sp>
      <p:sp>
        <p:nvSpPr>
          <p:cNvPr id="53" name="arrow-145"/>
          <p:cNvSpPr/>
          <p:nvPr/>
        </p:nvSpPr>
        <p:spPr>
          <a:xfrm>
            <a:off x="9427464" y="5509260"/>
            <a:ext cx="146304" cy="914"/>
          </a:xfrm>
          <a:prstGeom prst="line">
            <a:avLst/>
          </a:prstGeom>
          <a:noFill/>
          <a:ln w="19050">
            <a:solidFill>
              <a:schemeClr val="accent1"/>
            </a:solidFill>
            <a:prstDash val="solid"/>
            <a:tailEnd type="triangle"/>
          </a:ln>
        </p:spPr>
      </p:sp>
      <p:sp>
        <p:nvSpPr>
          <p:cNvPr id="54" name="chip-146"/>
          <p:cNvSpPr/>
          <p:nvPr/>
        </p:nvSpPr>
        <p:spPr>
          <a:xfrm>
            <a:off x="9601200" y="5257800"/>
            <a:ext cx="1508760" cy="502920"/>
          </a:xfrm>
          <a:prstGeom prst="roundRect">
            <a:avLst>
              <a:gd name="adj" fmla="val 50000"/>
            </a:avLst>
          </a:prstGeom>
          <a:solidFill>
            <a:schemeClr val="accent4">
              <a:alpha val="20000"/>
            </a:schemeClr>
          </a:solidFill>
          <a:ln/>
        </p:spPr>
      </p:sp>
      <p:sp>
        <p:nvSpPr>
          <p:cNvPr id="55" name="chip-text-147"/>
          <p:cNvSpPr txBox="1"/>
          <p:nvPr/>
        </p:nvSpPr>
        <p:spPr>
          <a:xfrm>
            <a:off x="9601200" y="5257800"/>
            <a:ext cx="1508760" cy="502920"/>
          </a:xfrm>
          <a:prstGeom prst="rect">
            <a:avLst/>
          </a:prstGeom>
          <a:noFill/>
          <a:ln/>
        </p:spPr>
        <p:txBody>
          <a:bodyPr wrap="square" lIns="0" tIns="0" rIns="0" bIns="0" rtlCol="0" anchor="ctr"/>
          <a:lstStyle/>
          <a:p>
            <a:pPr algn="ctr" indent="0" marL="0">
              <a:buNone/>
            </a:pPr>
            <a:r>
              <a:rPr lang="en-US" sz="1300" b="1" dirty="0">
                <a:solidFill>
                  <a:schemeClr val="bg1"/>
                </a:solidFill>
              </a:rPr>
              <a:t>cost $0.00066</a:t>
            </a:r>
            <a:endParaRPr lang="en-US" sz="13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AB3C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bg1"/>
                </a:solidFill>
              </a:rPr>
              <a:t>Difficulty: three cheap signals, scored in under 1 ms</a:t>
            </a:r>
            <a:endParaRPr lang="en-US" sz="2800" dirty="0"/>
          </a:p>
        </p:txBody>
      </p:sp>
      <p:sp>
        <p:nvSpPr>
          <p:cNvPr id="3" name="signal-148"/>
          <p:cNvSpPr/>
          <p:nvPr/>
        </p:nvSpPr>
        <p:spPr>
          <a:xfrm>
            <a:off x="548640" y="1417320"/>
            <a:ext cx="4937760" cy="1051560"/>
          </a:xfrm>
          <a:prstGeom prst="roundRect">
            <a:avLst>
              <a:gd name="adj" fmla="val 10435"/>
            </a:avLst>
          </a:prstGeom>
          <a:solidFill>
            <a:schemeClr val="tx2"/>
          </a:solidFill>
          <a:ln/>
        </p:spPr>
      </p:sp>
      <p:sp>
        <p:nvSpPr>
          <p:cNvPr id="4" name="icon-bg-149"/>
          <p:cNvSpPr/>
          <p:nvPr/>
        </p:nvSpPr>
        <p:spPr>
          <a:xfrm>
            <a:off x="731520" y="1600200"/>
            <a:ext cx="685800" cy="685800"/>
          </a:xfrm>
          <a:prstGeom prst="ellipse">
            <a:avLst/>
          </a:prstGeom>
          <a:solidFill>
            <a:schemeClr val="accent1">
              <a:alpha val="22000"/>
            </a:schemeClr>
          </a:solidFill>
          <a:ln/>
        </p:spPr>
      </p:sp>
      <p:pic>
        <p:nvPicPr>
          <p:cNvPr id="5" name="icon-150" descr="preencoded.png">    </p:cNvPr>
          <p:cNvPicPr>
            <a:picLocks noChangeAspect="1"/>
          </p:cNvPicPr>
          <p:nvPr/>
        </p:nvPicPr>
        <p:blipFill>
          <a:blip r:embed="rId1"/>
          <a:stretch>
            <a:fillRect/>
          </a:stretch>
        </p:blipFill>
        <p:spPr>
          <a:xfrm>
            <a:off x="902970" y="1771650"/>
            <a:ext cx="342900" cy="342900"/>
          </a:xfrm>
          <a:prstGeom prst="rect">
            <a:avLst/>
          </a:prstGeom>
        </p:spPr>
      </p:pic>
      <p:sp>
        <p:nvSpPr>
          <p:cNvPr id="6" name="text-151"/>
          <p:cNvSpPr txBox="1"/>
          <p:nvPr/>
        </p:nvSpPr>
        <p:spPr>
          <a:xfrm>
            <a:off x="1600200" y="1554480"/>
            <a:ext cx="2560320" cy="365760"/>
          </a:xfrm>
          <a:prstGeom prst="rect">
            <a:avLst/>
          </a:prstGeom>
          <a:noFill/>
          <a:ln/>
        </p:spPr>
        <p:txBody>
          <a:bodyPr wrap="square" lIns="0" tIns="0" rIns="0" bIns="0" rtlCol="0" anchor="t"/>
          <a:lstStyle/>
          <a:p>
            <a:pPr indent="0" marL="0">
              <a:buNone/>
            </a:pPr>
            <a:r>
              <a:rPr lang="en-US" sz="1700" b="1" dirty="0">
                <a:solidFill>
                  <a:schemeClr val="bg1"/>
                </a:solidFill>
              </a:rPr>
              <a:t>Prompt length</a:t>
            </a:r>
            <a:endParaRPr lang="en-US" sz="1700" dirty="0"/>
          </a:p>
        </p:txBody>
      </p:sp>
      <p:sp>
        <p:nvSpPr>
          <p:cNvPr id="7" name="chip-152"/>
          <p:cNvSpPr/>
          <p:nvPr/>
        </p:nvSpPr>
        <p:spPr>
          <a:xfrm>
            <a:off x="4343400" y="1572768"/>
            <a:ext cx="914400" cy="365760"/>
          </a:xfrm>
          <a:prstGeom prst="roundRect">
            <a:avLst>
              <a:gd name="adj" fmla="val 50000"/>
            </a:avLst>
          </a:prstGeom>
          <a:solidFill>
            <a:schemeClr val="accent1">
              <a:alpha val="20000"/>
            </a:schemeClr>
          </a:solidFill>
          <a:ln/>
        </p:spPr>
      </p:sp>
      <p:sp>
        <p:nvSpPr>
          <p:cNvPr id="8" name="chip-text-153"/>
          <p:cNvSpPr txBox="1"/>
          <p:nvPr/>
        </p:nvSpPr>
        <p:spPr>
          <a:xfrm>
            <a:off x="4343400" y="1572768"/>
            <a:ext cx="914400" cy="365760"/>
          </a:xfrm>
          <a:prstGeom prst="rect">
            <a:avLst/>
          </a:prstGeom>
          <a:noFill/>
          <a:ln/>
        </p:spPr>
        <p:txBody>
          <a:bodyPr wrap="square" lIns="0" tIns="0" rIns="0" bIns="0" rtlCol="0" anchor="ctr"/>
          <a:lstStyle/>
          <a:p>
            <a:pPr algn="ctr" indent="0" marL="0">
              <a:buNone/>
            </a:pPr>
            <a:r>
              <a:rPr lang="en-US" sz="1400" b="1" dirty="0">
                <a:solidFill>
                  <a:schemeClr val="bg1"/>
                </a:solidFill>
              </a:rPr>
              <a:t>× 0.3</a:t>
            </a:r>
            <a:endParaRPr lang="en-US" sz="1400" dirty="0"/>
          </a:p>
        </p:txBody>
      </p:sp>
      <p:sp>
        <p:nvSpPr>
          <p:cNvPr id="9" name="text-154"/>
          <p:cNvSpPr txBox="1"/>
          <p:nvPr/>
        </p:nvSpPr>
        <p:spPr>
          <a:xfrm>
            <a:off x="1600200" y="1920240"/>
            <a:ext cx="3703320" cy="502920"/>
          </a:xfrm>
          <a:prstGeom prst="rect">
            <a:avLst/>
          </a:prstGeom>
          <a:noFill/>
          <a:ln/>
        </p:spPr>
        <p:txBody>
          <a:bodyPr wrap="square" lIns="0" tIns="0" rIns="0" bIns="0" rtlCol="0" anchor="t"/>
          <a:lstStyle/>
          <a:p>
            <a:pPr indent="0" marL="0">
              <a:buNone/>
            </a:pPr>
            <a:r>
              <a:rPr lang="en-US" sz="1300" dirty="0">
                <a:solidFill>
                  <a:schemeClr val="bg2"/>
                </a:solidFill>
              </a:rPr>
              <a:t>Longer prompts are assumed harder (full marks at 2,000 characters)</a:t>
            </a:r>
            <a:endParaRPr lang="en-US" sz="1300" dirty="0"/>
          </a:p>
        </p:txBody>
      </p:sp>
      <p:sp>
        <p:nvSpPr>
          <p:cNvPr id="10" name="signal-155"/>
          <p:cNvSpPr/>
          <p:nvPr/>
        </p:nvSpPr>
        <p:spPr>
          <a:xfrm>
            <a:off x="548640" y="2624328"/>
            <a:ext cx="4937760" cy="1051560"/>
          </a:xfrm>
          <a:prstGeom prst="roundRect">
            <a:avLst>
              <a:gd name="adj" fmla="val 10435"/>
            </a:avLst>
          </a:prstGeom>
          <a:solidFill>
            <a:schemeClr val="tx2"/>
          </a:solidFill>
          <a:ln/>
        </p:spPr>
      </p:sp>
      <p:sp>
        <p:nvSpPr>
          <p:cNvPr id="11" name="icon-bg-156"/>
          <p:cNvSpPr/>
          <p:nvPr/>
        </p:nvSpPr>
        <p:spPr>
          <a:xfrm>
            <a:off x="731520" y="2807208"/>
            <a:ext cx="685800" cy="685800"/>
          </a:xfrm>
          <a:prstGeom prst="ellipse">
            <a:avLst/>
          </a:prstGeom>
          <a:solidFill>
            <a:schemeClr val="accent4">
              <a:alpha val="22000"/>
            </a:schemeClr>
          </a:solidFill>
          <a:ln/>
        </p:spPr>
      </p:sp>
      <p:pic>
        <p:nvPicPr>
          <p:cNvPr id="12" name="icon-157" descr="preencoded.png">    </p:cNvPr>
          <p:cNvPicPr>
            <a:picLocks noChangeAspect="1"/>
          </p:cNvPicPr>
          <p:nvPr/>
        </p:nvPicPr>
        <p:blipFill>
          <a:blip r:embed="rId2"/>
          <a:stretch>
            <a:fillRect/>
          </a:stretch>
        </p:blipFill>
        <p:spPr>
          <a:xfrm>
            <a:off x="902970" y="2978658"/>
            <a:ext cx="342900" cy="342900"/>
          </a:xfrm>
          <a:prstGeom prst="rect">
            <a:avLst/>
          </a:prstGeom>
        </p:spPr>
      </p:pic>
      <p:sp>
        <p:nvSpPr>
          <p:cNvPr id="13" name="text-158"/>
          <p:cNvSpPr txBox="1"/>
          <p:nvPr/>
        </p:nvSpPr>
        <p:spPr>
          <a:xfrm>
            <a:off x="1600200" y="2761488"/>
            <a:ext cx="2560320" cy="365760"/>
          </a:xfrm>
          <a:prstGeom prst="rect">
            <a:avLst/>
          </a:prstGeom>
          <a:noFill/>
          <a:ln/>
        </p:spPr>
        <p:txBody>
          <a:bodyPr wrap="square" lIns="0" tIns="0" rIns="0" bIns="0" rtlCol="0" anchor="t"/>
          <a:lstStyle/>
          <a:p>
            <a:pPr indent="0" marL="0">
              <a:buNone/>
            </a:pPr>
            <a:r>
              <a:rPr lang="en-US" sz="1700" b="1" dirty="0">
                <a:solidFill>
                  <a:schemeClr val="bg1"/>
                </a:solidFill>
              </a:rPr>
              <a:t>Reasoning words</a:t>
            </a:r>
            <a:endParaRPr lang="en-US" sz="1700" dirty="0"/>
          </a:p>
        </p:txBody>
      </p:sp>
      <p:sp>
        <p:nvSpPr>
          <p:cNvPr id="14" name="chip-159"/>
          <p:cNvSpPr/>
          <p:nvPr/>
        </p:nvSpPr>
        <p:spPr>
          <a:xfrm>
            <a:off x="4343400" y="2779776"/>
            <a:ext cx="914400" cy="365760"/>
          </a:xfrm>
          <a:prstGeom prst="roundRect">
            <a:avLst>
              <a:gd name="adj" fmla="val 50000"/>
            </a:avLst>
          </a:prstGeom>
          <a:solidFill>
            <a:schemeClr val="accent4">
              <a:alpha val="20000"/>
            </a:schemeClr>
          </a:solidFill>
          <a:ln/>
        </p:spPr>
      </p:sp>
      <p:sp>
        <p:nvSpPr>
          <p:cNvPr id="15" name="chip-text-160"/>
          <p:cNvSpPr txBox="1"/>
          <p:nvPr/>
        </p:nvSpPr>
        <p:spPr>
          <a:xfrm>
            <a:off x="4343400" y="2779776"/>
            <a:ext cx="914400" cy="365760"/>
          </a:xfrm>
          <a:prstGeom prst="rect">
            <a:avLst/>
          </a:prstGeom>
          <a:noFill/>
          <a:ln/>
        </p:spPr>
        <p:txBody>
          <a:bodyPr wrap="square" lIns="0" tIns="0" rIns="0" bIns="0" rtlCol="0" anchor="ctr"/>
          <a:lstStyle/>
          <a:p>
            <a:pPr algn="ctr" indent="0" marL="0">
              <a:buNone/>
            </a:pPr>
            <a:r>
              <a:rPr lang="en-US" sz="1400" b="1" dirty="0">
                <a:solidFill>
                  <a:schemeClr val="bg1"/>
                </a:solidFill>
              </a:rPr>
              <a:t>× 0.3</a:t>
            </a:r>
            <a:endParaRPr lang="en-US" sz="1400" dirty="0"/>
          </a:p>
        </p:txBody>
      </p:sp>
      <p:sp>
        <p:nvSpPr>
          <p:cNvPr id="16" name="text-161"/>
          <p:cNvSpPr txBox="1"/>
          <p:nvPr/>
        </p:nvSpPr>
        <p:spPr>
          <a:xfrm>
            <a:off x="1600200" y="3127248"/>
            <a:ext cx="3703320" cy="502920"/>
          </a:xfrm>
          <a:prstGeom prst="rect">
            <a:avLst/>
          </a:prstGeom>
          <a:noFill/>
          <a:ln/>
        </p:spPr>
        <p:txBody>
          <a:bodyPr wrap="square" lIns="0" tIns="0" rIns="0" bIns="0" rtlCol="0" anchor="t"/>
          <a:lstStyle/>
          <a:p>
            <a:pPr indent="0" marL="0">
              <a:buNone/>
            </a:pPr>
            <a:r>
              <a:rPr lang="en-US" sz="1300" dirty="0">
                <a:solidFill>
                  <a:schemeClr val="bg2"/>
                </a:solidFill>
              </a:rPr>
              <a:t>“step by step”, “prove”, “compare”, “justify”… (full marks at 2 different words)</a:t>
            </a:r>
            <a:endParaRPr lang="en-US" sz="1300" dirty="0"/>
          </a:p>
        </p:txBody>
      </p:sp>
      <p:sp>
        <p:nvSpPr>
          <p:cNvPr id="17" name="signal-162"/>
          <p:cNvSpPr/>
          <p:nvPr/>
        </p:nvSpPr>
        <p:spPr>
          <a:xfrm>
            <a:off x="548640" y="3831336"/>
            <a:ext cx="4937760" cy="1051560"/>
          </a:xfrm>
          <a:prstGeom prst="roundRect">
            <a:avLst>
              <a:gd name="adj" fmla="val 10435"/>
            </a:avLst>
          </a:prstGeom>
          <a:solidFill>
            <a:schemeClr val="tx2"/>
          </a:solidFill>
          <a:ln/>
        </p:spPr>
      </p:sp>
      <p:sp>
        <p:nvSpPr>
          <p:cNvPr id="18" name="icon-bg-163"/>
          <p:cNvSpPr/>
          <p:nvPr/>
        </p:nvSpPr>
        <p:spPr>
          <a:xfrm>
            <a:off x="731520" y="4014216"/>
            <a:ext cx="685800" cy="685800"/>
          </a:xfrm>
          <a:prstGeom prst="ellipse">
            <a:avLst/>
          </a:prstGeom>
          <a:solidFill>
            <a:schemeClr val="accent6">
              <a:alpha val="22000"/>
            </a:schemeClr>
          </a:solidFill>
          <a:ln/>
        </p:spPr>
      </p:sp>
      <p:pic>
        <p:nvPicPr>
          <p:cNvPr id="19" name="icon-164" descr="preencoded.png">    </p:cNvPr>
          <p:cNvPicPr>
            <a:picLocks noChangeAspect="1"/>
          </p:cNvPicPr>
          <p:nvPr/>
        </p:nvPicPr>
        <p:blipFill>
          <a:blip r:embed="rId3"/>
          <a:stretch>
            <a:fillRect/>
          </a:stretch>
        </p:blipFill>
        <p:spPr>
          <a:xfrm>
            <a:off x="902970" y="4185666"/>
            <a:ext cx="342900" cy="342900"/>
          </a:xfrm>
          <a:prstGeom prst="rect">
            <a:avLst/>
          </a:prstGeom>
        </p:spPr>
      </p:pic>
      <p:sp>
        <p:nvSpPr>
          <p:cNvPr id="20" name="text-165"/>
          <p:cNvSpPr txBox="1"/>
          <p:nvPr/>
        </p:nvSpPr>
        <p:spPr>
          <a:xfrm>
            <a:off x="1600200" y="3968496"/>
            <a:ext cx="2560320" cy="365760"/>
          </a:xfrm>
          <a:prstGeom prst="rect">
            <a:avLst/>
          </a:prstGeom>
          <a:noFill/>
          <a:ln/>
        </p:spPr>
        <p:txBody>
          <a:bodyPr wrap="square" lIns="0" tIns="0" rIns="0" bIns="0" rtlCol="0" anchor="t"/>
          <a:lstStyle/>
          <a:p>
            <a:pPr indent="0" marL="0">
              <a:buNone/>
            </a:pPr>
            <a:r>
              <a:rPr lang="en-US" sz="1700" b="1" dirty="0">
                <a:solidFill>
                  <a:schemeClr val="bg1"/>
                </a:solidFill>
              </a:rPr>
              <a:t>Failure history</a:t>
            </a:r>
            <a:endParaRPr lang="en-US" sz="1700" dirty="0"/>
          </a:p>
        </p:txBody>
      </p:sp>
      <p:sp>
        <p:nvSpPr>
          <p:cNvPr id="21" name="chip-166"/>
          <p:cNvSpPr/>
          <p:nvPr/>
        </p:nvSpPr>
        <p:spPr>
          <a:xfrm>
            <a:off x="4343400" y="3986784"/>
            <a:ext cx="914400" cy="365760"/>
          </a:xfrm>
          <a:prstGeom prst="roundRect">
            <a:avLst>
              <a:gd name="adj" fmla="val 50000"/>
            </a:avLst>
          </a:prstGeom>
          <a:solidFill>
            <a:schemeClr val="accent6">
              <a:alpha val="20000"/>
            </a:schemeClr>
          </a:solidFill>
          <a:ln/>
        </p:spPr>
      </p:sp>
      <p:sp>
        <p:nvSpPr>
          <p:cNvPr id="22" name="chip-text-167"/>
          <p:cNvSpPr txBox="1"/>
          <p:nvPr/>
        </p:nvSpPr>
        <p:spPr>
          <a:xfrm>
            <a:off x="4343400" y="3986784"/>
            <a:ext cx="914400" cy="365760"/>
          </a:xfrm>
          <a:prstGeom prst="rect">
            <a:avLst/>
          </a:prstGeom>
          <a:noFill/>
          <a:ln/>
        </p:spPr>
        <p:txBody>
          <a:bodyPr wrap="square" lIns="0" tIns="0" rIns="0" bIns="0" rtlCol="0" anchor="ctr"/>
          <a:lstStyle/>
          <a:p>
            <a:pPr algn="ctr" indent="0" marL="0">
              <a:buNone/>
            </a:pPr>
            <a:r>
              <a:rPr lang="en-US" sz="1400" b="1" dirty="0">
                <a:solidFill>
                  <a:schemeClr val="bg1"/>
                </a:solidFill>
              </a:rPr>
              <a:t>× 0.4</a:t>
            </a:r>
            <a:endParaRPr lang="en-US" sz="1400" dirty="0"/>
          </a:p>
        </p:txBody>
      </p:sp>
      <p:sp>
        <p:nvSpPr>
          <p:cNvPr id="23" name="text-168"/>
          <p:cNvSpPr txBox="1"/>
          <p:nvPr/>
        </p:nvSpPr>
        <p:spPr>
          <a:xfrm>
            <a:off x="1600200" y="4334256"/>
            <a:ext cx="3703320" cy="502920"/>
          </a:xfrm>
          <a:prstGeom prst="rect">
            <a:avLst/>
          </a:prstGeom>
          <a:noFill/>
          <a:ln/>
        </p:spPr>
        <p:txBody>
          <a:bodyPr wrap="square" lIns="0" tIns="0" rIns="0" bIns="0" rtlCol="0" anchor="t"/>
          <a:lstStyle/>
          <a:p>
            <a:pPr indent="0" marL="0">
              <a:buNone/>
            </a:pPr>
            <a:r>
              <a:rPr lang="en-US" sz="1300" dirty="0">
                <a:solidFill>
                  <a:schemeClr val="bg2"/>
                </a:solidFill>
              </a:rPr>
              <a:t>How often this kind of step failed validation before (starts at a 0.5 prior)</a:t>
            </a:r>
            <a:endParaRPr lang="en-US" sz="1300" dirty="0"/>
          </a:p>
        </p:txBody>
      </p:sp>
      <p:sp>
        <p:nvSpPr>
          <p:cNvPr id="24" name="formula-169"/>
          <p:cNvSpPr/>
          <p:nvPr/>
        </p:nvSpPr>
        <p:spPr>
          <a:xfrm>
            <a:off x="548640" y="5120640"/>
            <a:ext cx="4937760" cy="1005840"/>
          </a:xfrm>
          <a:prstGeom prst="roundRect">
            <a:avLst>
              <a:gd name="adj" fmla="val 10909"/>
            </a:avLst>
          </a:prstGeom>
          <a:solidFill>
            <a:schemeClr val="accent1">
              <a:alpha val="18000"/>
            </a:schemeClr>
          </a:solidFill>
          <a:ln w="19050">
            <a:solidFill>
              <a:schemeClr val="accent1"/>
            </a:solidFill>
            <a:prstDash val="solid"/>
          </a:ln>
        </p:spPr>
      </p:sp>
      <p:sp>
        <p:nvSpPr>
          <p:cNvPr id="25" name="text-170"/>
          <p:cNvSpPr txBox="1"/>
          <p:nvPr/>
        </p:nvSpPr>
        <p:spPr>
          <a:xfrm>
            <a:off x="777240" y="5193792"/>
            <a:ext cx="4572000" cy="868680"/>
          </a:xfrm>
          <a:prstGeom prst="rect">
            <a:avLst/>
          </a:prstGeom>
          <a:noFill/>
          <a:ln/>
        </p:spPr>
        <p:txBody>
          <a:bodyPr wrap="square" lIns="0" tIns="0" rIns="0" bIns="0" rtlCol="0" anchor="ctr"/>
          <a:lstStyle/>
          <a:p>
            <a:pPr indent="0" marL="0">
              <a:buNone/>
            </a:pPr>
            <a:r>
              <a:rPr lang="en-US" sz="1600" b="1" dirty="0">
                <a:solidFill>
                  <a:schemeClr val="bg1"/>
                </a:solidFill>
              </a:rPr>
              <a:t>score = 0.3·length + 0.3·words + 0.4·history</a:t>
            </a:r>
            <a:endParaRPr lang="en-US" sz="1400" dirty="0"/>
          </a:p>
          <a:p>
            <a:pPr indent="0" marL="0">
              <a:buNone/>
            </a:pPr>
            <a:r>
              <a:rPr lang="en-US" sz="1400" dirty="0">
                <a:solidFill>
                  <a:schemeClr val="bg2"/>
                </a:solidFill>
              </a:rPr>
              <a:t>score above the threshold → expensive model</a:t>
            </a:r>
            <a:endParaRPr lang="en-US" sz="1400" dirty="0"/>
          </a:p>
        </p:txBody>
      </p:sp>
      <p:graphicFrame>
        <p:nvGraphicFramePr>
          <p:cNvPr id="26" name="difficulty-chart-171" descr=""/>
          <p:cNvGraphicFramePr/>
          <p:nvPr/>
        </p:nvGraphicFramePr>
        <p:xfrm>
          <a:off x="5852160" y="1737360"/>
          <a:ext cx="5760720" cy="4160520"/>
        </p:xfrm>
        <a:graphic xmlns:a="http://schemas.openxmlformats.org/drawingml/2006/main">
          <a:graphicData uri="http://schemas.openxmlformats.org/drawingml/2006/chart">
            <c:chart xmlns:c="http://schemas.openxmlformats.org/drawingml/2006/chart" r:id="rId4"/>
          </a:graphicData>
        </a:graphic>
      </p:graphicFrame>
      <p:sp>
        <p:nvSpPr>
          <p:cNvPr id="27" name="text-172"/>
          <p:cNvSpPr txBox="1"/>
          <p:nvPr/>
        </p:nvSpPr>
        <p:spPr>
          <a:xfrm>
            <a:off x="5852160" y="1371600"/>
            <a:ext cx="5760720" cy="320040"/>
          </a:xfrm>
          <a:prstGeom prst="rect">
            <a:avLst/>
          </a:prstGeom>
          <a:noFill/>
          <a:ln/>
        </p:spPr>
        <p:txBody>
          <a:bodyPr wrap="square" lIns="0" tIns="0" rIns="0" bIns="0" rtlCol="0" anchor="t"/>
          <a:lstStyle/>
          <a:p>
            <a:pPr indent="0" marL="0">
              <a:buNone/>
            </a:pPr>
            <a:r>
              <a:rPr lang="en-US" sz="1500" b="1" dirty="0">
                <a:solidFill>
                  <a:schemeClr val="bg1"/>
                </a:solidFill>
              </a:rPr>
              <a:t>Score breakdown for four demo questions</a:t>
            </a:r>
            <a:endParaRPr lang="en-US" sz="1500" dirty="0"/>
          </a:p>
        </p:txBody>
      </p:sp>
      <p:sp>
        <p:nvSpPr>
          <p:cNvPr id="28" name="arrow-173"/>
          <p:cNvSpPr/>
          <p:nvPr/>
        </p:nvSpPr>
        <p:spPr>
          <a:xfrm>
            <a:off x="9827057" y="2190902"/>
            <a:ext cx="914" cy="2958084"/>
          </a:xfrm>
          <a:prstGeom prst="line">
            <a:avLst/>
          </a:prstGeom>
          <a:noFill/>
          <a:ln w="25400">
            <a:solidFill>
              <a:schemeClr val="bg1"/>
            </a:solidFill>
            <a:prstDash val="dash"/>
          </a:ln>
        </p:spPr>
      </p:sp>
      <p:sp>
        <p:nvSpPr>
          <p:cNvPr id="29" name="text-174"/>
          <p:cNvSpPr txBox="1"/>
          <p:nvPr/>
        </p:nvSpPr>
        <p:spPr>
          <a:xfrm>
            <a:off x="9095537" y="1907438"/>
            <a:ext cx="1463040" cy="256032"/>
          </a:xfrm>
          <a:prstGeom prst="rect">
            <a:avLst/>
          </a:prstGeom>
          <a:noFill/>
          <a:ln/>
        </p:spPr>
        <p:txBody>
          <a:bodyPr wrap="square" lIns="0" tIns="0" rIns="0" bIns="0" rtlCol="0" anchor="t"/>
          <a:lstStyle/>
          <a:p>
            <a:pPr algn="ctr" indent="0" marL="0">
              <a:buNone/>
            </a:pPr>
            <a:r>
              <a:rPr lang="en-US" sz="1200" b="1" dirty="0">
                <a:solidFill>
                  <a:schemeClr val="bg1"/>
                </a:solidFill>
              </a:rPr>
              <a:t>threshold 0.30</a:t>
            </a:r>
            <a:endParaRPr lang="en-US" sz="1200" dirty="0"/>
          </a:p>
        </p:txBody>
      </p:sp>
      <p:sp>
        <p:nvSpPr>
          <p:cNvPr id="30" name="text-175"/>
          <p:cNvSpPr txBox="1"/>
          <p:nvPr/>
        </p:nvSpPr>
        <p:spPr>
          <a:xfrm>
            <a:off x="5852160" y="5943600"/>
            <a:ext cx="5760720" cy="274320"/>
          </a:xfrm>
          <a:prstGeom prst="rect">
            <a:avLst/>
          </a:prstGeom>
          <a:noFill/>
          <a:ln/>
        </p:spPr>
        <p:txBody>
          <a:bodyPr wrap="square" lIns="0" tIns="0" rIns="0" bIns="0" rtlCol="0" anchor="t"/>
          <a:lstStyle/>
          <a:p>
            <a:pPr indent="0" marL="0">
              <a:buNone/>
            </a:pPr>
            <a:r>
              <a:rPr lang="en-US" sz="1100" dirty="0">
                <a:solidFill>
                  <a:schemeClr val="bg2"/>
                </a:solidFill>
              </a:rPr>
              <a:t>A fresh session: every kind of step starts at the 0.5 history prior, which adds 0.20.</a:t>
            </a:r>
            <a:endParaRPr lang="en-US" sz="11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AB3C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bg1"/>
                </a:solidFill>
              </a:rPr>
              <a:t>A dollar budget that degrades visibly — or holds a hard cap</a:t>
            </a:r>
            <a:endParaRPr lang="en-US" sz="2800" dirty="0"/>
          </a:p>
        </p:txBody>
      </p:sp>
      <p:sp>
        <p:nvSpPr>
          <p:cNvPr id="3" name="icon-bg-176"/>
          <p:cNvSpPr/>
          <p:nvPr/>
        </p:nvSpPr>
        <p:spPr>
          <a:xfrm>
            <a:off x="548640" y="1371600"/>
            <a:ext cx="502920" cy="502920"/>
          </a:xfrm>
          <a:prstGeom prst="ellipse">
            <a:avLst/>
          </a:prstGeom>
          <a:solidFill>
            <a:schemeClr val="accent5">
              <a:alpha val="22000"/>
            </a:schemeClr>
          </a:solidFill>
          <a:ln/>
        </p:spPr>
      </p:sp>
      <p:pic>
        <p:nvPicPr>
          <p:cNvPr id="4" name="icon-177" descr="preencoded.png">    </p:cNvPr>
          <p:cNvPicPr>
            <a:picLocks noChangeAspect="1"/>
          </p:cNvPicPr>
          <p:nvPr/>
        </p:nvPicPr>
        <p:blipFill>
          <a:blip r:embed="rId1"/>
          <a:stretch>
            <a:fillRect/>
          </a:stretch>
        </p:blipFill>
        <p:spPr>
          <a:xfrm>
            <a:off x="674370" y="1497330"/>
            <a:ext cx="251460" cy="251460"/>
          </a:xfrm>
          <a:prstGeom prst="rect">
            <a:avLst/>
          </a:prstGeom>
        </p:spPr>
      </p:pic>
      <p:sp>
        <p:nvSpPr>
          <p:cNvPr id="5" name="text-178"/>
          <p:cNvSpPr txBox="1"/>
          <p:nvPr/>
        </p:nvSpPr>
        <p:spPr>
          <a:xfrm>
            <a:off x="1234440" y="1371600"/>
            <a:ext cx="3977640" cy="502920"/>
          </a:xfrm>
          <a:prstGeom prst="rect">
            <a:avLst/>
          </a:prstGeom>
          <a:noFill/>
          <a:ln/>
        </p:spPr>
        <p:txBody>
          <a:bodyPr wrap="square" lIns="0" tIns="0" rIns="0" bIns="0" rtlCol="0" anchor="ctr"/>
          <a:lstStyle/>
          <a:p>
            <a:pPr indent="0" marL="0">
              <a:buNone/>
            </a:pPr>
            <a:r>
              <a:rPr lang="en-US" sz="1400" dirty="0">
                <a:solidFill>
                  <a:schemeClr val="bg1"/>
                </a:solidFill>
              </a:rPr>
              <a:t>Charged in real dollars from each call's token usage</a:t>
            </a:r>
            <a:endParaRPr lang="en-US" sz="1400" dirty="0"/>
          </a:p>
        </p:txBody>
      </p:sp>
      <p:sp>
        <p:nvSpPr>
          <p:cNvPr id="6" name="icon-bg-179"/>
          <p:cNvSpPr/>
          <p:nvPr/>
        </p:nvSpPr>
        <p:spPr>
          <a:xfrm>
            <a:off x="548640" y="2029968"/>
            <a:ext cx="502920" cy="502920"/>
          </a:xfrm>
          <a:prstGeom prst="ellipse">
            <a:avLst/>
          </a:prstGeom>
          <a:solidFill>
            <a:schemeClr val="accent5">
              <a:alpha val="22000"/>
            </a:schemeClr>
          </a:solidFill>
          <a:ln/>
        </p:spPr>
      </p:sp>
      <p:pic>
        <p:nvPicPr>
          <p:cNvPr id="7" name="icon-180" descr="preencoded.png">    </p:cNvPr>
          <p:cNvPicPr>
            <a:picLocks noChangeAspect="1"/>
          </p:cNvPicPr>
          <p:nvPr/>
        </p:nvPicPr>
        <p:blipFill>
          <a:blip r:embed="rId2"/>
          <a:stretch>
            <a:fillRect/>
          </a:stretch>
        </p:blipFill>
        <p:spPr>
          <a:xfrm>
            <a:off x="674370" y="2155698"/>
            <a:ext cx="251460" cy="251460"/>
          </a:xfrm>
          <a:prstGeom prst="rect">
            <a:avLst/>
          </a:prstGeom>
        </p:spPr>
      </p:pic>
      <p:sp>
        <p:nvSpPr>
          <p:cNvPr id="8" name="text-181"/>
          <p:cNvSpPr txBox="1"/>
          <p:nvPr/>
        </p:nvSpPr>
        <p:spPr>
          <a:xfrm>
            <a:off x="1234440" y="2029968"/>
            <a:ext cx="3977640" cy="502920"/>
          </a:xfrm>
          <a:prstGeom prst="rect">
            <a:avLst/>
          </a:prstGeom>
          <a:noFill/>
          <a:ln/>
        </p:spPr>
        <p:txBody>
          <a:bodyPr wrap="square" lIns="0" tIns="0" rIns="0" bIns="0" rtlCol="0" anchor="ctr"/>
          <a:lstStyle/>
          <a:p>
            <a:pPr indent="0" marL="0">
              <a:buNone/>
            </a:pPr>
            <a:r>
              <a:rPr lang="en-US" sz="1400" dirty="0">
                <a:solidFill>
                  <a:schemeClr val="bg1"/>
                </a:solidFill>
              </a:rPr>
              <a:t>Warnings when 50% and 10% of the budget is left</a:t>
            </a:r>
            <a:endParaRPr lang="en-US" sz="1400" dirty="0"/>
          </a:p>
        </p:txBody>
      </p:sp>
      <p:sp>
        <p:nvSpPr>
          <p:cNvPr id="9" name="icon-bg-182"/>
          <p:cNvSpPr/>
          <p:nvPr/>
        </p:nvSpPr>
        <p:spPr>
          <a:xfrm>
            <a:off x="548640" y="2688336"/>
            <a:ext cx="502920" cy="502920"/>
          </a:xfrm>
          <a:prstGeom prst="ellipse">
            <a:avLst/>
          </a:prstGeom>
          <a:solidFill>
            <a:schemeClr val="accent1">
              <a:alpha val="22000"/>
            </a:schemeClr>
          </a:solidFill>
          <a:ln/>
        </p:spPr>
      </p:sp>
      <p:pic>
        <p:nvPicPr>
          <p:cNvPr id="10" name="icon-183" descr="preencoded.png">    </p:cNvPr>
          <p:cNvPicPr>
            <a:picLocks noChangeAspect="1"/>
          </p:cNvPicPr>
          <p:nvPr/>
        </p:nvPicPr>
        <p:blipFill>
          <a:blip r:embed="rId3"/>
          <a:stretch>
            <a:fillRect/>
          </a:stretch>
        </p:blipFill>
        <p:spPr>
          <a:xfrm>
            <a:off x="674370" y="2814066"/>
            <a:ext cx="251460" cy="251460"/>
          </a:xfrm>
          <a:prstGeom prst="rect">
            <a:avLst/>
          </a:prstGeom>
        </p:spPr>
      </p:pic>
      <p:sp>
        <p:nvSpPr>
          <p:cNvPr id="11" name="text-184"/>
          <p:cNvSpPr txBox="1"/>
          <p:nvPr/>
        </p:nvSpPr>
        <p:spPr>
          <a:xfrm>
            <a:off x="1234440" y="2688336"/>
            <a:ext cx="3977640" cy="502920"/>
          </a:xfrm>
          <a:prstGeom prst="rect">
            <a:avLst/>
          </a:prstGeom>
          <a:noFill/>
          <a:ln/>
        </p:spPr>
        <p:txBody>
          <a:bodyPr wrap="square" lIns="0" tIns="0" rIns="0" bIns="0" rtlCol="0" anchor="ctr"/>
          <a:lstStyle/>
          <a:p>
            <a:pPr indent="0" marL="0">
              <a:buNone/>
            </a:pPr>
            <a:r>
              <a:rPr lang="en-US" sz="1400" dirty="0">
                <a:solidFill>
                  <a:schemeClr val="bg1"/>
                </a:solidFill>
              </a:rPr>
              <a:t>Can't afford the expensive model? The step is downgraded and flagged</a:t>
            </a:r>
            <a:endParaRPr lang="en-US" sz="1400" dirty="0"/>
          </a:p>
        </p:txBody>
      </p:sp>
      <p:sp>
        <p:nvSpPr>
          <p:cNvPr id="12" name="mode-185"/>
          <p:cNvSpPr/>
          <p:nvPr/>
        </p:nvSpPr>
        <p:spPr>
          <a:xfrm>
            <a:off x="548640" y="3520440"/>
            <a:ext cx="2286000" cy="2606040"/>
          </a:xfrm>
          <a:prstGeom prst="roundRect">
            <a:avLst>
              <a:gd name="adj" fmla="val 4800"/>
            </a:avLst>
          </a:prstGeom>
          <a:solidFill>
            <a:schemeClr val="accent1">
              <a:alpha val="16000"/>
            </a:schemeClr>
          </a:solidFill>
          <a:ln w="19050">
            <a:solidFill>
              <a:schemeClr val="accent1"/>
            </a:solidFill>
            <a:prstDash val="solid"/>
          </a:ln>
        </p:spPr>
      </p:sp>
      <p:sp>
        <p:nvSpPr>
          <p:cNvPr id="13" name="text-186"/>
          <p:cNvSpPr txBox="1"/>
          <p:nvPr/>
        </p:nvSpPr>
        <p:spPr>
          <a:xfrm>
            <a:off x="731520" y="3657600"/>
            <a:ext cx="1920240" cy="320040"/>
          </a:xfrm>
          <a:prstGeom prst="rect">
            <a:avLst/>
          </a:prstGeom>
          <a:noFill/>
          <a:ln/>
        </p:spPr>
        <p:txBody>
          <a:bodyPr wrap="square" lIns="0" tIns="0" rIns="0" bIns="0" rtlCol="0" anchor="t"/>
          <a:lstStyle/>
          <a:p>
            <a:pPr indent="0" marL="0">
              <a:buNone/>
            </a:pPr>
            <a:r>
              <a:rPr lang="en-US" sz="1500" b="1" dirty="0">
                <a:solidFill>
                  <a:schemeClr val="accent1"/>
                </a:solidFill>
              </a:rPr>
              <a:t>SOFT mode</a:t>
            </a:r>
            <a:endParaRPr lang="en-US" sz="1500" dirty="0"/>
          </a:p>
        </p:txBody>
      </p:sp>
      <p:sp>
        <p:nvSpPr>
          <p:cNvPr id="14" name="text-187"/>
          <p:cNvSpPr txBox="1"/>
          <p:nvPr/>
        </p:nvSpPr>
        <p:spPr>
          <a:xfrm>
            <a:off x="731520" y="4023360"/>
            <a:ext cx="1920240" cy="640080"/>
          </a:xfrm>
          <a:prstGeom prst="rect">
            <a:avLst/>
          </a:prstGeom>
          <a:noFill/>
          <a:ln/>
        </p:spPr>
        <p:txBody>
          <a:bodyPr wrap="square" lIns="0" tIns="0" rIns="0" bIns="0" rtlCol="0" anchor="ctr"/>
          <a:lstStyle/>
          <a:p>
            <a:pPr indent="0" marL="0">
              <a:buNone/>
            </a:pPr>
            <a:r>
              <a:rPr lang="en-US" sz="3200" b="1" dirty="0">
                <a:solidFill>
                  <a:schemeClr val="bg1"/>
                </a:solidFill>
                <a:latin typeface="+mj-lt" pitchFamily="34" charset="0"/>
                <a:ea typeface="+mj-lt" pitchFamily="34" charset="-122"/>
                <a:cs typeface="+mj-lt" pitchFamily="34" charset="-120"/>
              </a:rPr>
              <a:t>$0.0113</a:t>
            </a:r>
            <a:endParaRPr lang="en-US" sz="3200" dirty="0"/>
          </a:p>
        </p:txBody>
      </p:sp>
      <p:sp>
        <p:nvSpPr>
          <p:cNvPr id="15" name="text-188"/>
          <p:cNvSpPr txBox="1"/>
          <p:nvPr/>
        </p:nvSpPr>
        <p:spPr>
          <a:xfrm>
            <a:off x="731520" y="4681728"/>
            <a:ext cx="1920240" cy="502920"/>
          </a:xfrm>
          <a:prstGeom prst="rect">
            <a:avLst/>
          </a:prstGeom>
          <a:noFill/>
          <a:ln/>
        </p:spPr>
        <p:txBody>
          <a:bodyPr wrap="square" lIns="0" tIns="0" rIns="0" bIns="0" rtlCol="0" anchor="t"/>
          <a:lstStyle/>
          <a:p>
            <a:pPr indent="0" marL="0">
              <a:buNone/>
            </a:pPr>
            <a:r>
              <a:rPr lang="en-US" sz="1200" dirty="0">
                <a:solidFill>
                  <a:schemeClr val="bg2"/>
                </a:solidFill>
              </a:rPr>
              <a:t>spent vs a $0.0067 cap (168%)</a:t>
            </a:r>
            <a:endParaRPr lang="en-US" sz="1200" dirty="0"/>
          </a:p>
        </p:txBody>
      </p:sp>
      <p:sp>
        <p:nvSpPr>
          <p:cNvPr id="16" name="text-189"/>
          <p:cNvSpPr txBox="1"/>
          <p:nvPr/>
        </p:nvSpPr>
        <p:spPr>
          <a:xfrm>
            <a:off x="731520" y="5257800"/>
            <a:ext cx="1920240" cy="777240"/>
          </a:xfrm>
          <a:prstGeom prst="rect">
            <a:avLst/>
          </a:prstGeom>
          <a:noFill/>
          <a:ln/>
        </p:spPr>
        <p:txBody>
          <a:bodyPr wrap="square" lIns="0" tIns="0" rIns="0" bIns="0" rtlCol="0" anchor="t"/>
          <a:lstStyle/>
          <a:p>
            <a:pPr indent="0" marL="0">
              <a:buNone/>
            </a:pPr>
            <a:r>
              <a:rPr lang="en-US" sz="1200" dirty="0">
                <a:solidFill>
                  <a:schemeClr val="bg1"/>
                </a:solidFill>
              </a:rPr>
              <a:t>50 steps downgraded · finishes the job · 84% accuracy</a:t>
            </a:r>
            <a:endParaRPr lang="en-US" sz="1200" dirty="0"/>
          </a:p>
        </p:txBody>
      </p:sp>
      <p:sp>
        <p:nvSpPr>
          <p:cNvPr id="17" name="mode-190"/>
          <p:cNvSpPr/>
          <p:nvPr/>
        </p:nvSpPr>
        <p:spPr>
          <a:xfrm>
            <a:off x="2971800" y="3520440"/>
            <a:ext cx="2286000" cy="2606040"/>
          </a:xfrm>
          <a:prstGeom prst="roundRect">
            <a:avLst>
              <a:gd name="adj" fmla="val 4800"/>
            </a:avLst>
          </a:prstGeom>
          <a:solidFill>
            <a:schemeClr val="accent6">
              <a:alpha val="16000"/>
            </a:schemeClr>
          </a:solidFill>
          <a:ln w="19050">
            <a:solidFill>
              <a:schemeClr val="accent6"/>
            </a:solidFill>
            <a:prstDash val="solid"/>
          </a:ln>
        </p:spPr>
      </p:sp>
      <p:sp>
        <p:nvSpPr>
          <p:cNvPr id="18" name="text-191"/>
          <p:cNvSpPr txBox="1"/>
          <p:nvPr/>
        </p:nvSpPr>
        <p:spPr>
          <a:xfrm>
            <a:off x="3154680" y="3657600"/>
            <a:ext cx="1920240" cy="320040"/>
          </a:xfrm>
          <a:prstGeom prst="rect">
            <a:avLst/>
          </a:prstGeom>
          <a:noFill/>
          <a:ln/>
        </p:spPr>
        <p:txBody>
          <a:bodyPr wrap="square" lIns="0" tIns="0" rIns="0" bIns="0" rtlCol="0" anchor="t"/>
          <a:lstStyle/>
          <a:p>
            <a:pPr indent="0" marL="0">
              <a:buNone/>
            </a:pPr>
            <a:r>
              <a:rPr lang="en-US" sz="1500" b="1" dirty="0">
                <a:solidFill>
                  <a:schemeClr val="accent6"/>
                </a:solidFill>
              </a:rPr>
              <a:t>HARD_STOP mode</a:t>
            </a:r>
            <a:endParaRPr lang="en-US" sz="1500" dirty="0"/>
          </a:p>
        </p:txBody>
      </p:sp>
      <p:sp>
        <p:nvSpPr>
          <p:cNvPr id="19" name="text-192"/>
          <p:cNvSpPr txBox="1"/>
          <p:nvPr/>
        </p:nvSpPr>
        <p:spPr>
          <a:xfrm>
            <a:off x="3154680" y="4023360"/>
            <a:ext cx="1920240" cy="640080"/>
          </a:xfrm>
          <a:prstGeom prst="rect">
            <a:avLst/>
          </a:prstGeom>
          <a:noFill/>
          <a:ln/>
        </p:spPr>
        <p:txBody>
          <a:bodyPr wrap="square" lIns="0" tIns="0" rIns="0" bIns="0" rtlCol="0" anchor="ctr"/>
          <a:lstStyle/>
          <a:p>
            <a:pPr indent="0" marL="0">
              <a:buNone/>
            </a:pPr>
            <a:r>
              <a:rPr lang="en-US" sz="3200" b="1" dirty="0">
                <a:solidFill>
                  <a:schemeClr val="bg1"/>
                </a:solidFill>
                <a:latin typeface="+mj-lt" pitchFamily="34" charset="0"/>
                <a:ea typeface="+mj-lt" pitchFamily="34" charset="-122"/>
                <a:cs typeface="+mj-lt" pitchFamily="34" charset="-120"/>
              </a:rPr>
              <a:t>$0.0064</a:t>
            </a:r>
            <a:endParaRPr lang="en-US" sz="3200" dirty="0"/>
          </a:p>
        </p:txBody>
      </p:sp>
      <p:sp>
        <p:nvSpPr>
          <p:cNvPr id="20" name="text-193"/>
          <p:cNvSpPr txBox="1"/>
          <p:nvPr/>
        </p:nvSpPr>
        <p:spPr>
          <a:xfrm>
            <a:off x="3154680" y="4681728"/>
            <a:ext cx="1920240" cy="502920"/>
          </a:xfrm>
          <a:prstGeom prst="rect">
            <a:avLst/>
          </a:prstGeom>
          <a:noFill/>
          <a:ln/>
        </p:spPr>
        <p:txBody>
          <a:bodyPr wrap="square" lIns="0" tIns="0" rIns="0" bIns="0" rtlCol="0" anchor="t"/>
          <a:lstStyle/>
          <a:p>
            <a:pPr indent="0" marL="0">
              <a:buNone/>
            </a:pPr>
            <a:r>
              <a:rPr lang="en-US" sz="1200" dirty="0">
                <a:solidFill>
                  <a:schemeClr val="bg2"/>
                </a:solidFill>
              </a:rPr>
              <a:t>never over the $0.0067 cap</a:t>
            </a:r>
            <a:endParaRPr lang="en-US" sz="1200" dirty="0"/>
          </a:p>
        </p:txBody>
      </p:sp>
      <p:sp>
        <p:nvSpPr>
          <p:cNvPr id="21" name="text-194"/>
          <p:cNvSpPr txBox="1"/>
          <p:nvPr/>
        </p:nvSpPr>
        <p:spPr>
          <a:xfrm>
            <a:off x="3154680" y="5257800"/>
            <a:ext cx="1920240" cy="777240"/>
          </a:xfrm>
          <a:prstGeom prst="rect">
            <a:avLst/>
          </a:prstGeom>
          <a:noFill/>
          <a:ln/>
        </p:spPr>
        <p:txBody>
          <a:bodyPr wrap="square" lIns="0" tIns="0" rIns="0" bIns="0" rtlCol="0" anchor="t"/>
          <a:lstStyle/>
          <a:p>
            <a:pPr indent="0" marL="0">
              <a:buNone/>
            </a:pPr>
            <a:r>
              <a:rPr lang="en-US" sz="1200" dirty="0">
                <a:solidFill>
                  <a:schemeClr val="bg1"/>
                </a:solidFill>
              </a:rPr>
              <a:t>53 steps refused · stops early · 40% accuracy</a:t>
            </a:r>
            <a:endParaRPr lang="en-US" sz="1200" dirty="0"/>
          </a:p>
        </p:txBody>
      </p:sp>
      <p:graphicFrame>
        <p:nvGraphicFramePr>
          <p:cNvPr id="22" name="budget-chart-195" descr=""/>
          <p:cNvGraphicFramePr/>
          <p:nvPr/>
        </p:nvGraphicFramePr>
        <p:xfrm>
          <a:off x="5440680" y="1325880"/>
          <a:ext cx="6172200" cy="4800600"/>
        </p:xfrm>
        <a:graphic xmlns:a="http://schemas.openxmlformats.org/drawingml/2006/main">
          <a:graphicData uri="http://schemas.openxmlformats.org/drawingml/2006/chart">
            <c:chart xmlns:c="http://schemas.openxmlformats.org/drawingml/2006/chart" r:id="rId4"/>
          </a:graphicData>
        </a:graphic>
      </p:graphicFrame>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AB3C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bg1"/>
                </a:solidFill>
              </a:rPr>
              <a:t>Cheap model failed? Escalate — and log every decision</a:t>
            </a:r>
            <a:endParaRPr lang="en-US" sz="2800" dirty="0"/>
          </a:p>
        </p:txBody>
      </p:sp>
      <p:sp>
        <p:nvSpPr>
          <p:cNvPr id="3" name="q-196"/>
          <p:cNvSpPr/>
          <p:nvPr/>
        </p:nvSpPr>
        <p:spPr>
          <a:xfrm>
            <a:off x="548640" y="1371600"/>
            <a:ext cx="5577840" cy="868680"/>
          </a:xfrm>
          <a:prstGeom prst="roundRect">
            <a:avLst>
              <a:gd name="adj" fmla="val 12632"/>
            </a:avLst>
          </a:prstGeom>
          <a:solidFill>
            <a:schemeClr val="tx2"/>
          </a:solidFill>
          <a:ln/>
        </p:spPr>
      </p:sp>
      <p:pic>
        <p:nvPicPr>
          <p:cNvPr id="4" name="qi-197" descr="preencoded.png">    </p:cNvPr>
          <p:cNvPicPr>
            <a:picLocks noChangeAspect="1"/>
          </p:cNvPicPr>
          <p:nvPr/>
        </p:nvPicPr>
        <p:blipFill>
          <a:blip r:embed="rId1"/>
          <a:stretch>
            <a:fillRect/>
          </a:stretch>
        </p:blipFill>
        <p:spPr>
          <a:xfrm>
            <a:off x="777240" y="1600200"/>
            <a:ext cx="411480" cy="411480"/>
          </a:xfrm>
          <a:prstGeom prst="rect">
            <a:avLst/>
          </a:prstGeom>
        </p:spPr>
      </p:pic>
      <p:sp>
        <p:nvSpPr>
          <p:cNvPr id="5" name="text-198"/>
          <p:cNvSpPr txBox="1"/>
          <p:nvPr/>
        </p:nvSpPr>
        <p:spPr>
          <a:xfrm>
            <a:off x="1371600" y="1417320"/>
            <a:ext cx="4572000" cy="777240"/>
          </a:xfrm>
          <a:prstGeom prst="rect">
            <a:avLst/>
          </a:prstGeom>
          <a:noFill/>
          <a:ln/>
        </p:spPr>
        <p:txBody>
          <a:bodyPr wrap="square" lIns="0" tIns="0" rIns="0" bIns="0" rtlCol="0" anchor="ctr"/>
          <a:lstStyle/>
          <a:p>
            <a:pPr indent="0" marL="0">
              <a:buNone/>
            </a:pPr>
            <a:r>
              <a:rPr lang="en-US" sz="1500" i="1" dirty="0">
                <a:solidFill>
                  <a:schemeClr val="bg1"/>
                </a:solidFill>
              </a:rPr>
              <a:t>“Judith Keppel was the first winner of the top prize on which UK programme?”</a:t>
            </a:r>
            <a:endParaRPr lang="en-US" sz="1500" dirty="0"/>
          </a:p>
        </p:txBody>
      </p:sp>
      <p:sp>
        <p:nvSpPr>
          <p:cNvPr id="6" name="arrow-199"/>
          <p:cNvSpPr/>
          <p:nvPr/>
        </p:nvSpPr>
        <p:spPr>
          <a:xfrm>
            <a:off x="1463040" y="2286000"/>
            <a:ext cx="914" cy="411480"/>
          </a:xfrm>
          <a:prstGeom prst="line">
            <a:avLst/>
          </a:prstGeom>
          <a:noFill/>
          <a:ln w="25400">
            <a:solidFill>
              <a:schemeClr val="accent1"/>
            </a:solidFill>
            <a:prstDash val="solid"/>
            <a:tailEnd type="triangle"/>
          </a:ln>
        </p:spPr>
      </p:sp>
      <p:sp>
        <p:nvSpPr>
          <p:cNvPr id="7" name="model-200"/>
          <p:cNvSpPr/>
          <p:nvPr/>
        </p:nvSpPr>
        <p:spPr>
          <a:xfrm>
            <a:off x="548640" y="2743200"/>
            <a:ext cx="2103120" cy="777240"/>
          </a:xfrm>
          <a:prstGeom prst="roundRect">
            <a:avLst>
              <a:gd name="adj" fmla="val 14118"/>
            </a:avLst>
          </a:prstGeom>
          <a:solidFill>
            <a:schemeClr val="accent2">
              <a:alpha val="18000"/>
            </a:schemeClr>
          </a:solidFill>
          <a:ln w="19050">
            <a:solidFill>
              <a:schemeClr val="accent2"/>
            </a:solidFill>
            <a:prstDash val="solid"/>
          </a:ln>
        </p:spPr>
      </p:sp>
      <p:pic>
        <p:nvPicPr>
          <p:cNvPr id="8" name="mi-201" descr="preencoded.png">    </p:cNvPr>
          <p:cNvPicPr>
            <a:picLocks noChangeAspect="1"/>
          </p:cNvPicPr>
          <p:nvPr/>
        </p:nvPicPr>
        <p:blipFill>
          <a:blip r:embed="rId2"/>
          <a:stretch>
            <a:fillRect/>
          </a:stretch>
        </p:blipFill>
        <p:spPr>
          <a:xfrm>
            <a:off x="731520" y="2944368"/>
            <a:ext cx="384048" cy="384048"/>
          </a:xfrm>
          <a:prstGeom prst="rect">
            <a:avLst/>
          </a:prstGeom>
        </p:spPr>
      </p:pic>
      <p:sp>
        <p:nvSpPr>
          <p:cNvPr id="9" name="text-202"/>
          <p:cNvSpPr txBox="1"/>
          <p:nvPr/>
        </p:nvSpPr>
        <p:spPr>
          <a:xfrm>
            <a:off x="1188720" y="2743200"/>
            <a:ext cx="1417320" cy="777240"/>
          </a:xfrm>
          <a:prstGeom prst="rect">
            <a:avLst/>
          </a:prstGeom>
          <a:noFill/>
          <a:ln/>
        </p:spPr>
        <p:txBody>
          <a:bodyPr wrap="square" lIns="0" tIns="0" rIns="0" bIns="0" rtlCol="0" anchor="ctr"/>
          <a:lstStyle/>
          <a:p>
            <a:pPr indent="0" marL="0">
              <a:buNone/>
            </a:pPr>
            <a:r>
              <a:rPr lang="en-US" sz="1400" b="1" dirty="0">
                <a:solidFill>
                  <a:schemeClr val="bg1"/>
                </a:solidFill>
              </a:rPr>
              <a:t>Cheap model</a:t>
            </a:r>
            <a:endParaRPr lang="en-US" sz="1400" dirty="0"/>
          </a:p>
        </p:txBody>
      </p:sp>
      <p:sp>
        <p:nvSpPr>
          <p:cNvPr id="10" name="arrow-203"/>
          <p:cNvSpPr/>
          <p:nvPr/>
        </p:nvSpPr>
        <p:spPr>
          <a:xfrm>
            <a:off x="2697480" y="3131820"/>
            <a:ext cx="457200" cy="914"/>
          </a:xfrm>
          <a:prstGeom prst="line">
            <a:avLst/>
          </a:prstGeom>
          <a:noFill/>
          <a:ln w="25400">
            <a:solidFill>
              <a:schemeClr val="accent6"/>
            </a:solidFill>
            <a:prstDash val="solid"/>
            <a:tailEnd type="triangle"/>
          </a:ln>
        </p:spPr>
      </p:sp>
      <p:sp>
        <p:nvSpPr>
          <p:cNvPr id="11" name="result-204"/>
          <p:cNvSpPr/>
          <p:nvPr/>
        </p:nvSpPr>
        <p:spPr>
          <a:xfrm>
            <a:off x="3200400" y="2743200"/>
            <a:ext cx="2926080" cy="777240"/>
          </a:xfrm>
          <a:prstGeom prst="roundRect">
            <a:avLst>
              <a:gd name="adj" fmla="val 14118"/>
            </a:avLst>
          </a:prstGeom>
          <a:solidFill>
            <a:schemeClr val="tx2"/>
          </a:solidFill>
          <a:ln/>
        </p:spPr>
      </p:sp>
      <p:pic>
        <p:nvPicPr>
          <p:cNvPr id="12" name="res-205" descr="preencoded.png">    </p:cNvPr>
          <p:cNvPicPr>
            <a:picLocks noChangeAspect="1"/>
          </p:cNvPicPr>
          <p:nvPr/>
        </p:nvPicPr>
        <p:blipFill>
          <a:blip r:embed="rId3"/>
          <a:stretch>
            <a:fillRect/>
          </a:stretch>
        </p:blipFill>
        <p:spPr>
          <a:xfrm>
            <a:off x="3383280" y="2944368"/>
            <a:ext cx="384048" cy="384048"/>
          </a:xfrm>
          <a:prstGeom prst="rect">
            <a:avLst/>
          </a:prstGeom>
        </p:spPr>
      </p:pic>
      <p:sp>
        <p:nvSpPr>
          <p:cNvPr id="13" name="text-206"/>
          <p:cNvSpPr txBox="1"/>
          <p:nvPr/>
        </p:nvSpPr>
        <p:spPr>
          <a:xfrm>
            <a:off x="3886200" y="2743200"/>
            <a:ext cx="2148840" cy="777240"/>
          </a:xfrm>
          <a:prstGeom prst="rect">
            <a:avLst/>
          </a:prstGeom>
          <a:noFill/>
          <a:ln/>
        </p:spPr>
        <p:txBody>
          <a:bodyPr wrap="square" lIns="0" tIns="0" rIns="0" bIns="0" rtlCol="0" anchor="ctr"/>
          <a:lstStyle/>
          <a:p>
            <a:pPr indent="0" marL="0">
              <a:buNone/>
            </a:pPr>
            <a:r>
              <a:rPr lang="en-US" sz="1300" dirty="0">
                <a:solidFill>
                  <a:schemeClr val="bg1"/>
                </a:solidFill>
              </a:rPr>
              <a:t>Empty reply: spent all 1,024 tokens thinking</a:t>
            </a:r>
            <a:endParaRPr lang="en-US" sz="1300" dirty="0"/>
          </a:p>
        </p:txBody>
      </p:sp>
      <p:sp>
        <p:nvSpPr>
          <p:cNvPr id="14" name="arrow-207"/>
          <p:cNvSpPr/>
          <p:nvPr/>
        </p:nvSpPr>
        <p:spPr>
          <a:xfrm>
            <a:off x="1463040" y="3566160"/>
            <a:ext cx="914" cy="411480"/>
          </a:xfrm>
          <a:prstGeom prst="line">
            <a:avLst/>
          </a:prstGeom>
          <a:noFill/>
          <a:ln w="25400">
            <a:solidFill>
              <a:schemeClr val="accent3"/>
            </a:solidFill>
            <a:prstDash val="solid"/>
            <a:tailEnd type="triangle"/>
          </a:ln>
        </p:spPr>
      </p:sp>
      <p:sp>
        <p:nvSpPr>
          <p:cNvPr id="15" name="text-208"/>
          <p:cNvSpPr txBox="1"/>
          <p:nvPr/>
        </p:nvSpPr>
        <p:spPr>
          <a:xfrm>
            <a:off x="1691640" y="3584448"/>
            <a:ext cx="4389120" cy="365760"/>
          </a:xfrm>
          <a:prstGeom prst="rect">
            <a:avLst/>
          </a:prstGeom>
          <a:noFill/>
          <a:ln/>
        </p:spPr>
        <p:txBody>
          <a:bodyPr wrap="square" lIns="0" tIns="0" rIns="0" bIns="0" rtlCol="0" anchor="ctr"/>
          <a:lstStyle/>
          <a:p>
            <a:pPr indent="0" marL="0">
              <a:buNone/>
            </a:pPr>
            <a:r>
              <a:rPr lang="en-US" sz="1200" dirty="0">
                <a:solidFill>
                  <a:schemeClr val="accent3"/>
                </a:solidFill>
              </a:rPr>
              <a:t>validator: no “Final answer:” line → retry on the expensive model</a:t>
            </a:r>
            <a:endParaRPr lang="en-US" sz="1200" dirty="0"/>
          </a:p>
        </p:txBody>
      </p:sp>
      <p:sp>
        <p:nvSpPr>
          <p:cNvPr id="16" name="model-209"/>
          <p:cNvSpPr/>
          <p:nvPr/>
        </p:nvSpPr>
        <p:spPr>
          <a:xfrm>
            <a:off x="548640" y="4023360"/>
            <a:ext cx="2103120" cy="777240"/>
          </a:xfrm>
          <a:prstGeom prst="roundRect">
            <a:avLst>
              <a:gd name="adj" fmla="val 14118"/>
            </a:avLst>
          </a:prstGeom>
          <a:solidFill>
            <a:schemeClr val="accent3">
              <a:alpha val="18000"/>
            </a:schemeClr>
          </a:solidFill>
          <a:ln w="19050">
            <a:solidFill>
              <a:schemeClr val="accent3"/>
            </a:solidFill>
            <a:prstDash val="solid"/>
          </a:ln>
        </p:spPr>
      </p:sp>
      <p:pic>
        <p:nvPicPr>
          <p:cNvPr id="17" name="mi-210" descr="preencoded.png">    </p:cNvPr>
          <p:cNvPicPr>
            <a:picLocks noChangeAspect="1"/>
          </p:cNvPicPr>
          <p:nvPr/>
        </p:nvPicPr>
        <p:blipFill>
          <a:blip r:embed="rId4"/>
          <a:stretch>
            <a:fillRect/>
          </a:stretch>
        </p:blipFill>
        <p:spPr>
          <a:xfrm>
            <a:off x="731520" y="4224528"/>
            <a:ext cx="384048" cy="384048"/>
          </a:xfrm>
          <a:prstGeom prst="rect">
            <a:avLst/>
          </a:prstGeom>
        </p:spPr>
      </p:pic>
      <p:sp>
        <p:nvSpPr>
          <p:cNvPr id="18" name="text-211"/>
          <p:cNvSpPr txBox="1"/>
          <p:nvPr/>
        </p:nvSpPr>
        <p:spPr>
          <a:xfrm>
            <a:off x="1188720" y="4023360"/>
            <a:ext cx="1417320" cy="777240"/>
          </a:xfrm>
          <a:prstGeom prst="rect">
            <a:avLst/>
          </a:prstGeom>
          <a:noFill/>
          <a:ln/>
        </p:spPr>
        <p:txBody>
          <a:bodyPr wrap="square" lIns="0" tIns="0" rIns="0" bIns="0" rtlCol="0" anchor="ctr"/>
          <a:lstStyle/>
          <a:p>
            <a:pPr indent="0" marL="0">
              <a:buNone/>
            </a:pPr>
            <a:r>
              <a:rPr lang="en-US" sz="1400" b="1" dirty="0">
                <a:solidFill>
                  <a:schemeClr val="bg1"/>
                </a:solidFill>
              </a:rPr>
              <a:t>Expensive model</a:t>
            </a:r>
            <a:endParaRPr lang="en-US" sz="1400" dirty="0"/>
          </a:p>
        </p:txBody>
      </p:sp>
      <p:sp>
        <p:nvSpPr>
          <p:cNvPr id="19" name="arrow-212"/>
          <p:cNvSpPr/>
          <p:nvPr/>
        </p:nvSpPr>
        <p:spPr>
          <a:xfrm>
            <a:off x="2697480" y="4411980"/>
            <a:ext cx="457200" cy="914"/>
          </a:xfrm>
          <a:prstGeom prst="line">
            <a:avLst/>
          </a:prstGeom>
          <a:noFill/>
          <a:ln w="25400">
            <a:solidFill>
              <a:schemeClr val="accent2"/>
            </a:solidFill>
            <a:prstDash val="solid"/>
            <a:tailEnd type="triangle"/>
          </a:ln>
        </p:spPr>
      </p:sp>
      <p:sp>
        <p:nvSpPr>
          <p:cNvPr id="20" name="result-213"/>
          <p:cNvSpPr/>
          <p:nvPr/>
        </p:nvSpPr>
        <p:spPr>
          <a:xfrm>
            <a:off x="3200400" y="4023360"/>
            <a:ext cx="2926080" cy="777240"/>
          </a:xfrm>
          <a:prstGeom prst="roundRect">
            <a:avLst>
              <a:gd name="adj" fmla="val 14118"/>
            </a:avLst>
          </a:prstGeom>
          <a:solidFill>
            <a:schemeClr val="tx2"/>
          </a:solidFill>
          <a:ln/>
        </p:spPr>
      </p:sp>
      <p:pic>
        <p:nvPicPr>
          <p:cNvPr id="21" name="res-214" descr="preencoded.png">    </p:cNvPr>
          <p:cNvPicPr>
            <a:picLocks noChangeAspect="1"/>
          </p:cNvPicPr>
          <p:nvPr/>
        </p:nvPicPr>
        <p:blipFill>
          <a:blip r:embed="rId5"/>
          <a:stretch>
            <a:fillRect/>
          </a:stretch>
        </p:blipFill>
        <p:spPr>
          <a:xfrm>
            <a:off x="3383280" y="4224528"/>
            <a:ext cx="384048" cy="384048"/>
          </a:xfrm>
          <a:prstGeom prst="rect">
            <a:avLst/>
          </a:prstGeom>
        </p:spPr>
      </p:pic>
      <p:sp>
        <p:nvSpPr>
          <p:cNvPr id="22" name="text-215"/>
          <p:cNvSpPr txBox="1"/>
          <p:nvPr/>
        </p:nvSpPr>
        <p:spPr>
          <a:xfrm>
            <a:off x="3886200" y="4023360"/>
            <a:ext cx="2148840" cy="777240"/>
          </a:xfrm>
          <a:prstGeom prst="rect">
            <a:avLst/>
          </a:prstGeom>
          <a:noFill/>
          <a:ln/>
        </p:spPr>
        <p:txBody>
          <a:bodyPr wrap="square" lIns="0" tIns="0" rIns="0" bIns="0" rtlCol="0" anchor="ctr"/>
          <a:lstStyle/>
          <a:p>
            <a:pPr indent="0" marL="0">
              <a:buNone/>
            </a:pPr>
            <a:r>
              <a:rPr lang="en-US" sz="1300" dirty="0">
                <a:solidFill>
                  <a:schemeClr val="bg1"/>
                </a:solidFill>
              </a:rPr>
              <a:t>“Who Wants to Be a Millionaire?” — correct</a:t>
            </a:r>
            <a:endParaRPr lang="en-US" sz="1300" dirty="0"/>
          </a:p>
        </p:txBody>
      </p:sp>
      <p:sp>
        <p:nvSpPr>
          <p:cNvPr id="23" name="fact-216"/>
          <p:cNvSpPr/>
          <p:nvPr/>
        </p:nvSpPr>
        <p:spPr>
          <a:xfrm>
            <a:off x="548640" y="5074920"/>
            <a:ext cx="5577840" cy="1051560"/>
          </a:xfrm>
          <a:prstGeom prst="roundRect">
            <a:avLst>
              <a:gd name="adj" fmla="val 10435"/>
            </a:avLst>
          </a:prstGeom>
          <a:solidFill>
            <a:schemeClr val="accent4">
              <a:alpha val="16000"/>
            </a:schemeClr>
          </a:solidFill>
          <a:ln w="19050">
            <a:solidFill>
              <a:schemeClr val="accent4"/>
            </a:solidFill>
            <a:prstDash val="solid"/>
          </a:ln>
        </p:spPr>
      </p:sp>
      <p:sp>
        <p:nvSpPr>
          <p:cNvPr id="24" name="text-217"/>
          <p:cNvSpPr txBox="1"/>
          <p:nvPr/>
        </p:nvSpPr>
        <p:spPr>
          <a:xfrm>
            <a:off x="777240" y="5138928"/>
            <a:ext cx="5166360" cy="914400"/>
          </a:xfrm>
          <a:prstGeom prst="rect">
            <a:avLst/>
          </a:prstGeom>
          <a:noFill/>
          <a:ln/>
        </p:spPr>
        <p:txBody>
          <a:bodyPr wrap="square" lIns="0" tIns="0" rIns="0" bIns="0" rtlCol="0" anchor="ctr"/>
          <a:lstStyle/>
          <a:p>
            <a:pPr indent="0" marL="0">
              <a:buNone/>
            </a:pPr>
            <a:r>
              <a:rPr lang="en-US" sz="2200" b="1" dirty="0">
                <a:solidFill>
                  <a:schemeClr val="accent4"/>
                </a:solidFill>
              </a:rPr>
              <a:t>7 of 100</a:t>
            </a:r>
            <a:pPr indent="0" marL="0">
              <a:buNone/>
            </a:pPr>
            <a:r>
              <a:rPr lang="en-US" sz="1300" dirty="0">
                <a:solidFill>
                  <a:schemeClr val="bg1"/>
                </a:solidFill>
              </a:rPr>
              <a:t>  cheap replies in the benchmark were empty. Whenever the router sent one of those to the cheap model, the validator caught it and — budget permitting — escalated.</a:t>
            </a:r>
            <a:endParaRPr lang="en-US" sz="1400" dirty="0"/>
          </a:p>
        </p:txBody>
      </p:sp>
      <p:sp>
        <p:nvSpPr>
          <p:cNvPr id="25" name="audit-218"/>
          <p:cNvSpPr/>
          <p:nvPr/>
        </p:nvSpPr>
        <p:spPr>
          <a:xfrm>
            <a:off x="6583680" y="1371600"/>
            <a:ext cx="5029200" cy="4754880"/>
          </a:xfrm>
          <a:prstGeom prst="roundRect">
            <a:avLst>
              <a:gd name="adj" fmla="val 2308"/>
            </a:avLst>
          </a:prstGeom>
          <a:solidFill>
            <a:schemeClr val="tx2"/>
          </a:solidFill>
          <a:ln/>
        </p:spPr>
      </p:sp>
      <p:sp>
        <p:nvSpPr>
          <p:cNvPr id="26" name="icon-bg-219"/>
          <p:cNvSpPr/>
          <p:nvPr/>
        </p:nvSpPr>
        <p:spPr>
          <a:xfrm>
            <a:off x="6812280" y="1554480"/>
            <a:ext cx="548640" cy="548640"/>
          </a:xfrm>
          <a:prstGeom prst="ellipse">
            <a:avLst/>
          </a:prstGeom>
          <a:solidFill>
            <a:schemeClr val="accent4">
              <a:alpha val="22000"/>
            </a:schemeClr>
          </a:solidFill>
          <a:ln/>
        </p:spPr>
      </p:sp>
      <p:pic>
        <p:nvPicPr>
          <p:cNvPr id="27" name="icon-220" descr="preencoded.png">    </p:cNvPr>
          <p:cNvPicPr>
            <a:picLocks noChangeAspect="1"/>
          </p:cNvPicPr>
          <p:nvPr/>
        </p:nvPicPr>
        <p:blipFill>
          <a:blip r:embed="rId6"/>
          <a:stretch>
            <a:fillRect/>
          </a:stretch>
        </p:blipFill>
        <p:spPr>
          <a:xfrm>
            <a:off x="6949440" y="1691640"/>
            <a:ext cx="274320" cy="274320"/>
          </a:xfrm>
          <a:prstGeom prst="rect">
            <a:avLst/>
          </a:prstGeom>
        </p:spPr>
      </p:pic>
      <p:sp>
        <p:nvSpPr>
          <p:cNvPr id="28" name="text-221"/>
          <p:cNvSpPr txBox="1"/>
          <p:nvPr/>
        </p:nvSpPr>
        <p:spPr>
          <a:xfrm>
            <a:off x="7498080" y="1554480"/>
            <a:ext cx="3931920" cy="548640"/>
          </a:xfrm>
          <a:prstGeom prst="rect">
            <a:avLst/>
          </a:prstGeom>
          <a:noFill/>
          <a:ln/>
        </p:spPr>
        <p:txBody>
          <a:bodyPr wrap="square" lIns="0" tIns="0" rIns="0" bIns="0" rtlCol="0" anchor="ctr"/>
          <a:lstStyle/>
          <a:p>
            <a:pPr indent="0" marL="0">
              <a:buNone/>
            </a:pPr>
            <a:r>
              <a:rPr lang="en-US" sz="1700" b="1" dirty="0">
                <a:solidFill>
                  <a:schemeClr val="bg1"/>
                </a:solidFill>
              </a:rPr>
              <a:t>The audit record (SQLite)</a:t>
            </a:r>
            <a:endParaRPr lang="en-US" sz="1700" dirty="0"/>
          </a:p>
        </p:txBody>
      </p:sp>
      <p:sp>
        <p:nvSpPr>
          <p:cNvPr id="29" name="text-222"/>
          <p:cNvSpPr txBox="1"/>
          <p:nvPr/>
        </p:nvSpPr>
        <p:spPr>
          <a:xfrm>
            <a:off x="6858000" y="2331720"/>
            <a:ext cx="4572000" cy="3200400"/>
          </a:xfrm>
          <a:prstGeom prst="rect">
            <a:avLst/>
          </a:prstGeom>
          <a:noFill/>
          <a:ln/>
        </p:spPr>
        <p:txBody>
          <a:bodyPr wrap="square" lIns="0" tIns="0" rIns="0" bIns="0" rtlCol="0" anchor="t"/>
          <a:lstStyle/>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step_id          triviaqa-16</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difficulty_score 0.058</a:t>
            </a:r>
            <a:endParaRPr lang="en-US" sz="1500" dirty="0"/>
          </a:p>
          <a:p>
            <a:pPr indent="0" marL="0">
              <a:spcAft>
                <a:spcPts val="400"/>
              </a:spcAft>
              <a:buNone/>
            </a:pPr>
            <a:r>
              <a:rPr lang="en-US" sz="1500" dirty="0">
                <a:solidFill>
                  <a:schemeClr val="accent3"/>
                </a:solidFill>
                <a:latin typeface="Courier New" pitchFamily="34" charset="0"/>
                <a:ea typeface="Courier New" pitchFamily="34" charset="-122"/>
                <a:cs typeface="Courier New" pitchFamily="34" charset="-120"/>
              </a:rPr>
              <a:t>model_chosen     expensive</a:t>
            </a:r>
            <a:endParaRPr lang="en-US" sz="1500" dirty="0"/>
          </a:p>
          <a:p>
            <a:pPr indent="0" marL="0">
              <a:spcAft>
                <a:spcPts val="400"/>
              </a:spcAft>
              <a:buNone/>
            </a:pPr>
            <a:r>
              <a:rPr lang="en-US" sz="1500" dirty="0">
                <a:solidFill>
                  <a:schemeClr val="accent3"/>
                </a:solidFill>
                <a:latin typeface="Courier New" pitchFamily="34" charset="0"/>
                <a:ea typeface="Courier New" pitchFamily="34" charset="-122"/>
                <a:cs typeface="Courier New" pitchFamily="34" charset="-120"/>
              </a:rPr>
              <a:t>retried          true</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budget_forced    false</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actual_cost_usd  0.000427</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budget_before    9.992341</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budget_after     9.991914</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prompt_hash      b764d66dcf871fbc</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error            MalformedOutputError</a:t>
            </a:r>
            <a:endParaRPr lang="en-US" sz="1500" dirty="0"/>
          </a:p>
        </p:txBody>
      </p:sp>
      <p:sp>
        <p:nvSpPr>
          <p:cNvPr id="30" name="text-223"/>
          <p:cNvSpPr txBox="1"/>
          <p:nvPr/>
        </p:nvSpPr>
        <p:spPr>
          <a:xfrm>
            <a:off x="6858000" y="5532120"/>
            <a:ext cx="4572000" cy="502920"/>
          </a:xfrm>
          <a:prstGeom prst="rect">
            <a:avLst/>
          </a:prstGeom>
          <a:noFill/>
          <a:ln/>
        </p:spPr>
        <p:txBody>
          <a:bodyPr wrap="square" lIns="0" tIns="0" rIns="0" bIns="0" rtlCol="0" anchor="t"/>
          <a:lstStyle/>
          <a:p>
            <a:pPr indent="0" marL="0">
              <a:buNone/>
            </a:pPr>
            <a:r>
              <a:rPr lang="en-US" sz="1200" dirty="0">
                <a:solidFill>
                  <a:schemeClr val="bg2"/>
                </a:solidFill>
              </a:rPr>
              <a:t>A real row from the t = 0.065 benchmark run. Prompts are stored as length + hash, never as text.</a:t>
            </a:r>
            <a:endParaRPr lang="en-US" sz="12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AB3C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bg1"/>
                </a:solidFill>
              </a:rPr>
              <a:t>We tested it on 100 real questions with two real models</a:t>
            </a:r>
            <a:endParaRPr lang="en-US" sz="2800" dirty="0"/>
          </a:p>
        </p:txBody>
      </p:sp>
      <p:sp>
        <p:nvSpPr>
          <p:cNvPr id="3" name="fact-224"/>
          <p:cNvSpPr/>
          <p:nvPr/>
        </p:nvSpPr>
        <p:spPr>
          <a:xfrm>
            <a:off x="548640" y="1417320"/>
            <a:ext cx="3520440" cy="2148840"/>
          </a:xfrm>
          <a:prstGeom prst="roundRect">
            <a:avLst>
              <a:gd name="adj" fmla="val 5106"/>
            </a:avLst>
          </a:prstGeom>
          <a:solidFill>
            <a:schemeClr val="tx2"/>
          </a:solidFill>
          <a:ln/>
        </p:spPr>
      </p:sp>
      <p:sp>
        <p:nvSpPr>
          <p:cNvPr id="4" name="icon-bg-225"/>
          <p:cNvSpPr/>
          <p:nvPr/>
        </p:nvSpPr>
        <p:spPr>
          <a:xfrm>
            <a:off x="777240" y="1645920"/>
            <a:ext cx="685800" cy="685800"/>
          </a:xfrm>
          <a:prstGeom prst="ellipse">
            <a:avLst/>
          </a:prstGeom>
          <a:solidFill>
            <a:schemeClr val="accent1">
              <a:alpha val="22000"/>
            </a:schemeClr>
          </a:solidFill>
          <a:ln/>
        </p:spPr>
      </p:sp>
      <p:pic>
        <p:nvPicPr>
          <p:cNvPr id="5" name="icon-226" descr="preencoded.png">    </p:cNvPr>
          <p:cNvPicPr>
            <a:picLocks noChangeAspect="1"/>
          </p:cNvPicPr>
          <p:nvPr/>
        </p:nvPicPr>
        <p:blipFill>
          <a:blip r:embed="rId1"/>
          <a:stretch>
            <a:fillRect/>
          </a:stretch>
        </p:blipFill>
        <p:spPr>
          <a:xfrm>
            <a:off x="948690" y="1817370"/>
            <a:ext cx="342900" cy="342900"/>
          </a:xfrm>
          <a:prstGeom prst="rect">
            <a:avLst/>
          </a:prstGeom>
        </p:spPr>
      </p:pic>
      <p:sp>
        <p:nvSpPr>
          <p:cNvPr id="6" name="text-227"/>
          <p:cNvSpPr txBox="1"/>
          <p:nvPr/>
        </p:nvSpPr>
        <p:spPr>
          <a:xfrm>
            <a:off x="1645920" y="1581912"/>
            <a:ext cx="2286000" cy="59436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100</a:t>
            </a:r>
            <a:endParaRPr lang="en-US" sz="3600" dirty="0"/>
          </a:p>
        </p:txBody>
      </p:sp>
      <p:sp>
        <p:nvSpPr>
          <p:cNvPr id="7" name="text-228"/>
          <p:cNvSpPr txBox="1"/>
          <p:nvPr/>
        </p:nvSpPr>
        <p:spPr>
          <a:xfrm>
            <a:off x="1645920" y="2148840"/>
            <a:ext cx="2286000" cy="320040"/>
          </a:xfrm>
          <a:prstGeom prst="rect">
            <a:avLst/>
          </a:prstGeom>
          <a:noFill/>
          <a:ln/>
        </p:spPr>
        <p:txBody>
          <a:bodyPr wrap="square" lIns="0" tIns="0" rIns="0" bIns="0" rtlCol="0" anchor="t"/>
          <a:lstStyle/>
          <a:p>
            <a:pPr indent="0" marL="0">
              <a:buNone/>
            </a:pPr>
            <a:r>
              <a:rPr lang="en-US" sz="1400" b="1" dirty="0">
                <a:solidFill>
                  <a:schemeClr val="bg1"/>
                </a:solidFill>
              </a:rPr>
              <a:t>real questions</a:t>
            </a:r>
            <a:endParaRPr lang="en-US" sz="1400" dirty="0"/>
          </a:p>
        </p:txBody>
      </p:sp>
      <p:sp>
        <p:nvSpPr>
          <p:cNvPr id="8" name="text-229"/>
          <p:cNvSpPr txBox="1"/>
          <p:nvPr/>
        </p:nvSpPr>
        <p:spPr>
          <a:xfrm>
            <a:off x="777240" y="2606040"/>
            <a:ext cx="3063240" cy="822960"/>
          </a:xfrm>
          <a:prstGeom prst="rect">
            <a:avLst/>
          </a:prstGeom>
          <a:noFill/>
          <a:ln/>
        </p:spPr>
        <p:txBody>
          <a:bodyPr wrap="square" lIns="0" tIns="0" rIns="0" bIns="0" rtlCol="0" anchor="t"/>
          <a:lstStyle/>
          <a:p>
            <a:pPr indent="0" marL="0">
              <a:buNone/>
            </a:pPr>
            <a:r>
              <a:rPr lang="en-US" sz="1300" dirty="0">
                <a:solidFill>
                  <a:schemeClr val="bg2"/>
                </a:solidFill>
              </a:rPr>
              <a:t>50 TriviaQA (knowledge) + 50 GSM8K (math word problems), seeded sample, shuffled together</a:t>
            </a:r>
            <a:endParaRPr lang="en-US" sz="1300" dirty="0"/>
          </a:p>
        </p:txBody>
      </p:sp>
      <p:sp>
        <p:nvSpPr>
          <p:cNvPr id="9" name="fact-230"/>
          <p:cNvSpPr/>
          <p:nvPr/>
        </p:nvSpPr>
        <p:spPr>
          <a:xfrm>
            <a:off x="4297680" y="1417320"/>
            <a:ext cx="3520440" cy="2148840"/>
          </a:xfrm>
          <a:prstGeom prst="roundRect">
            <a:avLst>
              <a:gd name="adj" fmla="val 5106"/>
            </a:avLst>
          </a:prstGeom>
          <a:solidFill>
            <a:schemeClr val="tx2"/>
          </a:solidFill>
          <a:ln/>
        </p:spPr>
      </p:sp>
      <p:sp>
        <p:nvSpPr>
          <p:cNvPr id="10" name="icon-bg-231"/>
          <p:cNvSpPr/>
          <p:nvPr/>
        </p:nvSpPr>
        <p:spPr>
          <a:xfrm>
            <a:off x="4526280" y="1645920"/>
            <a:ext cx="685800" cy="685800"/>
          </a:xfrm>
          <a:prstGeom prst="ellipse">
            <a:avLst/>
          </a:prstGeom>
          <a:solidFill>
            <a:schemeClr val="accent3">
              <a:alpha val="22000"/>
            </a:schemeClr>
          </a:solidFill>
          <a:ln/>
        </p:spPr>
      </p:sp>
      <p:pic>
        <p:nvPicPr>
          <p:cNvPr id="11" name="icon-232" descr="preencoded.png">    </p:cNvPr>
          <p:cNvPicPr>
            <a:picLocks noChangeAspect="1"/>
          </p:cNvPicPr>
          <p:nvPr/>
        </p:nvPicPr>
        <p:blipFill>
          <a:blip r:embed="rId2"/>
          <a:stretch>
            <a:fillRect/>
          </a:stretch>
        </p:blipFill>
        <p:spPr>
          <a:xfrm>
            <a:off x="4697730" y="1817370"/>
            <a:ext cx="342900" cy="342900"/>
          </a:xfrm>
          <a:prstGeom prst="rect">
            <a:avLst/>
          </a:prstGeom>
        </p:spPr>
      </p:pic>
      <p:sp>
        <p:nvSpPr>
          <p:cNvPr id="12" name="text-233"/>
          <p:cNvSpPr txBox="1"/>
          <p:nvPr/>
        </p:nvSpPr>
        <p:spPr>
          <a:xfrm>
            <a:off x="5394960" y="1581912"/>
            <a:ext cx="2286000" cy="594360"/>
          </a:xfrm>
          <a:prstGeom prst="rect">
            <a:avLst/>
          </a:prstGeom>
          <a:noFill/>
          <a:ln/>
        </p:spPr>
        <p:txBody>
          <a:bodyPr wrap="square" lIns="0" tIns="0" rIns="0" bIns="0" rtlCol="0" anchor="ctr"/>
          <a:lstStyle/>
          <a:p>
            <a:pPr indent="0" marL="0">
              <a:buNone/>
            </a:pPr>
            <a:r>
              <a:rPr lang="en-US" sz="3600" b="1" dirty="0">
                <a:solidFill>
                  <a:schemeClr val="accent3"/>
                </a:solidFill>
                <a:latin typeface="+mj-lt" pitchFamily="34" charset="0"/>
                <a:ea typeface="+mj-lt" pitchFamily="34" charset="-122"/>
                <a:cs typeface="+mj-lt" pitchFamily="34" charset="-120"/>
              </a:rPr>
              <a:t>2</a:t>
            </a:r>
            <a:endParaRPr lang="en-US" sz="3600" dirty="0"/>
          </a:p>
        </p:txBody>
      </p:sp>
      <p:sp>
        <p:nvSpPr>
          <p:cNvPr id="13" name="text-234"/>
          <p:cNvSpPr txBox="1"/>
          <p:nvPr/>
        </p:nvSpPr>
        <p:spPr>
          <a:xfrm>
            <a:off x="5394960" y="2148840"/>
            <a:ext cx="2286000" cy="320040"/>
          </a:xfrm>
          <a:prstGeom prst="rect">
            <a:avLst/>
          </a:prstGeom>
          <a:noFill/>
          <a:ln/>
        </p:spPr>
        <p:txBody>
          <a:bodyPr wrap="square" lIns="0" tIns="0" rIns="0" bIns="0" rtlCol="0" anchor="t"/>
          <a:lstStyle/>
          <a:p>
            <a:pPr indent="0" marL="0">
              <a:buNone/>
            </a:pPr>
            <a:r>
              <a:rPr lang="en-US" sz="1400" b="1" dirty="0">
                <a:solidFill>
                  <a:schemeClr val="bg1"/>
                </a:solidFill>
              </a:rPr>
              <a:t>real models on Groq</a:t>
            </a:r>
            <a:endParaRPr lang="en-US" sz="1400" dirty="0"/>
          </a:p>
        </p:txBody>
      </p:sp>
      <p:sp>
        <p:nvSpPr>
          <p:cNvPr id="14" name="text-235"/>
          <p:cNvSpPr txBox="1"/>
          <p:nvPr/>
        </p:nvSpPr>
        <p:spPr>
          <a:xfrm>
            <a:off x="4526280" y="2606040"/>
            <a:ext cx="3063240" cy="822960"/>
          </a:xfrm>
          <a:prstGeom prst="rect">
            <a:avLst/>
          </a:prstGeom>
          <a:noFill/>
          <a:ln/>
        </p:spPr>
        <p:txBody>
          <a:bodyPr wrap="square" lIns="0" tIns="0" rIns="0" bIns="0" rtlCol="0" anchor="t"/>
          <a:lstStyle/>
          <a:p>
            <a:pPr indent="0" marL="0">
              <a:buNone/>
            </a:pPr>
            <a:r>
              <a:rPr lang="en-US" sz="1300" dirty="0">
                <a:solidFill>
                  <a:schemeClr val="bg2"/>
                </a:solidFill>
              </a:rPr>
              <a:t>openai/gpt-oss-20b (cheap) vs openai/gpt-oss-120b (expensive)</a:t>
            </a:r>
            <a:endParaRPr lang="en-US" sz="1300" dirty="0"/>
          </a:p>
        </p:txBody>
      </p:sp>
      <p:sp>
        <p:nvSpPr>
          <p:cNvPr id="15" name="fact-236"/>
          <p:cNvSpPr/>
          <p:nvPr/>
        </p:nvSpPr>
        <p:spPr>
          <a:xfrm>
            <a:off x="8046720" y="1417320"/>
            <a:ext cx="3520440" cy="2148840"/>
          </a:xfrm>
          <a:prstGeom prst="roundRect">
            <a:avLst>
              <a:gd name="adj" fmla="val 5106"/>
            </a:avLst>
          </a:prstGeom>
          <a:solidFill>
            <a:schemeClr val="tx2"/>
          </a:solidFill>
          <a:ln/>
        </p:spPr>
      </p:sp>
      <p:sp>
        <p:nvSpPr>
          <p:cNvPr id="16" name="icon-bg-237"/>
          <p:cNvSpPr/>
          <p:nvPr/>
        </p:nvSpPr>
        <p:spPr>
          <a:xfrm>
            <a:off x="8275320" y="1645920"/>
            <a:ext cx="685800" cy="685800"/>
          </a:xfrm>
          <a:prstGeom prst="ellipse">
            <a:avLst/>
          </a:prstGeom>
          <a:solidFill>
            <a:schemeClr val="accent5">
              <a:alpha val="22000"/>
            </a:schemeClr>
          </a:solidFill>
          <a:ln/>
        </p:spPr>
      </p:sp>
      <p:pic>
        <p:nvPicPr>
          <p:cNvPr id="17" name="icon-238" descr="preencoded.png">    </p:cNvPr>
          <p:cNvPicPr>
            <a:picLocks noChangeAspect="1"/>
          </p:cNvPicPr>
          <p:nvPr/>
        </p:nvPicPr>
        <p:blipFill>
          <a:blip r:embed="rId3"/>
          <a:stretch>
            <a:fillRect/>
          </a:stretch>
        </p:blipFill>
        <p:spPr>
          <a:xfrm>
            <a:off x="8446770" y="1817370"/>
            <a:ext cx="342900" cy="342900"/>
          </a:xfrm>
          <a:prstGeom prst="rect">
            <a:avLst/>
          </a:prstGeom>
        </p:spPr>
      </p:pic>
      <p:sp>
        <p:nvSpPr>
          <p:cNvPr id="18" name="text-239"/>
          <p:cNvSpPr txBox="1"/>
          <p:nvPr/>
        </p:nvSpPr>
        <p:spPr>
          <a:xfrm>
            <a:off x="9144000" y="1581912"/>
            <a:ext cx="2286000" cy="594360"/>
          </a:xfrm>
          <a:prstGeom prst="rect">
            <a:avLst/>
          </a:prstGeom>
          <a:noFill/>
          <a:ln/>
        </p:spPr>
        <p:txBody>
          <a:bodyPr wrap="square" lIns="0" tIns="0" rIns="0" bIns="0" rtlCol="0" anchor="ctr"/>
          <a:lstStyle/>
          <a:p>
            <a:pPr indent="0" marL="0">
              <a:buNone/>
            </a:pPr>
            <a:r>
              <a:rPr lang="en-US" sz="3600" b="1" dirty="0">
                <a:solidFill>
                  <a:schemeClr val="accent5"/>
                </a:solidFill>
                <a:latin typeface="+mj-lt" pitchFamily="34" charset="0"/>
                <a:ea typeface="+mj-lt" pitchFamily="34" charset="-122"/>
                <a:cs typeface="+mj-lt" pitchFamily="34" charset="-120"/>
              </a:rPr>
              <a:t>2×</a:t>
            </a:r>
            <a:endParaRPr lang="en-US" sz="3600" dirty="0"/>
          </a:p>
        </p:txBody>
      </p:sp>
      <p:sp>
        <p:nvSpPr>
          <p:cNvPr id="19" name="text-240"/>
          <p:cNvSpPr txBox="1"/>
          <p:nvPr/>
        </p:nvSpPr>
        <p:spPr>
          <a:xfrm>
            <a:off x="9144000" y="2148840"/>
            <a:ext cx="2286000" cy="320040"/>
          </a:xfrm>
          <a:prstGeom prst="rect">
            <a:avLst/>
          </a:prstGeom>
          <a:noFill/>
          <a:ln/>
        </p:spPr>
        <p:txBody>
          <a:bodyPr wrap="square" lIns="0" tIns="0" rIns="0" bIns="0" rtlCol="0" anchor="t"/>
          <a:lstStyle/>
          <a:p>
            <a:pPr indent="0" marL="0">
              <a:buNone/>
            </a:pPr>
            <a:r>
              <a:rPr lang="en-US" sz="1400" b="1" dirty="0">
                <a:solidFill>
                  <a:schemeClr val="bg1"/>
                </a:solidFill>
              </a:rPr>
              <a:t>price gap</a:t>
            </a:r>
            <a:endParaRPr lang="en-US" sz="1400" dirty="0"/>
          </a:p>
        </p:txBody>
      </p:sp>
      <p:sp>
        <p:nvSpPr>
          <p:cNvPr id="20" name="text-241"/>
          <p:cNvSpPr txBox="1"/>
          <p:nvPr/>
        </p:nvSpPr>
        <p:spPr>
          <a:xfrm>
            <a:off x="8275320" y="2606040"/>
            <a:ext cx="3063240" cy="822960"/>
          </a:xfrm>
          <a:prstGeom prst="rect">
            <a:avLst/>
          </a:prstGeom>
          <a:noFill/>
          <a:ln/>
        </p:spPr>
        <p:txBody>
          <a:bodyPr wrap="square" lIns="0" tIns="0" rIns="0" bIns="0" rtlCol="0" anchor="t"/>
          <a:lstStyle/>
          <a:p>
            <a:pPr indent="0" marL="0">
              <a:buNone/>
            </a:pPr>
            <a:r>
              <a:rPr lang="en-US" sz="1300" dirty="0">
                <a:solidFill>
                  <a:schemeClr val="bg2"/>
                </a:solidFill>
              </a:rPr>
              <a:t>$0.075 / $0.30 vs $0.15 / $0.60 per million input / output tokens</a:t>
            </a:r>
            <a:endParaRPr lang="en-US" sz="1300" dirty="0"/>
          </a:p>
        </p:txBody>
      </p:sp>
      <p:sp>
        <p:nvSpPr>
          <p:cNvPr id="21" name="fact-242"/>
          <p:cNvSpPr/>
          <p:nvPr/>
        </p:nvSpPr>
        <p:spPr>
          <a:xfrm>
            <a:off x="548640" y="3794760"/>
            <a:ext cx="3520440" cy="2148840"/>
          </a:xfrm>
          <a:prstGeom prst="roundRect">
            <a:avLst>
              <a:gd name="adj" fmla="val 5106"/>
            </a:avLst>
          </a:prstGeom>
          <a:solidFill>
            <a:schemeClr val="tx2"/>
          </a:solidFill>
          <a:ln/>
        </p:spPr>
      </p:sp>
      <p:sp>
        <p:nvSpPr>
          <p:cNvPr id="22" name="icon-bg-243"/>
          <p:cNvSpPr/>
          <p:nvPr/>
        </p:nvSpPr>
        <p:spPr>
          <a:xfrm>
            <a:off x="777240" y="4023360"/>
            <a:ext cx="685800" cy="685800"/>
          </a:xfrm>
          <a:prstGeom prst="ellipse">
            <a:avLst/>
          </a:prstGeom>
          <a:solidFill>
            <a:schemeClr val="accent4">
              <a:alpha val="22000"/>
            </a:schemeClr>
          </a:solidFill>
          <a:ln/>
        </p:spPr>
      </p:sp>
      <p:pic>
        <p:nvPicPr>
          <p:cNvPr id="23" name="icon-244" descr="preencoded.png">    </p:cNvPr>
          <p:cNvPicPr>
            <a:picLocks noChangeAspect="1"/>
          </p:cNvPicPr>
          <p:nvPr/>
        </p:nvPicPr>
        <p:blipFill>
          <a:blip r:embed="rId4"/>
          <a:stretch>
            <a:fillRect/>
          </a:stretch>
        </p:blipFill>
        <p:spPr>
          <a:xfrm>
            <a:off x="948690" y="4194810"/>
            <a:ext cx="342900" cy="342900"/>
          </a:xfrm>
          <a:prstGeom prst="rect">
            <a:avLst/>
          </a:prstGeom>
        </p:spPr>
      </p:pic>
      <p:sp>
        <p:nvSpPr>
          <p:cNvPr id="24" name="text-245"/>
          <p:cNvSpPr txBox="1"/>
          <p:nvPr/>
        </p:nvSpPr>
        <p:spPr>
          <a:xfrm>
            <a:off x="1645920" y="3959352"/>
            <a:ext cx="2286000" cy="594360"/>
          </a:xfrm>
          <a:prstGeom prst="rect">
            <a:avLst/>
          </a:prstGeom>
          <a:noFill/>
          <a:ln/>
        </p:spPr>
        <p:txBody>
          <a:bodyPr wrap="square" lIns="0" tIns="0" rIns="0" bIns="0" rtlCol="0" anchor="ctr"/>
          <a:lstStyle/>
          <a:p>
            <a:pPr indent="0" marL="0">
              <a:buNone/>
            </a:pPr>
            <a:r>
              <a:rPr lang="en-US" sz="3600" b="1" dirty="0">
                <a:solidFill>
                  <a:schemeClr val="accent4"/>
                </a:solidFill>
                <a:latin typeface="+mj-lt" pitchFamily="34" charset="0"/>
                <a:ea typeface="+mj-lt" pitchFamily="34" charset="-122"/>
                <a:cs typeface="+mj-lt" pitchFamily="34" charset="-120"/>
              </a:rPr>
              <a:t>9</a:t>
            </a:r>
            <a:endParaRPr lang="en-US" sz="3600" dirty="0"/>
          </a:p>
        </p:txBody>
      </p:sp>
      <p:sp>
        <p:nvSpPr>
          <p:cNvPr id="25" name="text-246"/>
          <p:cNvSpPr txBox="1"/>
          <p:nvPr/>
        </p:nvSpPr>
        <p:spPr>
          <a:xfrm>
            <a:off x="1645920" y="4526280"/>
            <a:ext cx="2286000" cy="320040"/>
          </a:xfrm>
          <a:prstGeom prst="rect">
            <a:avLst/>
          </a:prstGeom>
          <a:noFill/>
          <a:ln/>
        </p:spPr>
        <p:txBody>
          <a:bodyPr wrap="square" lIns="0" tIns="0" rIns="0" bIns="0" rtlCol="0" anchor="t"/>
          <a:lstStyle/>
          <a:p>
            <a:pPr indent="0" marL="0">
              <a:buNone/>
            </a:pPr>
            <a:r>
              <a:rPr lang="en-US" sz="1400" b="1" dirty="0">
                <a:solidFill>
                  <a:schemeClr val="bg1"/>
                </a:solidFill>
              </a:rPr>
              <a:t>runs</a:t>
            </a:r>
            <a:endParaRPr lang="en-US" sz="1400" dirty="0"/>
          </a:p>
        </p:txBody>
      </p:sp>
      <p:sp>
        <p:nvSpPr>
          <p:cNvPr id="26" name="text-247"/>
          <p:cNvSpPr txBox="1"/>
          <p:nvPr/>
        </p:nvSpPr>
        <p:spPr>
          <a:xfrm>
            <a:off x="777240" y="4983480"/>
            <a:ext cx="3063240" cy="822960"/>
          </a:xfrm>
          <a:prstGeom prst="rect">
            <a:avLst/>
          </a:prstGeom>
          <a:noFill/>
          <a:ln/>
        </p:spPr>
        <p:txBody>
          <a:bodyPr wrap="square" lIns="0" tIns="0" rIns="0" bIns="0" rtlCol="0" anchor="t"/>
          <a:lstStyle/>
          <a:p>
            <a:pPr indent="0" marL="0">
              <a:buNone/>
            </a:pPr>
            <a:r>
              <a:rPr lang="en-US" sz="1300" dirty="0">
                <a:solidFill>
                  <a:schemeClr val="bg2"/>
                </a:solidFill>
              </a:rPr>
              <a:t>2 baselines, a 5-threshold sweep, and 2 budget caps (SOFT and HARD_STOP)</a:t>
            </a:r>
            <a:endParaRPr lang="en-US" sz="1300" dirty="0"/>
          </a:p>
        </p:txBody>
      </p:sp>
      <p:sp>
        <p:nvSpPr>
          <p:cNvPr id="27" name="fact-248"/>
          <p:cNvSpPr/>
          <p:nvPr/>
        </p:nvSpPr>
        <p:spPr>
          <a:xfrm>
            <a:off x="4297680" y="3794760"/>
            <a:ext cx="3520440" cy="2148840"/>
          </a:xfrm>
          <a:prstGeom prst="roundRect">
            <a:avLst>
              <a:gd name="adj" fmla="val 5106"/>
            </a:avLst>
          </a:prstGeom>
          <a:solidFill>
            <a:schemeClr val="tx2"/>
          </a:solidFill>
          <a:ln/>
        </p:spPr>
      </p:sp>
      <p:sp>
        <p:nvSpPr>
          <p:cNvPr id="28" name="icon-bg-249"/>
          <p:cNvSpPr/>
          <p:nvPr/>
        </p:nvSpPr>
        <p:spPr>
          <a:xfrm>
            <a:off x="4526280" y="4023360"/>
            <a:ext cx="685800" cy="685800"/>
          </a:xfrm>
          <a:prstGeom prst="ellipse">
            <a:avLst/>
          </a:prstGeom>
          <a:solidFill>
            <a:schemeClr val="accent2">
              <a:alpha val="22000"/>
            </a:schemeClr>
          </a:solidFill>
          <a:ln/>
        </p:spPr>
      </p:sp>
      <p:pic>
        <p:nvPicPr>
          <p:cNvPr id="29" name="icon-250" descr="preencoded.png">    </p:cNvPr>
          <p:cNvPicPr>
            <a:picLocks noChangeAspect="1"/>
          </p:cNvPicPr>
          <p:nvPr/>
        </p:nvPicPr>
        <p:blipFill>
          <a:blip r:embed="rId5"/>
          <a:stretch>
            <a:fillRect/>
          </a:stretch>
        </p:blipFill>
        <p:spPr>
          <a:xfrm>
            <a:off x="4697730" y="4194810"/>
            <a:ext cx="342900" cy="342900"/>
          </a:xfrm>
          <a:prstGeom prst="rect">
            <a:avLst/>
          </a:prstGeom>
        </p:spPr>
      </p:pic>
      <p:sp>
        <p:nvSpPr>
          <p:cNvPr id="30" name="text-251"/>
          <p:cNvSpPr txBox="1"/>
          <p:nvPr/>
        </p:nvSpPr>
        <p:spPr>
          <a:xfrm>
            <a:off x="5394960" y="3959352"/>
            <a:ext cx="2286000" cy="594360"/>
          </a:xfrm>
          <a:prstGeom prst="rect">
            <a:avLst/>
          </a:prstGeom>
          <a:noFill/>
          <a:ln/>
        </p:spPr>
        <p:txBody>
          <a:bodyPr wrap="square" lIns="0" tIns="0" rIns="0" bIns="0" rtlCol="0" anchor="ctr"/>
          <a:lstStyle/>
          <a:p>
            <a:pPr indent="0" marL="0">
              <a:buNone/>
            </a:pPr>
            <a:r>
              <a:rPr lang="en-US" sz="3600" b="1" dirty="0">
                <a:solidFill>
                  <a:schemeClr val="accent2"/>
                </a:solidFill>
                <a:latin typeface="+mj-lt" pitchFamily="34" charset="0"/>
                <a:ea typeface="+mj-lt" pitchFamily="34" charset="-122"/>
                <a:cs typeface="+mj-lt" pitchFamily="34" charset="-120"/>
              </a:rPr>
              <a:t>$0.023</a:t>
            </a:r>
            <a:endParaRPr lang="en-US" sz="3600" dirty="0"/>
          </a:p>
        </p:txBody>
      </p:sp>
      <p:sp>
        <p:nvSpPr>
          <p:cNvPr id="31" name="text-252"/>
          <p:cNvSpPr txBox="1"/>
          <p:nvPr/>
        </p:nvSpPr>
        <p:spPr>
          <a:xfrm>
            <a:off x="5394960" y="4526280"/>
            <a:ext cx="2286000" cy="320040"/>
          </a:xfrm>
          <a:prstGeom prst="rect">
            <a:avLst/>
          </a:prstGeom>
          <a:noFill/>
          <a:ln/>
        </p:spPr>
        <p:txBody>
          <a:bodyPr wrap="square" lIns="0" tIns="0" rIns="0" bIns="0" rtlCol="0" anchor="t"/>
          <a:lstStyle/>
          <a:p>
            <a:pPr indent="0" marL="0">
              <a:buNone/>
            </a:pPr>
            <a:r>
              <a:rPr lang="en-US" sz="1400" b="1" dirty="0">
                <a:solidFill>
                  <a:schemeClr val="bg1"/>
                </a:solidFill>
              </a:rPr>
              <a:t>total API cost</a:t>
            </a:r>
            <a:endParaRPr lang="en-US" sz="1400" dirty="0"/>
          </a:p>
        </p:txBody>
      </p:sp>
      <p:sp>
        <p:nvSpPr>
          <p:cNvPr id="32" name="text-253"/>
          <p:cNvSpPr txBox="1"/>
          <p:nvPr/>
        </p:nvSpPr>
        <p:spPr>
          <a:xfrm>
            <a:off x="4526280" y="4983480"/>
            <a:ext cx="3063240" cy="822960"/>
          </a:xfrm>
          <a:prstGeom prst="rect">
            <a:avLst/>
          </a:prstGeom>
          <a:noFill/>
          <a:ln/>
        </p:spPr>
        <p:txBody>
          <a:bodyPr wrap="square" lIns="0" tIns="0" rIns="0" bIns="0" rtlCol="0" anchor="t"/>
          <a:lstStyle/>
          <a:p>
            <a:pPr indent="0" marL="0">
              <a:buNone/>
            </a:pPr>
            <a:r>
              <a:rPr lang="en-US" sz="1300" dirty="0">
                <a:solidFill>
                  <a:schemeClr val="bg2"/>
                </a:solidFill>
              </a:rPr>
              <a:t>every answer cached at temperature 0, so all runs see identical responses</a:t>
            </a:r>
            <a:endParaRPr lang="en-US" sz="1300" dirty="0"/>
          </a:p>
        </p:txBody>
      </p:sp>
      <p:sp>
        <p:nvSpPr>
          <p:cNvPr id="33" name="fact-254"/>
          <p:cNvSpPr/>
          <p:nvPr/>
        </p:nvSpPr>
        <p:spPr>
          <a:xfrm>
            <a:off x="8046720" y="3794760"/>
            <a:ext cx="3520440" cy="2148840"/>
          </a:xfrm>
          <a:prstGeom prst="roundRect">
            <a:avLst>
              <a:gd name="adj" fmla="val 5106"/>
            </a:avLst>
          </a:prstGeom>
          <a:solidFill>
            <a:schemeClr val="tx2"/>
          </a:solidFill>
          <a:ln/>
        </p:spPr>
      </p:sp>
      <p:sp>
        <p:nvSpPr>
          <p:cNvPr id="34" name="icon-bg-255"/>
          <p:cNvSpPr/>
          <p:nvPr/>
        </p:nvSpPr>
        <p:spPr>
          <a:xfrm>
            <a:off x="8275320" y="4023360"/>
            <a:ext cx="685800" cy="685800"/>
          </a:xfrm>
          <a:prstGeom prst="ellipse">
            <a:avLst/>
          </a:prstGeom>
          <a:solidFill>
            <a:schemeClr val="accent1">
              <a:alpha val="22000"/>
            </a:schemeClr>
          </a:solidFill>
          <a:ln/>
        </p:spPr>
      </p:sp>
      <p:pic>
        <p:nvPicPr>
          <p:cNvPr id="35" name="icon-256" descr="preencoded.png">    </p:cNvPr>
          <p:cNvPicPr>
            <a:picLocks noChangeAspect="1"/>
          </p:cNvPicPr>
          <p:nvPr/>
        </p:nvPicPr>
        <p:blipFill>
          <a:blip r:embed="rId6"/>
          <a:stretch>
            <a:fillRect/>
          </a:stretch>
        </p:blipFill>
        <p:spPr>
          <a:xfrm>
            <a:off x="8446770" y="4194810"/>
            <a:ext cx="342900" cy="342900"/>
          </a:xfrm>
          <a:prstGeom prst="rect">
            <a:avLst/>
          </a:prstGeom>
        </p:spPr>
      </p:pic>
      <p:sp>
        <p:nvSpPr>
          <p:cNvPr id="36" name="text-257"/>
          <p:cNvSpPr txBox="1"/>
          <p:nvPr/>
        </p:nvSpPr>
        <p:spPr>
          <a:xfrm>
            <a:off x="9144000" y="3959352"/>
            <a:ext cx="2286000" cy="59436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139</a:t>
            </a:r>
            <a:endParaRPr lang="en-US" sz="3600" dirty="0"/>
          </a:p>
        </p:txBody>
      </p:sp>
      <p:sp>
        <p:nvSpPr>
          <p:cNvPr id="37" name="text-258"/>
          <p:cNvSpPr txBox="1"/>
          <p:nvPr/>
        </p:nvSpPr>
        <p:spPr>
          <a:xfrm>
            <a:off x="9144000" y="4526280"/>
            <a:ext cx="2286000" cy="320040"/>
          </a:xfrm>
          <a:prstGeom prst="rect">
            <a:avLst/>
          </a:prstGeom>
          <a:noFill/>
          <a:ln/>
        </p:spPr>
        <p:txBody>
          <a:bodyPr wrap="square" lIns="0" tIns="0" rIns="0" bIns="0" rtlCol="0" anchor="t"/>
          <a:lstStyle/>
          <a:p>
            <a:pPr indent="0" marL="0">
              <a:buNone/>
            </a:pPr>
            <a:r>
              <a:rPr lang="en-US" sz="1400" b="1" dirty="0">
                <a:solidFill>
                  <a:schemeClr val="bg1"/>
                </a:solidFill>
              </a:rPr>
              <a:t>automated tests</a:t>
            </a:r>
            <a:endParaRPr lang="en-US" sz="1400" dirty="0"/>
          </a:p>
        </p:txBody>
      </p:sp>
      <p:sp>
        <p:nvSpPr>
          <p:cNvPr id="38" name="text-259"/>
          <p:cNvSpPr txBox="1"/>
          <p:nvPr/>
        </p:nvSpPr>
        <p:spPr>
          <a:xfrm>
            <a:off x="8275320" y="4983480"/>
            <a:ext cx="3063240" cy="822960"/>
          </a:xfrm>
          <a:prstGeom prst="rect">
            <a:avLst/>
          </a:prstGeom>
          <a:noFill/>
          <a:ln/>
        </p:spPr>
        <p:txBody>
          <a:bodyPr wrap="square" lIns="0" tIns="0" rIns="0" bIns="0" rtlCol="0" anchor="t"/>
          <a:lstStyle/>
          <a:p>
            <a:pPr indent="0" marL="0">
              <a:buNone/>
            </a:pPr>
            <a:r>
              <a:rPr lang="en-US" sz="1300" dirty="0">
                <a:solidFill>
                  <a:schemeClr val="bg2"/>
                </a:solidFill>
              </a:rPr>
              <a:t>plus hand-checked grading of every answer marked wrong</a:t>
            </a:r>
            <a:endParaRPr lang="en-US" sz="13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AB3C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bg1"/>
                </a:solidFill>
              </a:rPr>
              <a:t>Results: v1 ≈ a random mix; task-type routing could save 27%</a:t>
            </a:r>
            <a:endParaRPr lang="en-US" sz="2800" dirty="0"/>
          </a:p>
        </p:txBody>
      </p:sp>
      <p:graphicFrame>
        <p:nvGraphicFramePr>
          <p:cNvPr id="3" name="pareto-260" descr=""/>
          <p:cNvGraphicFramePr/>
          <p:nvPr/>
        </p:nvGraphicFramePr>
        <p:xfrm>
          <a:off x="548640" y="1325880"/>
          <a:ext cx="7223760" cy="4846320"/>
        </p:xfrm>
        <a:graphic xmlns:a="http://schemas.openxmlformats.org/drawingml/2006/main">
          <a:graphicData uri="http://schemas.openxmlformats.org/drawingml/2006/chart">
            <c:chart xmlns:c="http://schemas.openxmlformats.org/drawingml/2006/chart" r:id="rId1"/>
          </a:graphicData>
        </a:graphic>
      </p:graphicFrame>
      <p:sp>
        <p:nvSpPr>
          <p:cNvPr id="4" name="callout-261"/>
          <p:cNvSpPr/>
          <p:nvPr/>
        </p:nvSpPr>
        <p:spPr>
          <a:xfrm>
            <a:off x="8138160" y="1325880"/>
            <a:ext cx="3474720" cy="1078992"/>
          </a:xfrm>
          <a:prstGeom prst="roundRect">
            <a:avLst>
              <a:gd name="adj" fmla="val 10169"/>
            </a:avLst>
          </a:prstGeom>
          <a:solidFill>
            <a:schemeClr val="tx2"/>
          </a:solidFill>
          <a:ln/>
        </p:spPr>
      </p:sp>
      <p:sp>
        <p:nvSpPr>
          <p:cNvPr id="5" name="text-262"/>
          <p:cNvSpPr txBox="1"/>
          <p:nvPr/>
        </p:nvSpPr>
        <p:spPr>
          <a:xfrm>
            <a:off x="8321040" y="1435608"/>
            <a:ext cx="1234440" cy="868680"/>
          </a:xfrm>
          <a:prstGeom prst="rect">
            <a:avLst/>
          </a:prstGeom>
          <a:noFill/>
          <a:ln/>
        </p:spPr>
        <p:txBody>
          <a:bodyPr wrap="square" lIns="0" tIns="0" rIns="0" bIns="0" rtlCol="0" anchor="ctr"/>
          <a:lstStyle/>
          <a:p>
            <a:pPr indent="0" marL="0">
              <a:buNone/>
            </a:pPr>
            <a:r>
              <a:rPr lang="en-US" sz="3400" b="1" dirty="0">
                <a:solidFill>
                  <a:schemeClr val="accent2"/>
                </a:solidFill>
                <a:latin typeface="+mj-lt" pitchFamily="34" charset="0"/>
                <a:ea typeface="+mj-lt" pitchFamily="34" charset="-122"/>
                <a:cs typeface="+mj-lt" pitchFamily="34" charset="-120"/>
              </a:rPr>
              <a:t>84%</a:t>
            </a:r>
            <a:endParaRPr lang="en-US" sz="3400" dirty="0"/>
          </a:p>
        </p:txBody>
      </p:sp>
      <p:sp>
        <p:nvSpPr>
          <p:cNvPr id="6" name="text-263"/>
          <p:cNvSpPr txBox="1"/>
          <p:nvPr/>
        </p:nvSpPr>
        <p:spPr>
          <a:xfrm>
            <a:off x="9601200" y="1435608"/>
            <a:ext cx="1920240" cy="868680"/>
          </a:xfrm>
          <a:prstGeom prst="rect">
            <a:avLst/>
          </a:prstGeom>
          <a:noFill/>
          <a:ln/>
        </p:spPr>
        <p:txBody>
          <a:bodyPr wrap="square" lIns="0" tIns="0" rIns="0" bIns="0" rtlCol="0" anchor="ctr"/>
          <a:lstStyle/>
          <a:p>
            <a:pPr indent="0" marL="0">
              <a:buNone/>
            </a:pPr>
            <a:r>
              <a:rPr lang="en-US" sz="1400" b="1" dirty="0">
                <a:solidFill>
                  <a:schemeClr val="bg1"/>
                </a:solidFill>
              </a:rPr>
              <a:t>Always cheap</a:t>
            </a:r>
            <a:endParaRPr lang="en-US" sz="1400" dirty="0"/>
          </a:p>
          <a:p>
            <a:pPr indent="0" marL="0">
              <a:buNone/>
            </a:pPr>
            <a:r>
              <a:rPr lang="en-US" sz="1200" dirty="0">
                <a:solidFill>
                  <a:schemeClr val="bg2"/>
                </a:solidFill>
              </a:rPr>
              <a:t>$0.0094 · 70% of the cost</a:t>
            </a:r>
            <a:endParaRPr lang="en-US" sz="1400" dirty="0"/>
          </a:p>
        </p:txBody>
      </p:sp>
      <p:sp>
        <p:nvSpPr>
          <p:cNvPr id="7" name="callout-264"/>
          <p:cNvSpPr/>
          <p:nvPr/>
        </p:nvSpPr>
        <p:spPr>
          <a:xfrm>
            <a:off x="8138160" y="2542032"/>
            <a:ext cx="3474720" cy="1078992"/>
          </a:xfrm>
          <a:prstGeom prst="roundRect">
            <a:avLst>
              <a:gd name="adj" fmla="val 10169"/>
            </a:avLst>
          </a:prstGeom>
          <a:solidFill>
            <a:schemeClr val="tx2"/>
          </a:solidFill>
          <a:ln/>
        </p:spPr>
      </p:sp>
      <p:sp>
        <p:nvSpPr>
          <p:cNvPr id="8" name="text-265"/>
          <p:cNvSpPr txBox="1"/>
          <p:nvPr/>
        </p:nvSpPr>
        <p:spPr>
          <a:xfrm>
            <a:off x="8321040" y="2651760"/>
            <a:ext cx="1234440" cy="868680"/>
          </a:xfrm>
          <a:prstGeom prst="rect">
            <a:avLst/>
          </a:prstGeom>
          <a:noFill/>
          <a:ln/>
        </p:spPr>
        <p:txBody>
          <a:bodyPr wrap="square" lIns="0" tIns="0" rIns="0" bIns="0" rtlCol="0" anchor="ctr"/>
          <a:lstStyle/>
          <a:p>
            <a:pPr indent="0" marL="0">
              <a:buNone/>
            </a:pPr>
            <a:r>
              <a:rPr lang="en-US" sz="3400" b="1" dirty="0">
                <a:solidFill>
                  <a:schemeClr val="accent3"/>
                </a:solidFill>
                <a:latin typeface="+mj-lt" pitchFamily="34" charset="0"/>
                <a:ea typeface="+mj-lt" pitchFamily="34" charset="-122"/>
                <a:cs typeface="+mj-lt" pitchFamily="34" charset="-120"/>
              </a:rPr>
              <a:t>89%</a:t>
            </a:r>
            <a:endParaRPr lang="en-US" sz="3400" dirty="0"/>
          </a:p>
        </p:txBody>
      </p:sp>
      <p:sp>
        <p:nvSpPr>
          <p:cNvPr id="9" name="text-266"/>
          <p:cNvSpPr txBox="1"/>
          <p:nvPr/>
        </p:nvSpPr>
        <p:spPr>
          <a:xfrm>
            <a:off x="9601200" y="2651760"/>
            <a:ext cx="1920240" cy="868680"/>
          </a:xfrm>
          <a:prstGeom prst="rect">
            <a:avLst/>
          </a:prstGeom>
          <a:noFill/>
          <a:ln/>
        </p:spPr>
        <p:txBody>
          <a:bodyPr wrap="square" lIns="0" tIns="0" rIns="0" bIns="0" rtlCol="0" anchor="ctr"/>
          <a:lstStyle/>
          <a:p>
            <a:pPr indent="0" marL="0">
              <a:buNone/>
            </a:pPr>
            <a:r>
              <a:rPr lang="en-US" sz="1400" b="1" dirty="0">
                <a:solidFill>
                  <a:schemeClr val="bg1"/>
                </a:solidFill>
              </a:rPr>
              <a:t>Always expensive</a:t>
            </a:r>
            <a:endParaRPr lang="en-US" sz="1400" dirty="0"/>
          </a:p>
          <a:p>
            <a:pPr indent="0" marL="0">
              <a:buNone/>
            </a:pPr>
            <a:r>
              <a:rPr lang="en-US" sz="1200" dirty="0">
                <a:solidFill>
                  <a:schemeClr val="bg2"/>
                </a:solidFill>
              </a:rPr>
              <a:t>$0.0134 · the baseline</a:t>
            </a:r>
            <a:endParaRPr lang="en-US" sz="1400" dirty="0"/>
          </a:p>
        </p:txBody>
      </p:sp>
      <p:sp>
        <p:nvSpPr>
          <p:cNvPr id="10" name="callout-267"/>
          <p:cNvSpPr/>
          <p:nvPr/>
        </p:nvSpPr>
        <p:spPr>
          <a:xfrm>
            <a:off x="8138160" y="3758184"/>
            <a:ext cx="3474720" cy="1078992"/>
          </a:xfrm>
          <a:prstGeom prst="roundRect">
            <a:avLst>
              <a:gd name="adj" fmla="val 10169"/>
            </a:avLst>
          </a:prstGeom>
          <a:solidFill>
            <a:schemeClr val="tx2"/>
          </a:solidFill>
          <a:ln/>
        </p:spPr>
      </p:sp>
      <p:sp>
        <p:nvSpPr>
          <p:cNvPr id="11" name="text-268"/>
          <p:cNvSpPr txBox="1"/>
          <p:nvPr/>
        </p:nvSpPr>
        <p:spPr>
          <a:xfrm>
            <a:off x="8321040" y="3867912"/>
            <a:ext cx="1234440" cy="868680"/>
          </a:xfrm>
          <a:prstGeom prst="rect">
            <a:avLst/>
          </a:prstGeom>
          <a:noFill/>
          <a:ln/>
        </p:spPr>
        <p:txBody>
          <a:bodyPr wrap="square" lIns="0" tIns="0" rIns="0" bIns="0" rtlCol="0" anchor="ctr"/>
          <a:lstStyle/>
          <a:p>
            <a:pPr indent="0" marL="0">
              <a:buNone/>
            </a:pPr>
            <a:r>
              <a:rPr lang="en-US" sz="3400" b="1" dirty="0">
                <a:solidFill>
                  <a:schemeClr val="accent1"/>
                </a:solidFill>
                <a:latin typeface="+mj-lt" pitchFamily="34" charset="0"/>
                <a:ea typeface="+mj-lt" pitchFamily="34" charset="-122"/>
                <a:cs typeface="+mj-lt" pitchFamily="34" charset="-120"/>
              </a:rPr>
              <a:t>88%</a:t>
            </a:r>
            <a:endParaRPr lang="en-US" sz="3400" dirty="0"/>
          </a:p>
        </p:txBody>
      </p:sp>
      <p:sp>
        <p:nvSpPr>
          <p:cNvPr id="12" name="text-269"/>
          <p:cNvSpPr txBox="1"/>
          <p:nvPr/>
        </p:nvSpPr>
        <p:spPr>
          <a:xfrm>
            <a:off x="9601200" y="3867912"/>
            <a:ext cx="1920240" cy="868680"/>
          </a:xfrm>
          <a:prstGeom prst="rect">
            <a:avLst/>
          </a:prstGeom>
          <a:noFill/>
          <a:ln/>
        </p:spPr>
        <p:txBody>
          <a:bodyPr wrap="square" lIns="0" tIns="0" rIns="0" bIns="0" rtlCol="0" anchor="ctr"/>
          <a:lstStyle/>
          <a:p>
            <a:pPr indent="0" marL="0">
              <a:buNone/>
            </a:pPr>
            <a:r>
              <a:rPr lang="en-US" sz="1400" b="1" dirty="0">
                <a:solidFill>
                  <a:schemeClr val="bg1"/>
                </a:solidFill>
              </a:rPr>
              <a:t>Best router setting</a:t>
            </a:r>
            <a:endParaRPr lang="en-US" sz="1400" dirty="0"/>
          </a:p>
          <a:p>
            <a:pPr indent="0" marL="0">
              <a:buNone/>
            </a:pPr>
            <a:r>
              <a:rPr lang="en-US" sz="1200" dirty="0">
                <a:solidFill>
                  <a:schemeClr val="bg2"/>
                </a:solidFill>
              </a:rPr>
              <a:t>96% of the cost — about a random mix</a:t>
            </a:r>
            <a:endParaRPr lang="en-US" sz="1400" dirty="0"/>
          </a:p>
        </p:txBody>
      </p:sp>
      <p:sp>
        <p:nvSpPr>
          <p:cNvPr id="13" name="callout-270"/>
          <p:cNvSpPr/>
          <p:nvPr/>
        </p:nvSpPr>
        <p:spPr>
          <a:xfrm>
            <a:off x="8138160" y="4974336"/>
            <a:ext cx="3474720" cy="1078992"/>
          </a:xfrm>
          <a:prstGeom prst="roundRect">
            <a:avLst>
              <a:gd name="adj" fmla="val 10169"/>
            </a:avLst>
          </a:prstGeom>
          <a:solidFill>
            <a:schemeClr val="accent4">
              <a:alpha val="16000"/>
            </a:schemeClr>
          </a:solidFill>
          <a:ln w="19050">
            <a:solidFill>
              <a:schemeClr val="accent4"/>
            </a:solidFill>
            <a:prstDash val="solid"/>
          </a:ln>
        </p:spPr>
      </p:sp>
      <p:sp>
        <p:nvSpPr>
          <p:cNvPr id="14" name="text-271"/>
          <p:cNvSpPr txBox="1"/>
          <p:nvPr/>
        </p:nvSpPr>
        <p:spPr>
          <a:xfrm>
            <a:off x="8321040" y="5084064"/>
            <a:ext cx="1234440" cy="868680"/>
          </a:xfrm>
          <a:prstGeom prst="rect">
            <a:avLst/>
          </a:prstGeom>
          <a:noFill/>
          <a:ln/>
        </p:spPr>
        <p:txBody>
          <a:bodyPr wrap="square" lIns="0" tIns="0" rIns="0" bIns="0" rtlCol="0" anchor="ctr"/>
          <a:lstStyle/>
          <a:p>
            <a:pPr indent="0" marL="0">
              <a:buNone/>
            </a:pPr>
            <a:r>
              <a:rPr lang="en-US" sz="3400" b="1" dirty="0">
                <a:solidFill>
                  <a:schemeClr val="accent4"/>
                </a:solidFill>
                <a:latin typeface="+mj-lt" pitchFamily="34" charset="0"/>
                <a:ea typeface="+mj-lt" pitchFamily="34" charset="-122"/>
                <a:cs typeface="+mj-lt" pitchFamily="34" charset="-120"/>
              </a:rPr>
              <a:t>89%</a:t>
            </a:r>
            <a:endParaRPr lang="en-US" sz="3400" dirty="0"/>
          </a:p>
        </p:txBody>
      </p:sp>
      <p:sp>
        <p:nvSpPr>
          <p:cNvPr id="15" name="text-272"/>
          <p:cNvSpPr txBox="1"/>
          <p:nvPr/>
        </p:nvSpPr>
        <p:spPr>
          <a:xfrm>
            <a:off x="9601200" y="5084064"/>
            <a:ext cx="1920240" cy="868680"/>
          </a:xfrm>
          <a:prstGeom prst="rect">
            <a:avLst/>
          </a:prstGeom>
          <a:noFill/>
          <a:ln/>
        </p:spPr>
        <p:txBody>
          <a:bodyPr wrap="square" lIns="0" tIns="0" rIns="0" bIns="0" rtlCol="0" anchor="ctr"/>
          <a:lstStyle/>
          <a:p>
            <a:pPr indent="0" marL="0">
              <a:buNone/>
            </a:pPr>
            <a:r>
              <a:rPr lang="en-US" sz="1400" b="1" dirty="0">
                <a:solidFill>
                  <a:schemeClr val="bg1"/>
                </a:solidFill>
              </a:rPr>
              <a:t>Route by task type</a:t>
            </a:r>
            <a:endParaRPr lang="en-US" sz="1400" dirty="0"/>
          </a:p>
          <a:p>
            <a:pPr indent="0" marL="0">
              <a:buNone/>
            </a:pPr>
            <a:r>
              <a:rPr lang="en-US" sz="1200" dirty="0">
                <a:solidFill>
                  <a:schemeClr val="bg2"/>
                </a:solidFill>
              </a:rPr>
              <a:t>73% of the cost — same accuracy</a:t>
            </a:r>
            <a:endParaRPr lang="en-US" sz="1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AB3C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bg1"/>
                </a:solidFill>
              </a:rPr>
              <a:t>Why: the models differ only on trivia, not on math</a:t>
            </a:r>
            <a:endParaRPr lang="en-US" sz="2800" dirty="0"/>
          </a:p>
        </p:txBody>
      </p:sp>
      <p:graphicFrame>
        <p:nvGraphicFramePr>
          <p:cNvPr id="3" name="acc-by-type-273" descr=""/>
          <p:cNvGraphicFramePr/>
          <p:nvPr/>
        </p:nvGraphicFramePr>
        <p:xfrm>
          <a:off x="548640" y="1325880"/>
          <a:ext cx="5394960" cy="37947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share-by-type-274" descr=""/>
          <p:cNvGraphicFramePr/>
          <p:nvPr/>
        </p:nvGraphicFramePr>
        <p:xfrm>
          <a:off x="6263640" y="1325880"/>
          <a:ext cx="5349240" cy="3794760"/>
        </p:xfrm>
        <a:graphic xmlns:a="http://schemas.openxmlformats.org/drawingml/2006/main">
          <a:graphicData uri="http://schemas.openxmlformats.org/drawingml/2006/chart">
            <c:chart xmlns:c="http://schemas.openxmlformats.org/drawingml/2006/chart" r:id="rId2"/>
          </a:graphicData>
        </a:graphic>
      </p:graphicFrame>
      <p:sp>
        <p:nvSpPr>
          <p:cNvPr id="5" name="takeaway-275"/>
          <p:cNvSpPr/>
          <p:nvPr/>
        </p:nvSpPr>
        <p:spPr>
          <a:xfrm>
            <a:off x="548640" y="5303520"/>
            <a:ext cx="11064240" cy="822960"/>
          </a:xfrm>
          <a:prstGeom prst="roundRect">
            <a:avLst>
              <a:gd name="adj" fmla="val 13333"/>
            </a:avLst>
          </a:prstGeom>
          <a:solidFill>
            <a:schemeClr val="accent4">
              <a:alpha val="16000"/>
            </a:schemeClr>
          </a:solidFill>
          <a:ln w="19050">
            <a:solidFill>
              <a:schemeClr val="accent4"/>
            </a:solidFill>
            <a:prstDash val="solid"/>
          </a:ln>
        </p:spPr>
      </p:sp>
      <p:sp>
        <p:nvSpPr>
          <p:cNvPr id="6" name="icon-bg-276"/>
          <p:cNvSpPr/>
          <p:nvPr/>
        </p:nvSpPr>
        <p:spPr>
          <a:xfrm>
            <a:off x="731520" y="5413248"/>
            <a:ext cx="603504" cy="603504"/>
          </a:xfrm>
          <a:prstGeom prst="ellipse">
            <a:avLst/>
          </a:prstGeom>
          <a:solidFill>
            <a:schemeClr val="accent4">
              <a:alpha val="22000"/>
            </a:schemeClr>
          </a:solidFill>
          <a:ln/>
        </p:spPr>
      </p:sp>
      <p:pic>
        <p:nvPicPr>
          <p:cNvPr id="7" name="icon-277" descr="preencoded.png">    </p:cNvPr>
          <p:cNvPicPr>
            <a:picLocks noChangeAspect="1"/>
          </p:cNvPicPr>
          <p:nvPr/>
        </p:nvPicPr>
        <p:blipFill>
          <a:blip r:embed="rId3"/>
          <a:stretch>
            <a:fillRect/>
          </a:stretch>
        </p:blipFill>
        <p:spPr>
          <a:xfrm>
            <a:off x="882396" y="5564124"/>
            <a:ext cx="301752" cy="301752"/>
          </a:xfrm>
          <a:prstGeom prst="rect">
            <a:avLst/>
          </a:prstGeom>
        </p:spPr>
      </p:pic>
      <p:sp>
        <p:nvSpPr>
          <p:cNvPr id="8" name="text-278"/>
          <p:cNvSpPr txBox="1"/>
          <p:nvPr/>
        </p:nvSpPr>
        <p:spPr>
          <a:xfrm>
            <a:off x="1508760" y="5349240"/>
            <a:ext cx="9966960" cy="731520"/>
          </a:xfrm>
          <a:prstGeom prst="rect">
            <a:avLst/>
          </a:prstGeom>
          <a:noFill/>
          <a:ln/>
        </p:spPr>
        <p:txBody>
          <a:bodyPr wrap="square" lIns="0" tIns="0" rIns="0" bIns="0" rtlCol="0" anchor="ctr"/>
          <a:lstStyle/>
          <a:p>
            <a:pPr indent="0" marL="0">
              <a:buNone/>
            </a:pPr>
            <a:r>
              <a:rPr lang="en-US" sz="1400" b="1" dirty="0">
                <a:solidFill>
                  <a:schemeClr val="bg1"/>
                </a:solidFill>
              </a:rPr>
              <a:t>Long math looks “hard” to the heuristic, but both models score 96% there. </a:t>
            </a:r>
            <a:pPr indent="0" marL="0">
              <a:buNone/>
            </a:pPr>
            <a:r>
              <a:rPr lang="en-US" sz="1400" dirty="0">
                <a:solidFill>
                  <a:schemeClr val="bg1"/>
                </a:solidFill>
              </a:rPr>
              <a:t>The money is wasted on GSM8K, while trivia — the one place the big model helps — is where it's needed.</a:t>
            </a:r>
            <a:endParaRPr lang="en-US" sz="1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AB3C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bg1"/>
                </a:solidFill>
              </a:rPr>
              <a:t>Live demo: watch every routing decision</a:t>
            </a:r>
            <a:endParaRPr lang="en-US" sz="2800" dirty="0"/>
          </a:p>
        </p:txBody>
      </p:sp>
      <p:sp>
        <p:nvSpPr>
          <p:cNvPr id="3" name="frame-279"/>
          <p:cNvSpPr/>
          <p:nvPr/>
        </p:nvSpPr>
        <p:spPr>
          <a:xfrm>
            <a:off x="457200" y="1280160"/>
            <a:ext cx="7132320" cy="4676687"/>
          </a:xfrm>
          <a:prstGeom prst="roundRect">
            <a:avLst>
              <a:gd name="adj" fmla="val 1564"/>
            </a:avLst>
          </a:prstGeom>
          <a:solidFill>
            <a:schemeClr val="accent1">
              <a:alpha val="30000"/>
            </a:schemeClr>
          </a:solidFill>
          <a:ln/>
        </p:spPr>
      </p:sp>
      <p:pic>
        <p:nvPicPr>
          <p:cNvPr id="4" name="live-shot-280" descr="CostRouter dashboard, Live Router page: the five routing steps for a retry-escalated question">    </p:cNvPr>
          <p:cNvPicPr>
            <a:picLocks noChangeAspect="1"/>
          </p:cNvPicPr>
          <p:nvPr/>
        </p:nvPicPr>
        <p:blipFill>
          <a:blip r:embed="rId1"/>
          <a:stretch>
            <a:fillRect/>
          </a:stretch>
        </p:blipFill>
        <p:spPr>
          <a:xfrm>
            <a:off x="548640" y="1371600"/>
            <a:ext cx="6949440" cy="4493807"/>
          </a:xfrm>
          <a:prstGeom prst="rect">
            <a:avLst/>
          </a:prstGeom>
        </p:spPr>
      </p:pic>
      <p:sp>
        <p:nvSpPr>
          <p:cNvPr id="5" name="icon-bg-281"/>
          <p:cNvSpPr/>
          <p:nvPr/>
        </p:nvSpPr>
        <p:spPr>
          <a:xfrm>
            <a:off x="8001000" y="1325880"/>
            <a:ext cx="548640" cy="548640"/>
          </a:xfrm>
          <a:prstGeom prst="ellipse">
            <a:avLst/>
          </a:prstGeom>
          <a:solidFill>
            <a:schemeClr val="accent2">
              <a:alpha val="22000"/>
            </a:schemeClr>
          </a:solidFill>
          <a:ln/>
        </p:spPr>
      </p:sp>
      <p:pic>
        <p:nvPicPr>
          <p:cNvPr id="6" name="icon-282" descr="preencoded.png">    </p:cNvPr>
          <p:cNvPicPr>
            <a:picLocks noChangeAspect="1"/>
          </p:cNvPicPr>
          <p:nvPr/>
        </p:nvPicPr>
        <p:blipFill>
          <a:blip r:embed="rId2"/>
          <a:stretch>
            <a:fillRect/>
          </a:stretch>
        </p:blipFill>
        <p:spPr>
          <a:xfrm>
            <a:off x="8138160" y="1463040"/>
            <a:ext cx="274320" cy="274320"/>
          </a:xfrm>
          <a:prstGeom prst="rect">
            <a:avLst/>
          </a:prstGeom>
        </p:spPr>
      </p:pic>
      <p:sp>
        <p:nvSpPr>
          <p:cNvPr id="7" name="text-283"/>
          <p:cNvSpPr txBox="1"/>
          <p:nvPr/>
        </p:nvSpPr>
        <p:spPr>
          <a:xfrm>
            <a:off x="8686800" y="1307592"/>
            <a:ext cx="2926080" cy="603504"/>
          </a:xfrm>
          <a:prstGeom prst="rect">
            <a:avLst/>
          </a:prstGeom>
          <a:noFill/>
          <a:ln/>
        </p:spPr>
        <p:txBody>
          <a:bodyPr wrap="square" lIns="0" tIns="0" rIns="0" bIns="0" rtlCol="0" anchor="ctr"/>
          <a:lstStyle/>
          <a:p>
            <a:pPr indent="0" marL="0">
              <a:buNone/>
            </a:pPr>
            <a:r>
              <a:rPr lang="en-US" sz="1400" dirty="0">
                <a:solidFill>
                  <a:schemeClr val="bg1"/>
                </a:solidFill>
              </a:rPr>
              <a:t>Easy question → cheap model</a:t>
            </a:r>
            <a:endParaRPr lang="en-US" sz="1400" dirty="0"/>
          </a:p>
        </p:txBody>
      </p:sp>
      <p:sp>
        <p:nvSpPr>
          <p:cNvPr id="8" name="icon-bg-284"/>
          <p:cNvSpPr/>
          <p:nvPr/>
        </p:nvSpPr>
        <p:spPr>
          <a:xfrm>
            <a:off x="8001000" y="2039112"/>
            <a:ext cx="548640" cy="548640"/>
          </a:xfrm>
          <a:prstGeom prst="ellipse">
            <a:avLst/>
          </a:prstGeom>
          <a:solidFill>
            <a:schemeClr val="accent3">
              <a:alpha val="22000"/>
            </a:schemeClr>
          </a:solidFill>
          <a:ln/>
        </p:spPr>
      </p:sp>
      <p:pic>
        <p:nvPicPr>
          <p:cNvPr id="9" name="icon-285" descr="preencoded.png">    </p:cNvPr>
          <p:cNvPicPr>
            <a:picLocks noChangeAspect="1"/>
          </p:cNvPicPr>
          <p:nvPr/>
        </p:nvPicPr>
        <p:blipFill>
          <a:blip r:embed="rId3"/>
          <a:stretch>
            <a:fillRect/>
          </a:stretch>
        </p:blipFill>
        <p:spPr>
          <a:xfrm>
            <a:off x="8138160" y="2176272"/>
            <a:ext cx="274320" cy="274320"/>
          </a:xfrm>
          <a:prstGeom prst="rect">
            <a:avLst/>
          </a:prstGeom>
        </p:spPr>
      </p:pic>
      <p:sp>
        <p:nvSpPr>
          <p:cNvPr id="10" name="text-286"/>
          <p:cNvSpPr txBox="1"/>
          <p:nvPr/>
        </p:nvSpPr>
        <p:spPr>
          <a:xfrm>
            <a:off x="8686800" y="2020824"/>
            <a:ext cx="2926080" cy="603504"/>
          </a:xfrm>
          <a:prstGeom prst="rect">
            <a:avLst/>
          </a:prstGeom>
          <a:noFill/>
          <a:ln/>
        </p:spPr>
        <p:txBody>
          <a:bodyPr wrap="square" lIns="0" tIns="0" rIns="0" bIns="0" rtlCol="0" anchor="ctr"/>
          <a:lstStyle/>
          <a:p>
            <a:pPr indent="0" marL="0">
              <a:buNone/>
            </a:pPr>
            <a:r>
              <a:rPr lang="en-US" sz="1400" dirty="0">
                <a:solidFill>
                  <a:schemeClr val="bg1"/>
                </a:solidFill>
              </a:rPr>
              <a:t>Hard question → expensive; tricky trivia → retry</a:t>
            </a:r>
            <a:endParaRPr lang="en-US" sz="1400" dirty="0"/>
          </a:p>
        </p:txBody>
      </p:sp>
      <p:sp>
        <p:nvSpPr>
          <p:cNvPr id="11" name="icon-bg-287"/>
          <p:cNvSpPr/>
          <p:nvPr/>
        </p:nvSpPr>
        <p:spPr>
          <a:xfrm>
            <a:off x="8001000" y="2752344"/>
            <a:ext cx="548640" cy="548640"/>
          </a:xfrm>
          <a:prstGeom prst="ellipse">
            <a:avLst/>
          </a:prstGeom>
          <a:solidFill>
            <a:schemeClr val="accent5">
              <a:alpha val="22000"/>
            </a:schemeClr>
          </a:solidFill>
          <a:ln/>
        </p:spPr>
      </p:sp>
      <p:pic>
        <p:nvPicPr>
          <p:cNvPr id="12" name="icon-288" descr="preencoded.png">    </p:cNvPr>
          <p:cNvPicPr>
            <a:picLocks noChangeAspect="1"/>
          </p:cNvPicPr>
          <p:nvPr/>
        </p:nvPicPr>
        <p:blipFill>
          <a:blip r:embed="rId4"/>
          <a:stretch>
            <a:fillRect/>
          </a:stretch>
        </p:blipFill>
        <p:spPr>
          <a:xfrm>
            <a:off x="8138160" y="2889504"/>
            <a:ext cx="274320" cy="274320"/>
          </a:xfrm>
          <a:prstGeom prst="rect">
            <a:avLst/>
          </a:prstGeom>
        </p:spPr>
      </p:pic>
      <p:sp>
        <p:nvSpPr>
          <p:cNvPr id="13" name="text-289"/>
          <p:cNvSpPr txBox="1"/>
          <p:nvPr/>
        </p:nvSpPr>
        <p:spPr>
          <a:xfrm>
            <a:off x="8686800" y="2734056"/>
            <a:ext cx="2926080" cy="603504"/>
          </a:xfrm>
          <a:prstGeom prst="rect">
            <a:avLst/>
          </a:prstGeom>
          <a:noFill/>
          <a:ln/>
        </p:spPr>
        <p:txBody>
          <a:bodyPr wrap="square" lIns="0" tIns="0" rIns="0" bIns="0" rtlCol="0" anchor="ctr"/>
          <a:lstStyle/>
          <a:p>
            <a:pPr indent="0" marL="0">
              <a:buNone/>
            </a:pPr>
            <a:r>
              <a:rPr lang="en-US" sz="1400" dirty="0">
                <a:solidFill>
                  <a:schemeClr val="bg1"/>
                </a:solidFill>
              </a:rPr>
              <a:t>Shrink the budget → budget-forced downgrades</a:t>
            </a:r>
            <a:endParaRPr lang="en-US" sz="1400" dirty="0"/>
          </a:p>
        </p:txBody>
      </p:sp>
      <p:sp>
        <p:nvSpPr>
          <p:cNvPr id="14" name="icon-bg-290"/>
          <p:cNvSpPr/>
          <p:nvPr/>
        </p:nvSpPr>
        <p:spPr>
          <a:xfrm>
            <a:off x="8001000" y="3465576"/>
            <a:ext cx="548640" cy="548640"/>
          </a:xfrm>
          <a:prstGeom prst="ellipse">
            <a:avLst/>
          </a:prstGeom>
          <a:solidFill>
            <a:schemeClr val="accent1">
              <a:alpha val="22000"/>
            </a:schemeClr>
          </a:solidFill>
          <a:ln/>
        </p:spPr>
      </p:sp>
      <p:pic>
        <p:nvPicPr>
          <p:cNvPr id="15" name="icon-291" descr="preencoded.png">    </p:cNvPr>
          <p:cNvPicPr>
            <a:picLocks noChangeAspect="1"/>
          </p:cNvPicPr>
          <p:nvPr/>
        </p:nvPicPr>
        <p:blipFill>
          <a:blip r:embed="rId5"/>
          <a:stretch>
            <a:fillRect/>
          </a:stretch>
        </p:blipFill>
        <p:spPr>
          <a:xfrm>
            <a:off x="8138160" y="3602736"/>
            <a:ext cx="274320" cy="274320"/>
          </a:xfrm>
          <a:prstGeom prst="rect">
            <a:avLst/>
          </a:prstGeom>
        </p:spPr>
      </p:pic>
      <p:sp>
        <p:nvSpPr>
          <p:cNvPr id="16" name="text-292"/>
          <p:cNvSpPr txBox="1"/>
          <p:nvPr/>
        </p:nvSpPr>
        <p:spPr>
          <a:xfrm>
            <a:off x="8686800" y="3447288"/>
            <a:ext cx="2926080" cy="603504"/>
          </a:xfrm>
          <a:prstGeom prst="rect">
            <a:avLst/>
          </a:prstGeom>
          <a:noFill/>
          <a:ln/>
        </p:spPr>
        <p:txBody>
          <a:bodyPr wrap="square" lIns="0" tIns="0" rIns="0" bIns="0" rtlCol="0" anchor="ctr"/>
          <a:lstStyle/>
          <a:p>
            <a:pPr indent="0" marL="0">
              <a:buNone/>
            </a:pPr>
            <a:r>
              <a:rPr lang="en-US" sz="1400" dirty="0">
                <a:solidFill>
                  <a:schemeClr val="bg1"/>
                </a:solidFill>
              </a:rPr>
              <a:t>Playground: drag the threshold, watch cost and accuracy move</a:t>
            </a:r>
            <a:endParaRPr lang="en-US" sz="1400" dirty="0"/>
          </a:p>
        </p:txBody>
      </p:sp>
      <p:sp>
        <p:nvSpPr>
          <p:cNvPr id="17" name="frame-293"/>
          <p:cNvSpPr/>
          <p:nvPr/>
        </p:nvSpPr>
        <p:spPr>
          <a:xfrm>
            <a:off x="7955280" y="4297680"/>
            <a:ext cx="3703320" cy="1469825"/>
          </a:xfrm>
          <a:prstGeom prst="roundRect">
            <a:avLst>
              <a:gd name="adj" fmla="val 3733"/>
            </a:avLst>
          </a:prstGeom>
          <a:solidFill>
            <a:schemeClr val="accent1">
              <a:alpha val="30000"/>
            </a:schemeClr>
          </a:solidFill>
          <a:ln/>
        </p:spPr>
      </p:sp>
      <p:pic>
        <p:nvPicPr>
          <p:cNvPr id="18" name="pg-shot-294" descr="Dashboard Playground: cost vs accuracy chart and a grid of all 100 tasks">    </p:cNvPr>
          <p:cNvPicPr>
            <a:picLocks noChangeAspect="1"/>
          </p:cNvPicPr>
          <p:nvPr/>
        </p:nvPicPr>
        <p:blipFill>
          <a:blip r:embed="rId6"/>
          <a:stretch>
            <a:fillRect/>
          </a:stretch>
        </p:blipFill>
        <p:spPr>
          <a:xfrm>
            <a:off x="8001000" y="4343400"/>
            <a:ext cx="3611880" cy="1378385"/>
          </a:xfrm>
          <a:prstGeom prst="rect">
            <a:avLst/>
          </a:prstGeom>
        </p:spPr>
      </p:pic>
      <p:sp>
        <p:nvSpPr>
          <p:cNvPr id="19" name="chip-295"/>
          <p:cNvSpPr/>
          <p:nvPr/>
        </p:nvSpPr>
        <p:spPr>
          <a:xfrm>
            <a:off x="8001000" y="5760720"/>
            <a:ext cx="3611880" cy="384048"/>
          </a:xfrm>
          <a:prstGeom prst="roundRect">
            <a:avLst>
              <a:gd name="adj" fmla="val 50000"/>
            </a:avLst>
          </a:prstGeom>
          <a:solidFill>
            <a:schemeClr val="accent1">
              <a:alpha val="20000"/>
            </a:schemeClr>
          </a:solidFill>
          <a:ln/>
        </p:spPr>
      </p:sp>
      <p:sp>
        <p:nvSpPr>
          <p:cNvPr id="20" name="chip-text-296"/>
          <p:cNvSpPr txBox="1"/>
          <p:nvPr/>
        </p:nvSpPr>
        <p:spPr>
          <a:xfrm>
            <a:off x="8001000" y="5760720"/>
            <a:ext cx="3611880" cy="384048"/>
          </a:xfrm>
          <a:prstGeom prst="rect">
            <a:avLst/>
          </a:prstGeom>
          <a:noFill/>
          <a:ln/>
        </p:spPr>
        <p:txBody>
          <a:bodyPr wrap="square" lIns="0" tIns="0" rIns="0" bIns="0" rtlCol="0" anchor="ctr"/>
          <a:lstStyle/>
          <a:p>
            <a:pPr algn="ctr" indent="0" marL="0">
              <a:buNone/>
            </a:pPr>
            <a:r>
              <a:rPr lang="en-US" sz="1200" dirty="0">
                <a:solidFill>
                  <a:schemeClr val="bg1"/>
                </a:solidFill>
              </a:rPr>
              <a:t>streamlit run dashboard/app.py</a:t>
            </a:r>
            <a:endParaRPr lang="en-US" sz="12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AB3C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bg1"/>
                </a:solidFill>
              </a:rPr>
              <a:t>What we learned and what comes next</a:t>
            </a:r>
            <a:endParaRPr lang="en-US" sz="2800" dirty="0"/>
          </a:p>
        </p:txBody>
      </p:sp>
      <p:sp>
        <p:nvSpPr>
          <p:cNvPr id="3" name="text-297"/>
          <p:cNvSpPr txBox="1"/>
          <p:nvPr/>
        </p:nvSpPr>
        <p:spPr>
          <a:xfrm>
            <a:off x="548640" y="1325880"/>
            <a:ext cx="5303520" cy="320040"/>
          </a:xfrm>
          <a:prstGeom prst="rect">
            <a:avLst/>
          </a:prstGeom>
          <a:noFill/>
          <a:ln/>
        </p:spPr>
        <p:txBody>
          <a:bodyPr wrap="square" lIns="0" tIns="0" rIns="0" bIns="0" rtlCol="0" anchor="t"/>
          <a:lstStyle/>
          <a:p>
            <a:pPr indent="0" marL="0">
              <a:buNone/>
            </a:pPr>
            <a:r>
              <a:rPr lang="en-US" sz="1300" b="1" spc="300" kern="0" dirty="0">
                <a:solidFill>
                  <a:schemeClr val="accent1"/>
                </a:solidFill>
              </a:rPr>
              <a:t>LESSONS</a:t>
            </a:r>
            <a:endParaRPr lang="en-US" sz="1300" dirty="0"/>
          </a:p>
        </p:txBody>
      </p:sp>
      <p:sp>
        <p:nvSpPr>
          <p:cNvPr id="4" name="icon-bg-298"/>
          <p:cNvSpPr/>
          <p:nvPr/>
        </p:nvSpPr>
        <p:spPr>
          <a:xfrm>
            <a:off x="548640" y="1783080"/>
            <a:ext cx="640080" cy="640080"/>
          </a:xfrm>
          <a:prstGeom prst="ellipse">
            <a:avLst/>
          </a:prstGeom>
          <a:solidFill>
            <a:schemeClr val="accent2">
              <a:alpha val="22000"/>
            </a:schemeClr>
          </a:solidFill>
          <a:ln/>
        </p:spPr>
      </p:sp>
      <p:pic>
        <p:nvPicPr>
          <p:cNvPr id="5" name="icon-299" descr="preencoded.png">    </p:cNvPr>
          <p:cNvPicPr>
            <a:picLocks noChangeAspect="1"/>
          </p:cNvPicPr>
          <p:nvPr/>
        </p:nvPicPr>
        <p:blipFill>
          <a:blip r:embed="rId1"/>
          <a:stretch>
            <a:fillRect/>
          </a:stretch>
        </p:blipFill>
        <p:spPr>
          <a:xfrm>
            <a:off x="708660" y="1943100"/>
            <a:ext cx="320040" cy="320040"/>
          </a:xfrm>
          <a:prstGeom prst="rect">
            <a:avLst/>
          </a:prstGeom>
        </p:spPr>
      </p:pic>
      <p:sp>
        <p:nvSpPr>
          <p:cNvPr id="6" name="text-300"/>
          <p:cNvSpPr txBox="1"/>
          <p:nvPr/>
        </p:nvSpPr>
        <p:spPr>
          <a:xfrm>
            <a:off x="1371600" y="1764792"/>
            <a:ext cx="4480560" cy="347472"/>
          </a:xfrm>
          <a:prstGeom prst="rect">
            <a:avLst/>
          </a:prstGeom>
          <a:noFill/>
          <a:ln/>
        </p:spPr>
        <p:txBody>
          <a:bodyPr wrap="square" lIns="0" tIns="0" rIns="0" bIns="0" rtlCol="0" anchor="t"/>
          <a:lstStyle/>
          <a:p>
            <a:pPr indent="0" marL="0">
              <a:buNone/>
            </a:pPr>
            <a:r>
              <a:rPr lang="en-US" sz="1600" b="1" dirty="0">
                <a:solidFill>
                  <a:schemeClr val="bg1"/>
                </a:solidFill>
              </a:rPr>
              <a:t>The plumbing works</a:t>
            </a:r>
            <a:endParaRPr lang="en-US" sz="1600" dirty="0"/>
          </a:p>
        </p:txBody>
      </p:sp>
      <p:sp>
        <p:nvSpPr>
          <p:cNvPr id="7" name="text-301"/>
          <p:cNvSpPr txBox="1"/>
          <p:nvPr/>
        </p:nvSpPr>
        <p:spPr>
          <a:xfrm>
            <a:off x="1371600" y="2112264"/>
            <a:ext cx="4480560" cy="548640"/>
          </a:xfrm>
          <a:prstGeom prst="rect">
            <a:avLst/>
          </a:prstGeom>
          <a:noFill/>
          <a:ln/>
        </p:spPr>
        <p:txBody>
          <a:bodyPr wrap="square" lIns="0" tIns="0" rIns="0" bIns="0" rtlCol="0" anchor="t"/>
          <a:lstStyle/>
          <a:p>
            <a:pPr indent="0" marL="0">
              <a:buNone/>
            </a:pPr>
            <a:r>
              <a:rPr lang="en-US" sz="1300" dirty="0">
                <a:solidFill>
                  <a:schemeClr val="bg2"/>
                </a:solidFill>
              </a:rPr>
              <a:t>Budgets, escalation and the audit trail behave as specified on real models</a:t>
            </a:r>
            <a:endParaRPr lang="en-US" sz="1300" dirty="0"/>
          </a:p>
        </p:txBody>
      </p:sp>
      <p:sp>
        <p:nvSpPr>
          <p:cNvPr id="8" name="icon-bg-302"/>
          <p:cNvSpPr/>
          <p:nvPr/>
        </p:nvSpPr>
        <p:spPr>
          <a:xfrm>
            <a:off x="548640" y="2807208"/>
            <a:ext cx="640080" cy="640080"/>
          </a:xfrm>
          <a:prstGeom prst="ellipse">
            <a:avLst/>
          </a:prstGeom>
          <a:solidFill>
            <a:schemeClr val="accent5">
              <a:alpha val="22000"/>
            </a:schemeClr>
          </a:solidFill>
          <a:ln/>
        </p:spPr>
      </p:sp>
      <p:pic>
        <p:nvPicPr>
          <p:cNvPr id="9" name="icon-303" descr="preencoded.png">    </p:cNvPr>
          <p:cNvPicPr>
            <a:picLocks noChangeAspect="1"/>
          </p:cNvPicPr>
          <p:nvPr/>
        </p:nvPicPr>
        <p:blipFill>
          <a:blip r:embed="rId2"/>
          <a:stretch>
            <a:fillRect/>
          </a:stretch>
        </p:blipFill>
        <p:spPr>
          <a:xfrm>
            <a:off x="708660" y="2967228"/>
            <a:ext cx="320040" cy="320040"/>
          </a:xfrm>
          <a:prstGeom prst="rect">
            <a:avLst/>
          </a:prstGeom>
        </p:spPr>
      </p:pic>
      <p:sp>
        <p:nvSpPr>
          <p:cNvPr id="10" name="text-304"/>
          <p:cNvSpPr txBox="1"/>
          <p:nvPr/>
        </p:nvSpPr>
        <p:spPr>
          <a:xfrm>
            <a:off x="1371600" y="2788920"/>
            <a:ext cx="4480560" cy="347472"/>
          </a:xfrm>
          <a:prstGeom prst="rect">
            <a:avLst/>
          </a:prstGeom>
          <a:noFill/>
          <a:ln/>
        </p:spPr>
        <p:txBody>
          <a:bodyPr wrap="square" lIns="0" tIns="0" rIns="0" bIns="0" rtlCol="0" anchor="t"/>
          <a:lstStyle/>
          <a:p>
            <a:pPr indent="0" marL="0">
              <a:buNone/>
            </a:pPr>
            <a:r>
              <a:rPr lang="en-US" sz="1600" b="1" dirty="0">
                <a:solidFill>
                  <a:schemeClr val="bg1"/>
                </a:solidFill>
              </a:rPr>
              <a:t>Length is a weak signal</a:t>
            </a:r>
            <a:endParaRPr lang="en-US" sz="1600" dirty="0"/>
          </a:p>
        </p:txBody>
      </p:sp>
      <p:sp>
        <p:nvSpPr>
          <p:cNvPr id="11" name="text-305"/>
          <p:cNvSpPr txBox="1"/>
          <p:nvPr/>
        </p:nvSpPr>
        <p:spPr>
          <a:xfrm>
            <a:off x="1371600" y="3136392"/>
            <a:ext cx="4480560" cy="548640"/>
          </a:xfrm>
          <a:prstGeom prst="rect">
            <a:avLst/>
          </a:prstGeom>
          <a:noFill/>
          <a:ln/>
        </p:spPr>
        <p:txBody>
          <a:bodyPr wrap="square" lIns="0" tIns="0" rIns="0" bIns="0" rtlCol="0" anchor="t"/>
          <a:lstStyle/>
          <a:p>
            <a:pPr indent="0" marL="0">
              <a:buNone/>
            </a:pPr>
            <a:r>
              <a:rPr lang="en-US" sz="1300" dirty="0">
                <a:solidFill>
                  <a:schemeClr val="bg2"/>
                </a:solidFill>
              </a:rPr>
              <a:t>When the cheap model can reason, “long” doesn't mean “hard”</a:t>
            </a:r>
            <a:endParaRPr lang="en-US" sz="1300" dirty="0"/>
          </a:p>
        </p:txBody>
      </p:sp>
      <p:sp>
        <p:nvSpPr>
          <p:cNvPr id="12" name="icon-bg-306"/>
          <p:cNvSpPr/>
          <p:nvPr/>
        </p:nvSpPr>
        <p:spPr>
          <a:xfrm>
            <a:off x="548640" y="3831336"/>
            <a:ext cx="640080" cy="640080"/>
          </a:xfrm>
          <a:prstGeom prst="ellipse">
            <a:avLst/>
          </a:prstGeom>
          <a:solidFill>
            <a:schemeClr val="accent4">
              <a:alpha val="22000"/>
            </a:schemeClr>
          </a:solidFill>
          <a:ln/>
        </p:spPr>
      </p:sp>
      <p:pic>
        <p:nvPicPr>
          <p:cNvPr id="13" name="icon-307" descr="preencoded.png">    </p:cNvPr>
          <p:cNvPicPr>
            <a:picLocks noChangeAspect="1"/>
          </p:cNvPicPr>
          <p:nvPr/>
        </p:nvPicPr>
        <p:blipFill>
          <a:blip r:embed="rId3"/>
          <a:stretch>
            <a:fillRect/>
          </a:stretch>
        </p:blipFill>
        <p:spPr>
          <a:xfrm>
            <a:off x="708660" y="3991356"/>
            <a:ext cx="320040" cy="320040"/>
          </a:xfrm>
          <a:prstGeom prst="rect">
            <a:avLst/>
          </a:prstGeom>
        </p:spPr>
      </p:pic>
      <p:sp>
        <p:nvSpPr>
          <p:cNvPr id="14" name="text-308"/>
          <p:cNvSpPr txBox="1"/>
          <p:nvPr/>
        </p:nvSpPr>
        <p:spPr>
          <a:xfrm>
            <a:off x="1371600" y="3813048"/>
            <a:ext cx="4480560" cy="347472"/>
          </a:xfrm>
          <a:prstGeom prst="rect">
            <a:avLst/>
          </a:prstGeom>
          <a:noFill/>
          <a:ln/>
        </p:spPr>
        <p:txBody>
          <a:bodyPr wrap="square" lIns="0" tIns="0" rIns="0" bIns="0" rtlCol="0" anchor="t"/>
          <a:lstStyle/>
          <a:p>
            <a:pPr indent="0" marL="0">
              <a:buNone/>
            </a:pPr>
            <a:r>
              <a:rPr lang="en-US" sz="1600" b="1" dirty="0">
                <a:solidFill>
                  <a:schemeClr val="bg1"/>
                </a:solidFill>
              </a:rPr>
              <a:t>Measure honestly</a:t>
            </a:r>
            <a:endParaRPr lang="en-US" sz="1600" dirty="0"/>
          </a:p>
        </p:txBody>
      </p:sp>
      <p:sp>
        <p:nvSpPr>
          <p:cNvPr id="15" name="text-309"/>
          <p:cNvSpPr txBox="1"/>
          <p:nvPr/>
        </p:nvSpPr>
        <p:spPr>
          <a:xfrm>
            <a:off x="1371600" y="4160520"/>
            <a:ext cx="4480560" cy="548640"/>
          </a:xfrm>
          <a:prstGeom prst="rect">
            <a:avLst/>
          </a:prstGeom>
          <a:noFill/>
          <a:ln/>
        </p:spPr>
        <p:txBody>
          <a:bodyPr wrap="square" lIns="0" tIns="0" rIns="0" bIns="0" rtlCol="0" anchor="t"/>
          <a:lstStyle/>
          <a:p>
            <a:pPr indent="0" marL="0">
              <a:buNone/>
            </a:pPr>
            <a:r>
              <a:rPr lang="en-US" sz="1300" dirty="0">
                <a:solidFill>
                  <a:schemeClr val="bg2"/>
                </a:solidFill>
              </a:rPr>
              <a:t>Fixed seeds, cached answers and hand-checked grading made the result trustworthy</a:t>
            </a:r>
            <a:endParaRPr lang="en-US" sz="1300" dirty="0"/>
          </a:p>
        </p:txBody>
      </p:sp>
      <p:sp>
        <p:nvSpPr>
          <p:cNvPr id="16" name="text-310"/>
          <p:cNvSpPr txBox="1"/>
          <p:nvPr/>
        </p:nvSpPr>
        <p:spPr>
          <a:xfrm>
            <a:off x="6400800" y="1325880"/>
            <a:ext cx="5212080" cy="320040"/>
          </a:xfrm>
          <a:prstGeom prst="rect">
            <a:avLst/>
          </a:prstGeom>
          <a:noFill/>
          <a:ln/>
        </p:spPr>
        <p:txBody>
          <a:bodyPr wrap="square" lIns="0" tIns="0" rIns="0" bIns="0" rtlCol="0" anchor="t"/>
          <a:lstStyle/>
          <a:p>
            <a:pPr indent="0" marL="0">
              <a:buNone/>
            </a:pPr>
            <a:r>
              <a:rPr lang="en-US" sz="1300" b="1" spc="300" kern="0" dirty="0">
                <a:solidFill>
                  <a:schemeClr val="accent3"/>
                </a:solidFill>
              </a:rPr>
              <a:t>NEXT VERSION</a:t>
            </a:r>
            <a:endParaRPr lang="en-US" sz="1300" dirty="0"/>
          </a:p>
        </p:txBody>
      </p:sp>
      <p:sp>
        <p:nvSpPr>
          <p:cNvPr id="17" name="next-311"/>
          <p:cNvSpPr/>
          <p:nvPr/>
        </p:nvSpPr>
        <p:spPr>
          <a:xfrm>
            <a:off x="6400800" y="1783080"/>
            <a:ext cx="5212080" cy="621792"/>
          </a:xfrm>
          <a:prstGeom prst="roundRect">
            <a:avLst>
              <a:gd name="adj" fmla="val 17647"/>
            </a:avLst>
          </a:prstGeom>
          <a:solidFill>
            <a:schemeClr val="tx2"/>
          </a:solidFill>
          <a:ln/>
        </p:spPr>
      </p:sp>
      <p:pic>
        <p:nvPicPr>
          <p:cNvPr id="18" name="ni-312" descr="preencoded.png">    </p:cNvPr>
          <p:cNvPicPr>
            <a:picLocks noChangeAspect="1"/>
          </p:cNvPicPr>
          <p:nvPr/>
        </p:nvPicPr>
        <p:blipFill>
          <a:blip r:embed="rId4"/>
          <a:stretch>
            <a:fillRect/>
          </a:stretch>
        </p:blipFill>
        <p:spPr>
          <a:xfrm>
            <a:off x="6583680" y="1929384"/>
            <a:ext cx="329184" cy="329184"/>
          </a:xfrm>
          <a:prstGeom prst="rect">
            <a:avLst/>
          </a:prstGeom>
        </p:spPr>
      </p:pic>
      <p:sp>
        <p:nvSpPr>
          <p:cNvPr id="19" name="text-313"/>
          <p:cNvSpPr txBox="1"/>
          <p:nvPr/>
        </p:nvSpPr>
        <p:spPr>
          <a:xfrm>
            <a:off x="7086600" y="1783080"/>
            <a:ext cx="4389120" cy="621792"/>
          </a:xfrm>
          <a:prstGeom prst="rect">
            <a:avLst/>
          </a:prstGeom>
          <a:noFill/>
          <a:ln/>
        </p:spPr>
        <p:txBody>
          <a:bodyPr wrap="square" lIns="0" tIns="0" rIns="0" bIns="0" rtlCol="0" anchor="ctr"/>
          <a:lstStyle/>
          <a:p>
            <a:pPr indent="0" marL="0">
              <a:buNone/>
            </a:pPr>
            <a:r>
              <a:rPr lang="en-US" sz="1500" dirty="0">
                <a:solidFill>
                  <a:schemeClr val="bg1"/>
                </a:solidFill>
              </a:rPr>
              <a:t>Cheap first, escalate on failure</a:t>
            </a:r>
            <a:endParaRPr lang="en-US" sz="1500" dirty="0"/>
          </a:p>
        </p:txBody>
      </p:sp>
      <p:sp>
        <p:nvSpPr>
          <p:cNvPr id="20" name="next-314"/>
          <p:cNvSpPr/>
          <p:nvPr/>
        </p:nvSpPr>
        <p:spPr>
          <a:xfrm>
            <a:off x="6400800" y="2551176"/>
            <a:ext cx="5212080" cy="621792"/>
          </a:xfrm>
          <a:prstGeom prst="roundRect">
            <a:avLst>
              <a:gd name="adj" fmla="val 17647"/>
            </a:avLst>
          </a:prstGeom>
          <a:solidFill>
            <a:schemeClr val="tx2"/>
          </a:solidFill>
          <a:ln/>
        </p:spPr>
      </p:sp>
      <p:pic>
        <p:nvPicPr>
          <p:cNvPr id="21" name="ni-315" descr="preencoded.png">    </p:cNvPr>
          <p:cNvPicPr>
            <a:picLocks noChangeAspect="1"/>
          </p:cNvPicPr>
          <p:nvPr/>
        </p:nvPicPr>
        <p:blipFill>
          <a:blip r:embed="rId5"/>
          <a:stretch>
            <a:fillRect/>
          </a:stretch>
        </p:blipFill>
        <p:spPr>
          <a:xfrm>
            <a:off x="6583680" y="2697480"/>
            <a:ext cx="329184" cy="329184"/>
          </a:xfrm>
          <a:prstGeom prst="rect">
            <a:avLst/>
          </a:prstGeom>
        </p:spPr>
      </p:pic>
      <p:sp>
        <p:nvSpPr>
          <p:cNvPr id="22" name="text-316"/>
          <p:cNvSpPr txBox="1"/>
          <p:nvPr/>
        </p:nvSpPr>
        <p:spPr>
          <a:xfrm>
            <a:off x="7086600" y="2551176"/>
            <a:ext cx="4389120" cy="621792"/>
          </a:xfrm>
          <a:prstGeom prst="rect">
            <a:avLst/>
          </a:prstGeom>
          <a:noFill/>
          <a:ln/>
        </p:spPr>
        <p:txBody>
          <a:bodyPr wrap="square" lIns="0" tIns="0" rIns="0" bIns="0" rtlCol="0" anchor="ctr"/>
          <a:lstStyle/>
          <a:p>
            <a:pPr indent="0" marL="0">
              <a:buNone/>
            </a:pPr>
            <a:r>
              <a:rPr lang="en-US" sz="1500" dirty="0">
                <a:solidFill>
                  <a:schemeClr val="bg1"/>
                </a:solidFill>
              </a:rPr>
              <a:t>Learn difficulty per kind of step</a:t>
            </a:r>
            <a:endParaRPr lang="en-US" sz="1500" dirty="0"/>
          </a:p>
        </p:txBody>
      </p:sp>
      <p:sp>
        <p:nvSpPr>
          <p:cNvPr id="23" name="next-317"/>
          <p:cNvSpPr/>
          <p:nvPr/>
        </p:nvSpPr>
        <p:spPr>
          <a:xfrm>
            <a:off x="6400800" y="3319272"/>
            <a:ext cx="5212080" cy="621792"/>
          </a:xfrm>
          <a:prstGeom prst="roundRect">
            <a:avLst>
              <a:gd name="adj" fmla="val 17647"/>
            </a:avLst>
          </a:prstGeom>
          <a:solidFill>
            <a:schemeClr val="tx2"/>
          </a:solidFill>
          <a:ln/>
        </p:spPr>
      </p:sp>
      <p:pic>
        <p:nvPicPr>
          <p:cNvPr id="24" name="ni-318" descr="preencoded.png">    </p:cNvPr>
          <p:cNvPicPr>
            <a:picLocks noChangeAspect="1"/>
          </p:cNvPicPr>
          <p:nvPr/>
        </p:nvPicPr>
        <p:blipFill>
          <a:blip r:embed="rId6"/>
          <a:stretch>
            <a:fillRect/>
          </a:stretch>
        </p:blipFill>
        <p:spPr>
          <a:xfrm>
            <a:off x="6583680" y="3465576"/>
            <a:ext cx="329184" cy="329184"/>
          </a:xfrm>
          <a:prstGeom prst="rect">
            <a:avLst/>
          </a:prstGeom>
        </p:spPr>
      </p:pic>
      <p:sp>
        <p:nvSpPr>
          <p:cNvPr id="25" name="text-319"/>
          <p:cNvSpPr txBox="1"/>
          <p:nvPr/>
        </p:nvSpPr>
        <p:spPr>
          <a:xfrm>
            <a:off x="7086600" y="3319272"/>
            <a:ext cx="4389120" cy="621792"/>
          </a:xfrm>
          <a:prstGeom prst="rect">
            <a:avLst/>
          </a:prstGeom>
          <a:noFill/>
          <a:ln/>
        </p:spPr>
        <p:txBody>
          <a:bodyPr wrap="square" lIns="0" tIns="0" rIns="0" bIns="0" rtlCol="0" anchor="ctr"/>
          <a:lstStyle/>
          <a:p>
            <a:pPr indent="0" marL="0">
              <a:buNone/>
            </a:pPr>
            <a:r>
              <a:rPr lang="en-US" sz="1500" dirty="0">
                <a:solidFill>
                  <a:schemeClr val="bg1"/>
                </a:solidFill>
              </a:rPr>
              <a:t>More than two model tiers, async agents</a:t>
            </a:r>
            <a:endParaRPr lang="en-US" sz="1500" dirty="0"/>
          </a:p>
        </p:txBody>
      </p:sp>
      <p:sp>
        <p:nvSpPr>
          <p:cNvPr id="26" name="next-320"/>
          <p:cNvSpPr/>
          <p:nvPr/>
        </p:nvSpPr>
        <p:spPr>
          <a:xfrm>
            <a:off x="6400800" y="4087368"/>
            <a:ext cx="5212080" cy="621792"/>
          </a:xfrm>
          <a:prstGeom prst="roundRect">
            <a:avLst>
              <a:gd name="adj" fmla="val 17647"/>
            </a:avLst>
          </a:prstGeom>
          <a:solidFill>
            <a:schemeClr val="tx2"/>
          </a:solidFill>
          <a:ln/>
        </p:spPr>
      </p:sp>
      <p:pic>
        <p:nvPicPr>
          <p:cNvPr id="27" name="ni-321" descr="preencoded.png">    </p:cNvPr>
          <p:cNvPicPr>
            <a:picLocks noChangeAspect="1"/>
          </p:cNvPicPr>
          <p:nvPr/>
        </p:nvPicPr>
        <p:blipFill>
          <a:blip r:embed="rId7"/>
          <a:stretch>
            <a:fillRect/>
          </a:stretch>
        </p:blipFill>
        <p:spPr>
          <a:xfrm>
            <a:off x="6583680" y="4233672"/>
            <a:ext cx="329184" cy="329184"/>
          </a:xfrm>
          <a:prstGeom prst="rect">
            <a:avLst/>
          </a:prstGeom>
        </p:spPr>
      </p:pic>
      <p:sp>
        <p:nvSpPr>
          <p:cNvPr id="28" name="text-322"/>
          <p:cNvSpPr txBox="1"/>
          <p:nvPr/>
        </p:nvSpPr>
        <p:spPr>
          <a:xfrm>
            <a:off x="7086600" y="4087368"/>
            <a:ext cx="4389120" cy="621792"/>
          </a:xfrm>
          <a:prstGeom prst="rect">
            <a:avLst/>
          </a:prstGeom>
          <a:noFill/>
          <a:ln/>
        </p:spPr>
        <p:txBody>
          <a:bodyPr wrap="square" lIns="0" tIns="0" rIns="0" bIns="0" rtlCol="0" anchor="ctr"/>
          <a:lstStyle/>
          <a:p>
            <a:pPr indent="0" marL="0">
              <a:buNone/>
            </a:pPr>
            <a:r>
              <a:rPr lang="en-US" sz="1500" dirty="0">
                <a:solidFill>
                  <a:schemeClr val="bg1"/>
                </a:solidFill>
              </a:rPr>
              <a:t>CI, a PyPI package, live provider prices</a:t>
            </a:r>
            <a:endParaRPr lang="en-US" sz="1500" dirty="0"/>
          </a:p>
        </p:txBody>
      </p:sp>
      <p:sp>
        <p:nvSpPr>
          <p:cNvPr id="29" name="qa-323"/>
          <p:cNvSpPr/>
          <p:nvPr/>
        </p:nvSpPr>
        <p:spPr>
          <a:xfrm>
            <a:off x="548640" y="5120640"/>
            <a:ext cx="11064240" cy="1005840"/>
          </a:xfrm>
          <a:prstGeom prst="roundRect">
            <a:avLst>
              <a:gd name="adj" fmla="val 10909"/>
            </a:avLst>
          </a:prstGeom>
          <a:solidFill>
            <a:schemeClr val="accent1">
              <a:alpha val="20000"/>
            </a:schemeClr>
          </a:solidFill>
          <a:ln w="19050">
            <a:solidFill>
              <a:schemeClr val="accent1"/>
            </a:solidFill>
            <a:prstDash val="solid"/>
          </a:ln>
        </p:spPr>
      </p:sp>
      <p:sp>
        <p:nvSpPr>
          <p:cNvPr id="30" name="text-324"/>
          <p:cNvSpPr txBox="1"/>
          <p:nvPr/>
        </p:nvSpPr>
        <p:spPr>
          <a:xfrm>
            <a:off x="822960" y="5120640"/>
            <a:ext cx="3657600" cy="1005840"/>
          </a:xfrm>
          <a:prstGeom prst="rect">
            <a:avLst/>
          </a:prstGeom>
          <a:noFill/>
          <a:ln/>
        </p:spPr>
        <p:txBody>
          <a:bodyPr wrap="square" lIns="0" tIns="0" rIns="0" bIns="0" rtlCol="0" anchor="ctr"/>
          <a:lstStyle/>
          <a:p>
            <a:pPr indent="0" marL="0">
              <a:buNone/>
            </a:pPr>
            <a:r>
              <a:rPr lang="en-US" sz="3200" b="1" dirty="0">
                <a:solidFill>
                  <a:schemeClr val="bg1"/>
                </a:solidFill>
                <a:latin typeface="+mj-lt" pitchFamily="34" charset="0"/>
                <a:ea typeface="+mj-lt" pitchFamily="34" charset="-122"/>
                <a:cs typeface="+mj-lt" pitchFamily="34" charset="-120"/>
              </a:rPr>
              <a:t>Questions?</a:t>
            </a:r>
            <a:endParaRPr lang="en-US" sz="3200" dirty="0"/>
          </a:p>
        </p:txBody>
      </p:sp>
      <p:pic>
        <p:nvPicPr>
          <p:cNvPr id="31" name="gh2-325" descr="preencoded.png">    </p:cNvPr>
          <p:cNvPicPr>
            <a:picLocks noChangeAspect="1"/>
          </p:cNvPicPr>
          <p:nvPr/>
        </p:nvPicPr>
        <p:blipFill>
          <a:blip r:embed="rId8"/>
          <a:stretch>
            <a:fillRect/>
          </a:stretch>
        </p:blipFill>
        <p:spPr>
          <a:xfrm>
            <a:off x="6035040" y="5413248"/>
            <a:ext cx="420624" cy="420624"/>
          </a:xfrm>
          <a:prstGeom prst="rect">
            <a:avLst/>
          </a:prstGeom>
        </p:spPr>
      </p:pic>
      <p:sp>
        <p:nvSpPr>
          <p:cNvPr id="32" name="text-326"/>
          <p:cNvSpPr txBox="1"/>
          <p:nvPr/>
        </p:nvSpPr>
        <p:spPr>
          <a:xfrm>
            <a:off x="6583680" y="5120640"/>
            <a:ext cx="4846320" cy="1005840"/>
          </a:xfrm>
          <a:prstGeom prst="rect">
            <a:avLst/>
          </a:prstGeom>
          <a:noFill/>
          <a:ln/>
        </p:spPr>
        <p:txBody>
          <a:bodyPr wrap="square" lIns="0" tIns="0" rIns="0" bIns="0" rtlCol="0" anchor="ctr"/>
          <a:lstStyle/>
          <a:p>
            <a:pPr indent="0" marL="0">
              <a:buNone/>
            </a:pPr>
            <a:r>
              <a:rPr lang="en-US" sz="1800" dirty="0">
                <a:solidFill>
                  <a:schemeClr val="bg1"/>
                </a:solidFill>
              </a:rPr>
              <a:t>github.com/prakharsahup/Cost-Router</a:t>
            </a:r>
            <a:endParaRPr lang="en-US" sz="18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AB3CF"/>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CostRouter Night">
  <a:themeElements>
    <a:clrScheme name="CostRouter Night">
      <a:dk1>
        <a:srgbClr val="0B1020"/>
      </a:dk1>
      <a:lt1>
        <a:srgbClr val="FFFFFF"/>
      </a:lt1>
      <a:dk2>
        <a:srgbClr val="172038"/>
      </a:dk2>
      <a:lt2>
        <a:srgbClr val="AAB3CF"/>
      </a:lt2>
      <a:accent1>
        <a:srgbClr val="4F8CFF"/>
      </a:accent1>
      <a:accent2>
        <a:srgbClr val="22C55E"/>
      </a:accent2>
      <a:accent3>
        <a:srgbClr val="F97316"/>
      </a:accent3>
      <a:accent4>
        <a:srgbClr val="A78BFA"/>
      </a:accent4>
      <a:accent5>
        <a:srgbClr val="F59E0B"/>
      </a:accent5>
      <a:accent6>
        <a:srgbClr val="EF4444"/>
      </a:accent6>
      <a:hlink>
        <a:srgbClr val="4F8CFF"/>
      </a:hlink>
      <a:folHlink>
        <a:srgbClr val="A78BFA"/>
      </a:folHlink>
    </a:clrScheme>
    <a:fontScheme name="CostRouter N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CostRouter — cost-aware model routing for LangGraph agents</dc:title>
  <dc:subject>Project presentation</dc:subject>
  <dc:creator>CostRouter</dc:creator>
  <cp:lastModifiedBy>CostRouter</cp:lastModifiedBy>
  <cp:revision>1</cp:revision>
  <dcterms:created xsi:type="dcterms:W3CDTF">2026-10-12T00:59:18Z</dcterms:created>
  <dcterms:modified xsi:type="dcterms:W3CDTF">2026-10-12T00:59:18Z</dcterms:modified>
</cp:coreProperties>
</file>